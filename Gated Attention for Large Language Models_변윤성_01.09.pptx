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317" r:id="rId5"/>
    <p:sldId id="318" r:id="rId6"/>
    <p:sldId id="294" r:id="rId7"/>
    <p:sldId id="311" r:id="rId8"/>
    <p:sldId id="320" r:id="rId9"/>
    <p:sldId id="319" r:id="rId10"/>
    <p:sldId id="275" r:id="rId11"/>
    <p:sldId id="321" r:id="rId12"/>
    <p:sldId id="322" r:id="rId13"/>
    <p:sldId id="323" r:id="rId14"/>
    <p:sldId id="295" r:id="rId15"/>
    <p:sldId id="296" r:id="rId16"/>
    <p:sldId id="313" r:id="rId17"/>
    <p:sldId id="324" r:id="rId18"/>
    <p:sldId id="325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3B795-2DD5-41AD-8751-5C4089DF444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B8363-F2E3-4439-A7E6-14F7E1DF9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4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D2B1C-BF43-4DE7-ABE0-B047D62A78C0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6A5C2-0AC0-4C27-B972-27F3E6623A31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3253-B364-4353-8945-5F93EC62AEA8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D38A-FBC9-4474-860E-0943576FB2A9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005-A359-4551-8385-DF962D05B961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87605-D5BC-4F76-AD54-FBE4D0EF73CC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34F-D1A4-4FC3-B616-E1519CFBDFE8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06EF1-72F3-46B4-913E-2E8BF85C7B09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54CDE-32A1-474B-A1A7-B2AE31A053DC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E487-4CBF-4938-A927-D22297E05349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8D2E-2F69-417D-9B17-4140C005495E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90963-C5EF-42F4-8651-C8B07638FE5F}" type="datetime1">
              <a:rPr lang="en-US" altLang="ko-KR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5808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781050"/>
            <a:ext cx="164242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0662" y="2678190"/>
            <a:ext cx="16296792" cy="2831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altLang="ko-KR" sz="4800" dirty="0"/>
              <a:t>Gated Attention for Large Language Models: </a:t>
            </a:r>
          </a:p>
          <a:p>
            <a:pPr algn="ctr">
              <a:lnSpc>
                <a:spcPts val="11923"/>
              </a:lnSpc>
            </a:pPr>
            <a:r>
              <a:rPr lang="en-US" altLang="ko-KR" sz="4800" dirty="0"/>
              <a:t>Non-linearity, Sparsity, and Attention-Sink-Free</a:t>
            </a:r>
            <a:endParaRPr lang="en-US" sz="4800" spc="-103" dirty="0">
              <a:solidFill>
                <a:srgbClr val="191919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2400" y="9573972"/>
            <a:ext cx="297595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2026.01.09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11114" y="9533567"/>
            <a:ext cx="2975952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YunSung</a:t>
            </a: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Byun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4C8435-A8BC-D4AF-C15C-41A7B0E886D6}"/>
              </a:ext>
            </a:extLst>
          </p:cNvPr>
          <p:cNvSpPr txBox="1"/>
          <p:nvPr/>
        </p:nvSpPr>
        <p:spPr>
          <a:xfrm>
            <a:off x="7901272" y="5631726"/>
            <a:ext cx="2755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 err="1"/>
              <a:t>Neurips</a:t>
            </a:r>
            <a:r>
              <a:rPr lang="en-US" altLang="ko-KR" sz="3600" dirty="0"/>
              <a:t> 2025</a:t>
            </a:r>
            <a:endParaRPr lang="ko-KR" alt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82EAE-59C8-E631-E9C8-1A80B7ECA36A}"/>
              </a:ext>
            </a:extLst>
          </p:cNvPr>
          <p:cNvSpPr txBox="1"/>
          <p:nvPr/>
        </p:nvSpPr>
        <p:spPr>
          <a:xfrm>
            <a:off x="4490061" y="6588490"/>
            <a:ext cx="100641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/>
              <a:t>Zihan Qiu, Zekun Wang, Bo Zheng, </a:t>
            </a:r>
            <a:r>
              <a:rPr lang="en-US" altLang="ko-KR" sz="2800" dirty="0" err="1"/>
              <a:t>Zeyu</a:t>
            </a:r>
            <a:r>
              <a:rPr lang="en-US" altLang="ko-KR" sz="2800" dirty="0"/>
              <a:t> Huang</a:t>
            </a:r>
            <a:endParaRPr lang="it-IT" alt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52241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86400" y="2029751"/>
            <a:ext cx="391815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Introduction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486400" y="3804133"/>
            <a:ext cx="10591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Gating Mechanism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486400" y="5611967"/>
            <a:ext cx="11001452" cy="72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Result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1484" y="7341044"/>
            <a:ext cx="8034568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40383" y="1567013"/>
            <a:ext cx="1268309" cy="1643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10885" y="324548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2.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740382" y="4978067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40382" y="679258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4.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31319" y="934598"/>
            <a:ext cx="2478904" cy="80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Contents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38BBEA-6728-FD9C-F1A3-C415764866D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F137AD9-D6D0-99F5-1B3C-2D1FEAC8E95E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1958" y="851019"/>
            <a:ext cx="3881154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QKV Projection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5739373-734D-903B-954C-41E5517D8A6D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3031ECA-815C-C507-F09D-26C76B1ABD71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D7C17B5E-78AD-A672-7099-A75334BB1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400" y="6543247"/>
                <a:ext cx="8001000" cy="7057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ko-KR" altLang="ko-KR" sz="4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𝑄</m:t>
                      </m:r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𝑋</m:t>
                      </m:r>
                      <m:sSub>
                        <m:sSubPr>
                          <m:ctrlPr>
                            <a:rPr kumimoji="0" lang="ko-KR" altLang="ko-KR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Pr>
                        <m:e>
                          <m:r>
                            <a:rPr kumimoji="0" lang="ko-KR" altLang="ko-KR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𝑊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kumimoji="0" lang="ko-KR" altLang="ko-KR" sz="40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dPr>
                            <m:e>
                              <m:r>
                                <a:rPr kumimoji="0" lang="ko-KR" altLang="ko-KR" sz="40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𝑄</m:t>
                              </m:r>
                            </m:e>
                          </m:d>
                        </m:sub>
                      </m:sSub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, </m:t>
                      </m:r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𝐾</m:t>
                      </m:r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𝑋</m:t>
                      </m:r>
                      <m:sSub>
                        <m:sSubPr>
                          <m:ctrlPr>
                            <a:rPr kumimoji="0" lang="ko-KR" altLang="ko-KR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Pr>
                        <m:e>
                          <m:r>
                            <a:rPr kumimoji="0" lang="ko-KR" altLang="ko-KR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𝑊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kumimoji="0" lang="ko-KR" altLang="ko-KR" sz="40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dPr>
                            <m:e>
                              <m:r>
                                <a:rPr kumimoji="0" lang="ko-KR" altLang="ko-KR" sz="40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𝐾</m:t>
                              </m:r>
                            </m:e>
                          </m:d>
                        </m:sub>
                      </m:sSub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, </m:t>
                      </m:r>
                      <m:r>
                        <a:rPr kumimoji="0" lang="ko-KR" altLang="ko-KR" sz="4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𝑉</m:t>
                      </m:r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𝑋</m:t>
                      </m:r>
                      <m:sSub>
                        <m:sSubPr>
                          <m:ctrlPr>
                            <a:rPr kumimoji="0" lang="ko-KR" altLang="ko-KR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Pr>
                        <m:e>
                          <m:r>
                            <a:rPr kumimoji="0" lang="ko-KR" altLang="ko-KR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𝑊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kumimoji="0" lang="ko-KR" altLang="ko-KR" sz="40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dPr>
                            <m:e>
                              <m:r>
                                <a:rPr kumimoji="0" lang="ko-KR" altLang="ko-KR" sz="40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𝑉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D7C17B5E-78AD-A672-7099-A75334BB1B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6543247"/>
                <a:ext cx="8001000" cy="7057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>
            <a:extLst>
              <a:ext uri="{FF2B5EF4-FFF2-40B4-BE49-F238E27FC236}">
                <a16:creationId xmlns:a16="http://schemas.microsoft.com/office/drawing/2014/main" id="{A9AAFA9B-BA62-B3DE-9DC8-EF41A9E60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630" y="1547810"/>
            <a:ext cx="5830887" cy="794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C095D51-DBBC-8092-7BDE-A257F1ABC148}"/>
              </a:ext>
            </a:extLst>
          </p:cNvPr>
          <p:cNvCxnSpPr>
            <a:cxnSpLocks/>
          </p:cNvCxnSpPr>
          <p:nvPr/>
        </p:nvCxnSpPr>
        <p:spPr>
          <a:xfrm>
            <a:off x="8534400" y="6896100"/>
            <a:ext cx="2514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24C42-3118-C0F0-9ACF-DFCBB4B3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0308DA-3E47-3AB8-52B3-3BDFCE552EAB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8721EC-BB06-47DF-B5D9-C5B54080CE1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3613197-70C5-4CDC-0445-F2F941FBFC2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C56E4B2D-F627-AADB-24E1-FEC01A25289B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A57D11B-EC9A-7EAE-B446-0EC3592E9C8C}"/>
              </a:ext>
            </a:extLst>
          </p:cNvPr>
          <p:cNvSpPr txBox="1"/>
          <p:nvPr/>
        </p:nvSpPr>
        <p:spPr>
          <a:xfrm>
            <a:off x="241468" y="828675"/>
            <a:ext cx="6069842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Scaled Dot-Product Attention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FC01EA44-C99F-D8CC-492D-A520BC115BCA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F1171DB-0BDC-CCEC-B011-A178C949C31C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CB4B269-2C5F-BED1-04ED-2EC6B6D9FE55}"/>
              </a:ext>
            </a:extLst>
          </p:cNvPr>
          <p:cNvSpPr txBox="1"/>
          <p:nvPr/>
        </p:nvSpPr>
        <p:spPr>
          <a:xfrm>
            <a:off x="17259300" y="9533567"/>
            <a:ext cx="647700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4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2B2A3761-A5CD-AEDB-8CA0-8D4B8A0DB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630" y="1547810"/>
            <a:ext cx="5830887" cy="794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1D7F374-80FA-8DBF-785F-2A45E7E9279D}"/>
              </a:ext>
            </a:extLst>
          </p:cNvPr>
          <p:cNvCxnSpPr>
            <a:cxnSpLocks/>
          </p:cNvCxnSpPr>
          <p:nvPr/>
        </p:nvCxnSpPr>
        <p:spPr>
          <a:xfrm>
            <a:off x="8817371" y="6515100"/>
            <a:ext cx="20792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87291B24-3810-A6C5-B35E-0306154FD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8194" y="6043560"/>
                <a:ext cx="6908335" cy="9430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kumimoji="0" lang="ko-KR" altLang="ko-KR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𝐴𝑡𝑡𝑒𝑛𝑡𝑖𝑜𝑛</m:t>
                    </m:r>
                    <m:d>
                      <m:dPr>
                        <m:ctrlPr>
                          <a:rPr kumimoji="0" lang="ko-KR" altLang="ko-KR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r>
                          <a:rPr kumimoji="0" lang="ko-KR" altLang="ko-KR" sz="32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𝑄</m:t>
                        </m:r>
                        <m:r>
                          <a:rPr kumimoji="0" lang="ko-KR" altLang="ko-KR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,</m:t>
                        </m:r>
                        <m:r>
                          <a:rPr kumimoji="0" lang="ko-KR" altLang="ko-KR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𝐾</m:t>
                        </m:r>
                        <m:r>
                          <a:rPr kumimoji="0" lang="ko-KR" altLang="ko-KR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,</m:t>
                        </m:r>
                        <m:r>
                          <a:rPr kumimoji="0" lang="ko-KR" altLang="ko-KR" sz="32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𝑉</m:t>
                        </m:r>
                      </m:e>
                    </m:d>
                    <m:r>
                      <a:rPr kumimoji="0" lang="ko-KR" altLang="ko-KR" sz="3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=</m:t>
                    </m:r>
                    <m:r>
                      <m:rPr>
                        <m:nor/>
                      </m:rPr>
                      <a:rPr kumimoji="0" lang="ko-KR" altLang="ko-KR" sz="3200" b="0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Google Sans Text"/>
                      </a:rPr>
                      <m:t>softmax</m:t>
                    </m:r>
                    <m:d>
                      <m:dPr>
                        <m:ctrlPr>
                          <a:rPr kumimoji="0" lang="ko-KR" altLang="ko-KR" sz="32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ko-KR" altLang="ko-KR" sz="32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</m:ctrlPr>
                          </m:fPr>
                          <m:num>
                            <m:r>
                              <a:rPr kumimoji="0" lang="ko-KR" altLang="ko-KR" sz="32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Google Sans Text"/>
                              </a:rPr>
                              <m:t>𝑄</m:t>
                            </m:r>
                            <m:sSup>
                              <m:sSupPr>
                                <m:ctrlPr>
                                  <a:rPr kumimoji="0" lang="ko-KR" altLang="ko-KR" sz="32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</m:ctrlPr>
                              </m:sSupPr>
                              <m:e>
                                <m:r>
                                  <a:rPr kumimoji="0" lang="ko-KR" altLang="ko-KR" sz="32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kumimoji="0" lang="ko-KR" altLang="ko-KR" sz="3200" b="0" i="1" u="none" strike="noStrike" cap="none" normalizeH="0" baseline="0" dirty="0" err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  <m:t>𝑇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0" lang="ko-KR" altLang="ko-KR" sz="3200" b="0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Google Sans Text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kumimoji="0" lang="ko-KR" altLang="ko-KR" sz="32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ko-KR" altLang="ko-KR" sz="3200" b="0" i="1" u="none" strike="noStrike" cap="none" normalizeH="0" baseline="0" dirty="0" err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kumimoji="0" lang="ko-KR" altLang="ko-KR" sz="3200" b="0" i="1" u="none" strike="noStrike" cap="none" normalizeH="0" baseline="0" dirty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Google Sans Text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ko-KR" altLang="ko-KR" sz="3200" dirty="0">
                    <a:ea typeface="Google Sans Text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ko-KR" sz="3200" i="1" dirty="0" err="1">
                        <a:latin typeface="Cambria Math" panose="02040503050406030204" pitchFamily="18" charset="0"/>
                        <a:ea typeface="Google Sans Text"/>
                      </a:rPr>
                      <m:t>𝑉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87291B24-3810-A6C5-B35E-0306154FD6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8194" y="6043560"/>
                <a:ext cx="6908335" cy="9430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077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83A33-E6AE-2E36-4B52-460BF9314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E5CEE8-72DC-DE60-8A3F-9B26F7641BAE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EF4B22E-25D8-20DB-A98B-951A39D42983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704A992-4535-EF51-4E32-7300DADB843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6643D2E-DAC8-4E6E-5E39-1F6F754F3998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452F7EA-420F-8972-F9DE-979A8733EFCB}"/>
              </a:ext>
            </a:extLst>
          </p:cNvPr>
          <p:cNvSpPr txBox="1"/>
          <p:nvPr/>
        </p:nvSpPr>
        <p:spPr>
          <a:xfrm>
            <a:off x="225198" y="777599"/>
            <a:ext cx="7517642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Multi-Head Concatenation &amp; Output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1E186BB0-1FF1-DDA4-41AC-B6ED8CDB7F7C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E6083D6E-22AD-11A7-6ABA-E45065B54C57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D43C20D7-E1FC-F585-F850-B84008D60947}"/>
              </a:ext>
            </a:extLst>
          </p:cNvPr>
          <p:cNvSpPr txBox="1"/>
          <p:nvPr/>
        </p:nvSpPr>
        <p:spPr>
          <a:xfrm>
            <a:off x="17068800" y="9533567"/>
            <a:ext cx="838200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5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3C13B894-A075-09E6-89E1-0CF5343DD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630" y="1547810"/>
            <a:ext cx="5830887" cy="794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BC4FD43-DA32-D6CC-E76D-C3813BE477DA}"/>
              </a:ext>
            </a:extLst>
          </p:cNvPr>
          <p:cNvCxnSpPr>
            <a:cxnSpLocks/>
          </p:cNvCxnSpPr>
          <p:nvPr/>
        </p:nvCxnSpPr>
        <p:spPr>
          <a:xfrm>
            <a:off x="8763000" y="5829300"/>
            <a:ext cx="2438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28F372C7-18BE-C0C7-C087-7C236BD2F3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400" y="5590773"/>
                <a:ext cx="7289041" cy="4770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sz="2800" i="0" smtClean="0"/>
                        <m:t>MultiHead</m:t>
                      </m:r>
                      <m:d>
                        <m:d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2800" i="0"/>
                        <m:t>Concat</m:t>
                      </m:r>
                      <m:d>
                        <m:d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ko-KR" sz="2800" i="0"/>
                                <m:t>head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ko-KR" sz="2800" i="0"/>
                                <m:t>head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800" dirty="0"/>
              </a:p>
            </p:txBody>
          </p:sp>
        </mc:Choice>
        <mc:Fallback xmlns=""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28F372C7-18BE-C0C7-C087-7C236BD2F3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590773"/>
                <a:ext cx="7289041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1D6AD6-F43F-8E3D-3C05-6246937A7554}"/>
                  </a:ext>
                </a:extLst>
              </p:cNvPr>
              <p:cNvSpPr txBox="1"/>
              <p:nvPr/>
            </p:nvSpPr>
            <p:spPr>
              <a:xfrm>
                <a:off x="1870990" y="4613553"/>
                <a:ext cx="529181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ko-KR" sz="3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3200" i="0"/>
                        <m:t>MultiHead</m:t>
                      </m:r>
                      <m:d>
                        <m:dPr>
                          <m:ctrlPr>
                            <a:rPr lang="ar-AE" altLang="ko-K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ar-AE" sz="32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ar-AE" altLang="ko-KR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ar-AE" sz="32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ar-AE" altLang="ko-KR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ar-AE" sz="32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sSub>
                        <m:sSubPr>
                          <m:ctrlPr>
                            <a:rPr lang="ar-AE" altLang="ko-K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3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ko-KR" altLang="ar-AE" sz="32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ar-AE" altLang="ko-KR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1D6AD6-F43F-8E3D-3C05-6246937A7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990" y="4613553"/>
                <a:ext cx="529181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580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8B0B-3149-3CB0-3987-E3EE36AA1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A3DAE4F-F662-CD7F-861B-9A414D81B3CB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8F678A2-E548-DDBC-7A07-66A46CF4D8B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E3DF4EB-E9BA-B395-B897-E4144BDBEFD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5302F38-A398-EFD4-EBCC-5E82DAB90D39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D21C959-D5D0-69F2-F255-2756738C6530}"/>
              </a:ext>
            </a:extLst>
          </p:cNvPr>
          <p:cNvSpPr txBox="1"/>
          <p:nvPr/>
        </p:nvSpPr>
        <p:spPr>
          <a:xfrm>
            <a:off x="183602" y="845179"/>
            <a:ext cx="3092787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000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Attention Sink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72549273-0196-450B-A075-89B6CED32AF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32B6B1A-AD82-05D4-28A9-40FD0B80B6C0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57D1D242-26C8-3629-9499-E282820A62E5}"/>
              </a:ext>
            </a:extLst>
          </p:cNvPr>
          <p:cNvSpPr txBox="1"/>
          <p:nvPr/>
        </p:nvSpPr>
        <p:spPr>
          <a:xfrm>
            <a:off x="17259300" y="9533567"/>
            <a:ext cx="627766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D4A928-1AC8-6545-2E28-7FEFB06C60ED}"/>
              </a:ext>
            </a:extLst>
          </p:cNvPr>
          <p:cNvSpPr/>
          <p:nvPr/>
        </p:nvSpPr>
        <p:spPr>
          <a:xfrm>
            <a:off x="8991600" y="3848100"/>
            <a:ext cx="3962400" cy="1752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5F5263-78AA-E101-EB0C-F39CFD9AB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216" y="1772452"/>
            <a:ext cx="14099564" cy="800899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00A97D7F-DDD1-0889-570A-0CC84B5A89A0}"/>
              </a:ext>
            </a:extLst>
          </p:cNvPr>
          <p:cNvSpPr/>
          <p:nvPr/>
        </p:nvSpPr>
        <p:spPr>
          <a:xfrm>
            <a:off x="8686800" y="1772452"/>
            <a:ext cx="2057400" cy="704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ED9CC93-B26B-44E5-57C9-E00A37B4750F}"/>
              </a:ext>
            </a:extLst>
          </p:cNvPr>
          <p:cNvCxnSpPr/>
          <p:nvPr/>
        </p:nvCxnSpPr>
        <p:spPr>
          <a:xfrm>
            <a:off x="14401800" y="1615390"/>
            <a:ext cx="0" cy="157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91509A-B9E6-5637-E06D-F2172581D952}"/>
              </a:ext>
            </a:extLst>
          </p:cNvPr>
          <p:cNvSpPr/>
          <p:nvPr/>
        </p:nvSpPr>
        <p:spPr>
          <a:xfrm>
            <a:off x="13261323" y="1133072"/>
            <a:ext cx="2057400" cy="4483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130F23-E0BA-BB19-54DE-D7F839E2999B}"/>
              </a:ext>
            </a:extLst>
          </p:cNvPr>
          <p:cNvSpPr txBox="1"/>
          <p:nvPr/>
        </p:nvSpPr>
        <p:spPr>
          <a:xfrm>
            <a:off x="13378146" y="1028699"/>
            <a:ext cx="1785654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2933615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D8339-DD52-6019-A308-573FD48C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709200-F389-0612-A40B-2C966DCBB4D1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A1AE1B-2285-98BA-7A6A-9C35A29B801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32C1DF-CD73-0D2B-40AE-C4AA1FF92D1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B3C8B9E-819E-4C29-1597-6C481BA91C46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FB84DFB-4588-9985-B205-2BB31199450F}"/>
              </a:ext>
            </a:extLst>
          </p:cNvPr>
          <p:cNvSpPr txBox="1"/>
          <p:nvPr/>
        </p:nvSpPr>
        <p:spPr>
          <a:xfrm>
            <a:off x="711959" y="851019"/>
            <a:ext cx="4047014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6589"/>
              </a:lnSpc>
              <a:spcBef>
                <a:spcPct val="0"/>
              </a:spcBef>
              <a:defRPr/>
            </a:pPr>
            <a:r>
              <a:rPr lang="en-US" altLang="ko-KR" sz="4000" dirty="0"/>
              <a:t>Gating Mechanism</a:t>
            </a:r>
            <a:endParaRPr kumimoji="0" lang="en-US" sz="4000" b="0" i="0" u="none" strike="noStrike" kern="1200" cap="none" spc="-65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65736D3-EF99-D17E-4549-2127A103A39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D610979F-A38D-CE52-C160-B5F9E5682491}"/>
              </a:ext>
            </a:extLst>
          </p:cNvPr>
          <p:cNvSpPr txBox="1"/>
          <p:nvPr/>
        </p:nvSpPr>
        <p:spPr>
          <a:xfrm>
            <a:off x="17259300" y="9533567"/>
            <a:ext cx="627766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7</a:t>
            </a:r>
            <a:endParaRPr kumimoji="0" lang="en-US" sz="3197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09DB745-313D-F51C-1BA4-5EC76FAF80DF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0B047A2C-3716-E5C2-4832-5143005F1D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8445" y="2631588"/>
                <a:ext cx="8915403" cy="7679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ko-KR" altLang="ko-KR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pPr>
                        <m:e>
                          <m:r>
                            <a:rPr kumimoji="0" lang="ko-KR" altLang="ko-KR" sz="40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𝑌</m:t>
                          </m:r>
                        </m:e>
                        <m:sup>
                          <m:r>
                            <a:rPr kumimoji="0" lang="ko-KR" altLang="ko-KR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′</m:t>
                          </m:r>
                        </m:sup>
                      </m:sSup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=</m:t>
                      </m:r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40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l-GR" altLang="ko-KR" sz="4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altLang="ko-KR" sz="4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altLang="ko-KR" sz="40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l-GR" altLang="ko-KR" sz="4000" i="1"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kumimoji="0" lang="ko-KR" altLang="ko-KR" sz="4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𝑌</m:t>
                      </m:r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 ⊙</m:t>
                      </m:r>
                      <m:r>
                        <a:rPr kumimoji="0" lang="ko-KR" altLang="ko-KR" sz="4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𝜎</m:t>
                      </m:r>
                      <m:d>
                        <m:dPr>
                          <m:ctrlPr>
                            <a:rPr kumimoji="0" lang="ko-KR" altLang="ko-KR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r>
                            <a:rPr kumimoji="0" lang="ko-KR" altLang="ko-KR" sz="40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𝑋</m:t>
                          </m:r>
                          <m:sSub>
                            <m:sSubPr>
                              <m:ctrlPr>
                                <a:rPr kumimoji="0" lang="ko-KR" altLang="ko-KR" sz="40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sSubPr>
                            <m:e>
                              <m:r>
                                <a:rPr kumimoji="0" lang="ko-KR" altLang="ko-KR" sz="40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𝑊</m:t>
                              </m:r>
                            </m:e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0" lang="ko-KR" altLang="ko-KR" sz="40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dPr>
                                <m:e>
                                  <m:r>
                                    <a:rPr kumimoji="0" lang="ko-KR" altLang="ko-KR" sz="40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𝜃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endParaRPr dirty="0">
                  <a:latin typeface="Google Sans Text"/>
                </a:endParaRPr>
              </a:p>
            </p:txBody>
          </p:sp>
        </mc:Choice>
        <mc:Fallback>
          <p:sp>
            <p:nvSpPr>
              <p:cNvPr id="12" name="Rectangle 2">
                <a:extLst>
                  <a:ext uri="{FF2B5EF4-FFF2-40B4-BE49-F238E27FC236}">
                    <a16:creationId xmlns:a16="http://schemas.microsoft.com/office/drawing/2014/main" id="{0B047A2C-3716-E5C2-4832-5143005F1D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8445" y="2631588"/>
                <a:ext cx="8915403" cy="7679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13">
                <a:extLst>
                  <a:ext uri="{FF2B5EF4-FFF2-40B4-BE49-F238E27FC236}">
                    <a16:creationId xmlns:a16="http://schemas.microsoft.com/office/drawing/2014/main" id="{E663D8FD-8626-41C8-79AA-DD57579B1E19}"/>
                  </a:ext>
                </a:extLst>
              </p:cNvPr>
              <p:cNvSpPr txBox="1"/>
              <p:nvPr/>
            </p:nvSpPr>
            <p:spPr>
              <a:xfrm>
                <a:off x="2209800" y="4305300"/>
                <a:ext cx="11333866" cy="412869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lnSpc>
                    <a:spcPts val="6589"/>
                  </a:lnSpc>
                  <a:spcBef>
                    <a:spcPct val="0"/>
                  </a:spcBef>
                  <a:defRPr/>
                </a:pPr>
                <a:r>
                  <a:rPr lang="en-US" altLang="ko-KR" sz="3200" dirty="0">
                    <a:latin typeface="+mj-lt"/>
                  </a:rPr>
                  <a:t>1. Positions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n-NO" altLang="ko-KR" sz="32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n-NO" altLang="ko-KR" sz="32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nn-NO" altLang="ko-KR" sz="32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nn-NO" altLang="ko-KR" sz="32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nn-NO" altLang="ko-KR" sz="320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US" altLang="ko-KR" sz="3200" dirty="0">
                  <a:latin typeface="+mj-lt"/>
                </a:endParaRPr>
              </a:p>
              <a:p>
                <a:pPr lvl="0">
                  <a:lnSpc>
                    <a:spcPts val="6589"/>
                  </a:lnSpc>
                  <a:spcBef>
                    <a:spcPct val="0"/>
                  </a:spcBef>
                  <a:defRPr/>
                </a:pPr>
                <a:r>
                  <a:rPr lang="en-US" altLang="ko-KR" sz="3200" dirty="0">
                    <a:latin typeface="+mj-lt"/>
                  </a:rPr>
                  <a:t>2. Granularity</a:t>
                </a:r>
                <a:r>
                  <a:rPr lang="ko-KR" altLang="en-US" sz="3200" dirty="0">
                    <a:latin typeface="+mj-lt"/>
                  </a:rPr>
                  <a:t> </a:t>
                </a:r>
                <a:r>
                  <a:rPr lang="en-US" altLang="ko-KR" sz="3200" dirty="0">
                    <a:latin typeface="+mj-lt"/>
                  </a:rPr>
                  <a:t>: </a:t>
                </a:r>
                <a:r>
                  <a:rPr lang="en-US" altLang="ko-KR" sz="3200" dirty="0" err="1"/>
                  <a:t>Headwise</a:t>
                </a:r>
                <a:r>
                  <a:rPr lang="en-US" altLang="ko-KR" sz="3200" dirty="0"/>
                  <a:t> or Elementwise?</a:t>
                </a:r>
                <a:endParaRPr lang="en-US" altLang="ko-KR" sz="3200" dirty="0">
                  <a:latin typeface="+mj-lt"/>
                </a:endParaRPr>
              </a:p>
              <a:p>
                <a:pPr lvl="0">
                  <a:lnSpc>
                    <a:spcPts val="6589"/>
                  </a:lnSpc>
                  <a:spcBef>
                    <a:spcPct val="0"/>
                  </a:spcBef>
                  <a:defRPr/>
                </a:pPr>
                <a:r>
                  <a:rPr lang="en-US" altLang="ko-KR" sz="3200" dirty="0">
                    <a:latin typeface="+mj-lt"/>
                  </a:rPr>
                  <a:t>3.</a:t>
                </a:r>
                <a:r>
                  <a:rPr lang="en-US" altLang="ko-KR" sz="3200" dirty="0"/>
                  <a:t> Head- Specific vs Head- Shared </a:t>
                </a:r>
              </a:p>
              <a:p>
                <a:pPr lvl="0">
                  <a:lnSpc>
                    <a:spcPts val="6589"/>
                  </a:lnSpc>
                  <a:spcBef>
                    <a:spcPct val="0"/>
                  </a:spcBef>
                  <a:defRPr/>
                </a:pPr>
                <a:r>
                  <a:rPr lang="en-US" altLang="ko-KR" sz="3200" dirty="0">
                    <a:latin typeface="+mj-lt"/>
                  </a:rPr>
                  <a:t>4.</a:t>
                </a:r>
                <a:r>
                  <a:rPr lang="en-US" altLang="ko-KR" sz="3200" dirty="0"/>
                  <a:t> Operation : Multiplicative or Additive</a:t>
                </a:r>
              </a:p>
              <a:p>
                <a:pPr lvl="0">
                  <a:lnSpc>
                    <a:spcPts val="6589"/>
                  </a:lnSpc>
                  <a:spcBef>
                    <a:spcPct val="0"/>
                  </a:spcBef>
                  <a:defRPr/>
                </a:pPr>
                <a:r>
                  <a:rPr lang="en-US" altLang="ko-KR" sz="3200" dirty="0">
                    <a:latin typeface="+mj-lt"/>
                  </a:rPr>
                  <a:t>5. Activation: </a:t>
                </a:r>
                <a:r>
                  <a:rPr lang="en-US" altLang="ko-KR" sz="3200" dirty="0"/>
                  <a:t>Sigmoid or </a:t>
                </a:r>
                <a:r>
                  <a:rPr lang="en-US" altLang="ko-KR" sz="3200" dirty="0" err="1"/>
                  <a:t>SiLU</a:t>
                </a:r>
                <a:r>
                  <a:rPr lang="en-US" altLang="ko-KR" sz="3200" dirty="0"/>
                  <a:t>:</a:t>
                </a:r>
                <a:endParaRPr kumimoji="0" lang="en-US" sz="3200" b="0" i="0" u="none" strike="noStrike" kern="1200" cap="none" spc="-65" normalizeH="0" baseline="0" noProof="0" dirty="0">
                  <a:ln>
                    <a:noFill/>
                  </a:ln>
                  <a:solidFill>
                    <a:srgbClr val="191919"/>
                  </a:solidFill>
                  <a:effectLst/>
                  <a:uLnTx/>
                  <a:uFillTx/>
                  <a:latin typeface="+mj-lt"/>
                  <a:ea typeface="Calibri" panose="020F0502020204030204" pitchFamily="34" charset="0"/>
                  <a:cs typeface="Calibri" panose="020F0502020204030204" pitchFamily="34" charset="0"/>
                  <a:sym typeface="윤고딕"/>
                </a:endParaRPr>
              </a:p>
            </p:txBody>
          </p:sp>
        </mc:Choice>
        <mc:Fallback xmlns="">
          <p:sp>
            <p:nvSpPr>
              <p:cNvPr id="22" name="TextBox 13">
                <a:extLst>
                  <a:ext uri="{FF2B5EF4-FFF2-40B4-BE49-F238E27FC236}">
                    <a16:creationId xmlns:a16="http://schemas.microsoft.com/office/drawing/2014/main" id="{E663D8FD-8626-41C8-79AA-DD57579B1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4305300"/>
                <a:ext cx="11333866" cy="4128694"/>
              </a:xfrm>
              <a:prstGeom prst="rect">
                <a:avLst/>
              </a:prstGeom>
              <a:blipFill>
                <a:blip r:embed="rId3"/>
                <a:stretch>
                  <a:fillRect l="-2205" b="-50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그림 24">
            <a:extLst>
              <a:ext uri="{FF2B5EF4-FFF2-40B4-BE49-F238E27FC236}">
                <a16:creationId xmlns:a16="http://schemas.microsoft.com/office/drawing/2014/main" id="{75E9E780-D7EE-8322-CF1D-174B1BF69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147" y="6628125"/>
            <a:ext cx="8550919" cy="27362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E2CAB680-4E6F-1385-656C-3C2F03782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73959" y="3374744"/>
                <a:ext cx="2699224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ko-KR" altLang="ko-KR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⊙</m:t>
                      </m:r>
                      <m:r>
                        <a:rPr kumimoji="0" lang="en-US" altLang="ko-KR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 :</m:t>
                      </m:r>
                      <m:r>
                        <m:rPr>
                          <m:nor/>
                        </m:rPr>
                        <a:rPr lang="en-US" altLang="ko-KR"/>
                        <m:t>Element</m:t>
                      </m:r>
                      <m:r>
                        <m:rPr>
                          <m:nor/>
                        </m:rPr>
                        <a:rPr lang="en-US" altLang="ko-KR"/>
                        <m:t>−</m:t>
                      </m:r>
                      <m:r>
                        <m:rPr>
                          <m:nor/>
                        </m:rPr>
                        <a:rPr lang="en-US" altLang="ko-KR"/>
                        <m:t>wise</m:t>
                      </m:r>
                      <m:r>
                        <m:rPr>
                          <m:nor/>
                        </m:rPr>
                        <a:rPr lang="en-US" altLang="ko-KR"/>
                        <m:t> </m:t>
                      </m:r>
                      <m:r>
                        <m:rPr>
                          <m:nor/>
                        </m:rPr>
                        <a:rPr lang="en-US" altLang="ko-KR"/>
                        <m:t>product</m:t>
                      </m:r>
                    </m:oMath>
                  </m:oMathPara>
                </a14:m>
                <a:endParaRPr sz="1100" dirty="0"/>
              </a:p>
            </p:txBody>
          </p:sp>
        </mc:Choice>
        <mc:Fallback xmlns=""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E2CAB680-4E6F-1385-656C-3C2F03782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73959" y="3374744"/>
                <a:ext cx="2699224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6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658C9-DEFD-AA21-3F67-28FAAD2E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DF3B419-DC6C-2B48-E17B-0751FCC34463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DC5892-47C7-85E7-A385-5A7F93F11B1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4188B38-90B6-AE59-5252-8B34523CF5BD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AD05659-061A-BBED-B804-368DCBDB18C7}"/>
              </a:ext>
            </a:extLst>
          </p:cNvPr>
          <p:cNvSpPr txBox="1"/>
          <p:nvPr/>
        </p:nvSpPr>
        <p:spPr>
          <a:xfrm>
            <a:off x="13378146" y="781050"/>
            <a:ext cx="3881154" cy="434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  <a:defRPr/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BFAE5EF-518D-98A9-841E-0A2AAC16496F}"/>
              </a:ext>
            </a:extLst>
          </p:cNvPr>
          <p:cNvSpPr txBox="1"/>
          <p:nvPr/>
        </p:nvSpPr>
        <p:spPr>
          <a:xfrm>
            <a:off x="711958" y="851019"/>
            <a:ext cx="2793242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Positions</a:t>
            </a:r>
            <a:endParaRPr lang="en-US" sz="40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04D7BEF1-0309-7D47-F31F-A159EB79E80A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10EE190D-AA7C-ACBA-8A62-2CAA2C1BBE13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2DC06DC1-4768-CE29-6E92-EEF77CC91F57}"/>
              </a:ext>
            </a:extLst>
          </p:cNvPr>
          <p:cNvSpPr txBox="1"/>
          <p:nvPr/>
        </p:nvSpPr>
        <p:spPr>
          <a:xfrm>
            <a:off x="17259300" y="9533567"/>
            <a:ext cx="647700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8</a:t>
            </a:r>
          </a:p>
        </p:txBody>
      </p:sp>
      <p:pic>
        <p:nvPicPr>
          <p:cNvPr id="11" name="그림 10" descr="텍스트, 스크린샷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888EF6-672C-AFDE-74BB-E57B809B8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246" y="1802055"/>
            <a:ext cx="6781800" cy="7180728"/>
          </a:xfrm>
          <a:prstGeom prst="rect">
            <a:avLst/>
          </a:prstGeom>
        </p:spPr>
      </p:pic>
      <p:pic>
        <p:nvPicPr>
          <p:cNvPr id="16" name="그림 1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77D5-E0BD-8DB5-C3DD-4793883E5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537" y="2049371"/>
            <a:ext cx="5791286" cy="692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12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9266B-9691-2838-95CE-6BFE54B28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7F18532-CC0A-97F9-46A6-7B918FC55450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C201478-1387-A175-B84D-31A57585CCE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D8C8452-A90D-4469-5572-2222F39064D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E51845B-7597-C878-1388-ADD75CC9831C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3958E17-4BCF-9101-0B59-6458164C1BBD}"/>
              </a:ext>
            </a:extLst>
          </p:cNvPr>
          <p:cNvSpPr txBox="1"/>
          <p:nvPr/>
        </p:nvSpPr>
        <p:spPr>
          <a:xfrm>
            <a:off x="711959" y="851019"/>
            <a:ext cx="4047014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6589"/>
              </a:lnSpc>
              <a:spcBef>
                <a:spcPct val="0"/>
              </a:spcBef>
              <a:defRPr/>
            </a:pPr>
            <a:r>
              <a:rPr lang="en-US" altLang="ko-KR" sz="4000" dirty="0"/>
              <a:t>Gating Mechanism</a:t>
            </a:r>
            <a:endParaRPr kumimoji="0" lang="en-US" sz="4000" b="0" i="0" u="none" strike="noStrike" kern="1200" cap="none" spc="-65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5393CB7B-E297-A7EB-7C70-78DE11D5B30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F4C31A5F-CBC0-73A9-D71E-7D75AA521751}"/>
              </a:ext>
            </a:extLst>
          </p:cNvPr>
          <p:cNvSpPr txBox="1"/>
          <p:nvPr/>
        </p:nvSpPr>
        <p:spPr>
          <a:xfrm>
            <a:off x="17259300" y="9533567"/>
            <a:ext cx="627766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9</a:t>
            </a:r>
            <a:endParaRPr kumimoji="0" lang="en-US" sz="3197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D784D7BC-048B-4374-1450-2A5DD086873E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8" name="그림 7" descr="텍스트, 번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6B2892-3960-6E45-566D-A0C445537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494" y="1959527"/>
            <a:ext cx="13259011" cy="716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71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7729-5671-95A4-1473-B080D566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B70018-95F4-E626-0C25-F1A0CA48EFA8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CDEE6D-9C7C-0E15-CCC3-BDF2AAA46E0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E81A01-6BB3-9E3D-2CA4-249926E9E2A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A6DA00C-69FE-04F2-5831-888E61B8951C}"/>
              </a:ext>
            </a:extLst>
          </p:cNvPr>
          <p:cNvSpPr txBox="1"/>
          <p:nvPr/>
        </p:nvSpPr>
        <p:spPr>
          <a:xfrm>
            <a:off x="24581" y="768434"/>
            <a:ext cx="4162214" cy="756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600" dirty="0"/>
              <a:t>Contribution</a:t>
            </a:r>
            <a:endParaRPr lang="en-US" sz="36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4127906-69D5-1802-1C81-A819859EDCA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971494-FBB9-5FB5-3030-AE6998B09C7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33044-3171-89C2-56FA-555C17A268AF}"/>
              </a:ext>
            </a:extLst>
          </p:cNvPr>
          <p:cNvSpPr txBox="1"/>
          <p:nvPr/>
        </p:nvSpPr>
        <p:spPr>
          <a:xfrm>
            <a:off x="2105688" y="2585055"/>
            <a:ext cx="135636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en-US" altLang="ko-KR" sz="3600" dirty="0"/>
              <a:t>Optimal Gating Placement </a:t>
            </a:r>
          </a:p>
          <a:p>
            <a:pPr marL="457200" indent="-457200">
              <a:buFontTx/>
              <a:buChar char="-"/>
            </a:pPr>
            <a:r>
              <a:rPr lang="en-US" altLang="ko-KR" sz="2800" dirty="0"/>
              <a:t>It demonstrated that structural fine-tuning through gating is more efficient than simply scaling up the model size.</a:t>
            </a:r>
          </a:p>
          <a:p>
            <a:endParaRPr lang="en-US" altLang="ko-KR" sz="3600" dirty="0"/>
          </a:p>
          <a:p>
            <a:r>
              <a:rPr lang="en-US" altLang="ko-KR" sz="3600" dirty="0"/>
              <a:t>2.    Mitigating Attention Sinks </a:t>
            </a:r>
          </a:p>
          <a:p>
            <a:pPr marL="457200" indent="-457200">
              <a:buFontTx/>
              <a:buChar char="-"/>
            </a:pPr>
            <a:r>
              <a:rPr lang="en-US" altLang="ko-KR" sz="2800" dirty="0"/>
              <a:t>By enabling the model to focus solely on contextually critical information, it has significantly enhanced inference accuracy.</a:t>
            </a:r>
          </a:p>
          <a:p>
            <a:pPr marL="457200" indent="-457200">
              <a:buFontTx/>
              <a:buChar char="-"/>
            </a:pPr>
            <a:endParaRPr lang="en-US" altLang="ko-KR" sz="2800" dirty="0"/>
          </a:p>
          <a:p>
            <a:r>
              <a:rPr lang="en-US" altLang="ko-KR" sz="3600" dirty="0"/>
              <a:t>3.   Facilitating Long-Context Extension </a:t>
            </a:r>
          </a:p>
          <a:p>
            <a:r>
              <a:rPr lang="en-US" altLang="ko-KR" sz="2800" dirty="0"/>
              <a:t>-   It provides practical solutions for modern LLM applications where long-context understanding is vital, such as document summarization and extended dialogues.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649774ED-6768-6553-5188-A365B4C0D89F}"/>
              </a:ext>
            </a:extLst>
          </p:cNvPr>
          <p:cNvSpPr txBox="1"/>
          <p:nvPr/>
        </p:nvSpPr>
        <p:spPr>
          <a:xfrm>
            <a:off x="17259300" y="9533567"/>
            <a:ext cx="647700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10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44C1852-68A5-2DE8-94CB-77459EE30E0D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5374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ECB48-5BF3-73B7-3513-7E759770C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826B21-8F44-4219-56E7-25DDBF0A7D4B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7D42655-F390-8095-01E4-3A10800B22B7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DC338DD-4DD3-6DF3-3FC6-BE5001E2AD82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EA3D23A3-7C34-EEA5-1573-3E02AA0CF829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6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Gating Mechanism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05D33BF-1394-8AE4-E1A0-6815947C1757}"/>
              </a:ext>
            </a:extLst>
          </p:cNvPr>
          <p:cNvSpPr txBox="1"/>
          <p:nvPr/>
        </p:nvSpPr>
        <p:spPr>
          <a:xfrm>
            <a:off x="711959" y="851019"/>
            <a:ext cx="4047014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6589"/>
              </a:lnSpc>
              <a:spcBef>
                <a:spcPct val="0"/>
              </a:spcBef>
              <a:defRPr/>
            </a:pPr>
            <a:r>
              <a:rPr lang="en-US" altLang="ko-KR" sz="4000" dirty="0"/>
              <a:t>Gating Mechanism</a:t>
            </a:r>
            <a:endParaRPr kumimoji="0" lang="en-US" sz="4000" b="0" i="0" u="none" strike="noStrike" kern="1200" cap="none" spc="-65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BC8E7FCD-9268-7A5F-B7BC-DA4D80EBE603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4397399-067F-A99C-2BBD-ABBBFFB4C196}"/>
              </a:ext>
            </a:extLst>
          </p:cNvPr>
          <p:cNvSpPr txBox="1"/>
          <p:nvPr/>
        </p:nvSpPr>
        <p:spPr>
          <a:xfrm>
            <a:off x="17259300" y="9533567"/>
            <a:ext cx="6277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7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윤고딕"/>
                <a:ea typeface="윤고딕"/>
                <a:cs typeface="윤고딕"/>
                <a:sym typeface="윤고딕"/>
              </a:rPr>
              <a:t>11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44F951C-6E47-0558-A51C-148869E740FC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8" name="그림 7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3570F8-A779-6166-B2ED-0923A6FEA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374" y="2112014"/>
            <a:ext cx="14507247" cy="696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8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05873-8412-AE3D-485C-D1D62F3B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7B9FBC-2958-6F5E-8272-2717F64362A2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5C8FAB-9F67-6E76-6AA8-62AA21CC45E6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FEEBB4B-4A8A-909A-952D-7C0B8D278CF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FBE6DECE-D381-92FE-41FB-79236664C3D9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6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Gating Mechanism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F6879A3-C102-B726-C09A-C14EB82B39E2}"/>
              </a:ext>
            </a:extLst>
          </p:cNvPr>
          <p:cNvSpPr txBox="1"/>
          <p:nvPr/>
        </p:nvSpPr>
        <p:spPr>
          <a:xfrm>
            <a:off x="711959" y="851019"/>
            <a:ext cx="4047014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6589"/>
              </a:lnSpc>
              <a:spcBef>
                <a:spcPct val="0"/>
              </a:spcBef>
              <a:defRPr/>
            </a:pPr>
            <a:r>
              <a:rPr kumimoji="0" lang="en-US" sz="4000" b="0" i="0" u="none" strike="noStrike" kern="1200" cap="none" spc="-65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Attention Sink-Free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F13B9A18-30BF-415F-0773-A2A96E98774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3879A775-44D1-BF67-466E-D155D1183E85}"/>
              </a:ext>
            </a:extLst>
          </p:cNvPr>
          <p:cNvSpPr txBox="1"/>
          <p:nvPr/>
        </p:nvSpPr>
        <p:spPr>
          <a:xfrm>
            <a:off x="17259300" y="9533567"/>
            <a:ext cx="627766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7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윤고딕"/>
                <a:ea typeface="윤고딕"/>
                <a:cs typeface="윤고딕"/>
                <a:sym typeface="윤고딕"/>
              </a:rPr>
              <a:t>12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CE4A4F3-97C4-3679-2BA0-F9AFDB05B15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823E07E6-B37A-810A-7178-0673556730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8900" y="2651188"/>
                <a:ext cx="6172200" cy="1689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ko-KR" altLang="ko-KR" sz="3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SupPr>
                        <m:e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𝑜</m:t>
                          </m:r>
                        </m:e>
                        <m:sub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𝑖</m:t>
                          </m:r>
                        </m:sub>
                        <m:sup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𝑘</m:t>
                          </m:r>
                        </m:sup>
                      </m:sSubSup>
                      <m:r>
                        <a:rPr kumimoji="0" lang="ko-KR" altLang="ko-KR" sz="3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kumimoji="0" lang="ko-KR" altLang="ko-KR" sz="3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kumimoji="0" lang="ko-KR" altLang="ko-KR" sz="3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dPr>
                            <m:e>
                              <m:r>
                                <a:rPr kumimoji="0" lang="ko-KR" altLang="ko-KR" sz="36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𝑗</m:t>
                              </m:r>
                              <m:r>
                                <a:rPr kumimoji="0" lang="ko-KR" altLang="ko-KR" sz="3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=</m:t>
                              </m:r>
                              <m:r>
                                <a:rPr kumimoji="0" lang="ko-KR" altLang="ko-KR" sz="3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0</m:t>
                              </m:r>
                            </m:e>
                          </m:d>
                        </m:sub>
                        <m:sup>
                          <m:r>
                            <a:rPr kumimoji="0" lang="en-US" altLang="ko-KR" sz="3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𝑖</m:t>
                          </m:r>
                        </m:sup>
                        <m:e>
                          <m:sSubSup>
                            <m:sSubSupPr>
                              <m:ctrlPr>
                                <a:rPr lang="ko-KR" altLang="ko-KR" sz="3600" i="1" dirty="0"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sSubSupPr>
                            <m:e>
                              <m:r>
                                <a:rPr lang="ko-KR" altLang="ko-KR" sz="3600" i="1" dirty="0" err="1"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ko-KR" altLang="ko-KR" sz="3600" i="1" dirty="0" err="1"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𝑘</m:t>
                              </m:r>
                            </m:sub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ko-KR" altLang="ko-KR" sz="3600" i="1" dirty="0"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dPr>
                                <m:e>
                                  <m:r>
                                    <a:rPr lang="ko-KR" altLang="ko-KR" sz="3600" i="1" dirty="0" err="1"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𝑖𝑗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kumimoji="0" lang="ko-KR" altLang="ko-KR" sz="3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⋅</m:t>
                      </m:r>
                      <m:sSub>
                        <m:sSubPr>
                          <m:ctrlP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Pr>
                        <m:e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𝑋</m:t>
                          </m:r>
                        </m:e>
                        <m:sub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kumimoji="0" lang="ko-KR" altLang="ko-KR" sz="3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0" lang="ko-KR" altLang="ko-KR" sz="36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sSubSupPr>
                            <m:e>
                              <m:r>
                                <a:rPr kumimoji="0" lang="ko-KR" altLang="ko-KR" sz="36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0" lang="ko-KR" altLang="ko-KR" sz="36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𝑉</m:t>
                              </m:r>
                            </m:sub>
                            <m:sup>
                              <m:r>
                                <a:rPr kumimoji="0" lang="ko-KR" altLang="ko-KR" sz="36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𝑘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kumimoji="0" lang="ko-KR" altLang="ko-KR" sz="36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sSubSupPr>
                            <m:e>
                              <m:r>
                                <a:rPr kumimoji="0" lang="ko-KR" altLang="ko-KR" sz="36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𝑊</m:t>
                              </m:r>
                            </m:e>
                            <m:sub>
                              <m:r>
                                <a:rPr kumimoji="0" lang="ko-KR" altLang="ko-KR" sz="36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𝑂</m:t>
                              </m:r>
                            </m:sub>
                            <m:sup>
                              <m:r>
                                <a:rPr kumimoji="0" lang="ko-KR" altLang="ko-KR" sz="36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823E07E6-B37A-810A-7178-0673556730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8900" y="2651188"/>
                <a:ext cx="6172200" cy="16894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80836197-D723-8EC1-4D5E-85825043CB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1400" y="5762453"/>
                <a:ext cx="11887200" cy="875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SupPr>
                        <m:e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𝑜</m:t>
                          </m:r>
                        </m:e>
                        <m:sub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𝑖</m:t>
                          </m:r>
                        </m:sub>
                        <m:sup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𝑘</m:t>
                          </m:r>
                        </m:sup>
                      </m:sSubSup>
                      <m:r>
                        <a:rPr kumimoji="0" lang="ko-KR" altLang="ko-KR" sz="3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Google Sans Text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ko-KR" altLang="ko-KR" sz="3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𝑁𝑜𝑛</m:t>
                          </m:r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−</m:t>
                          </m:r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𝐿𝑖𝑛𝑒𝑎𝑟𝑖𝑡𝑦</m:t>
                          </m:r>
                        </m:e>
                      </m:d>
                      <m:d>
                        <m:dPr>
                          <m:begChr m:val=""/>
                          <m:ctrlPr>
                            <a:rPr kumimoji="0" lang="ko-KR" altLang="ko-KR" sz="3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dPr>
                        <m:e>
                          <m:d>
                            <m:dPr>
                              <m:endChr m:val=""/>
                              <m:ctrlPr>
                                <a:rPr kumimoji="0" lang="ko-KR" altLang="ko-KR" sz="3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</m:ctrlPr>
                            </m:dPr>
                            <m:e>
                              <m:r>
                                <a:rPr kumimoji="0" lang="ko-KR" altLang="ko-KR" sz="3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 ∑</m:t>
                              </m:r>
                              <m:sSub>
                                <m:sSubPr>
                                  <m:ctrlPr>
                                    <a:rPr kumimoji="0" lang="ko-KR" altLang="ko-KR" sz="3600" b="0" i="1" u="none" strike="noStrike" cap="none" normalizeH="0" baseline="0" dirty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sSubPr>
                                <m:e>
                                  <m:r>
                                    <a:rPr kumimoji="0" lang="ko-KR" altLang="ko-KR" sz="3600" b="0" i="1" u="none" strike="noStrike" cap="none" normalizeH="0" baseline="0" dirty="0" err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𝑆</m:t>
                                  </m:r>
                                </m:e>
                                <m:sub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kumimoji="0" lang="ko-KR" altLang="ko-KR" sz="3600" b="0" i="1" u="none" strike="noStrike" cap="none" normalizeH="0" baseline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Google Sans Tex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ko-KR" altLang="ko-KR" sz="3600" b="0" i="1" u="none" strike="noStrike" cap="none" normalizeH="0" baseline="0" dirty="0" err="1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Google Sans Text"/>
                                        </a:rPr>
                                        <m:t>𝑖𝑗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kumimoji="0" lang="ko-KR" altLang="ko-KR" sz="3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Google Sans Text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kumimoji="0" lang="ko-KR" altLang="ko-KR" sz="3600" b="0" i="1" u="none" strike="noStrike" cap="none" normalizeH="0" baseline="0" dirty="0" err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sSubPr>
                                <m:e>
                                  <m:r>
                                    <a:rPr kumimoji="0" lang="ko-KR" altLang="ko-KR" sz="3600" b="0" i="1" u="none" strike="noStrike" cap="none" normalizeH="0" baseline="0" dirty="0" err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kumimoji="0" lang="ko-KR" altLang="ko-KR" sz="3600" b="0" i="1" u="none" strike="noStrike" cap="none" normalizeH="0" baseline="0" dirty="0" err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𝑗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kumimoji="0" lang="ko-KR" altLang="ko-KR" sz="3600" b="0" i="1" u="none" strike="noStrike" cap="none" normalizeH="0" baseline="0" dirty="0" err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ko-KR" altLang="ko-KR" sz="3600" b="0" i="1" u="none" strike="noStrike" cap="none" normalizeH="0" baseline="0" dirty="0" err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kumimoji="0" lang="ko-KR" altLang="ko-KR" sz="3600" b="0" i="1" u="none" strike="noStrike" cap="none" normalizeH="0" baseline="0" dirty="0" err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𝑉</m:t>
                                  </m:r>
                                </m:sub>
                                <m:sup>
                                  <m:r>
                                    <a:rPr kumimoji="0" lang="ko-KR" altLang="ko-KR" sz="3600" b="0" i="1" u="none" strike="noStrike" cap="none" normalizeH="0" baseline="0" dirty="0" err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Google Sans Text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sSubSup>
                        <m:sSubSupPr>
                          <m:ctrlP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SupPr>
                        <m:e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𝑊</m:t>
                          </m:r>
                        </m:e>
                        <m:sub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𝑂</m:t>
                          </m:r>
                        </m:sub>
                        <m:sup>
                          <m:r>
                            <a:rPr kumimoji="0" lang="ko-KR" altLang="ko-KR" sz="3600" b="0" i="1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Google Sans Text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80836197-D723-8EC1-4D5E-85825043CB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5762453"/>
                <a:ext cx="11887200" cy="8753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0443FEB7-582E-14D8-8553-938B92708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032" y="5929871"/>
                <a:ext cx="890928" cy="7078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ko-KR" sz="400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</m:ctrlPr>
                        </m:sSubPr>
                        <m:e>
                          <m:r>
                            <a:rPr lang="en-US" altLang="ko-KR" sz="4000" b="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4000" b="0" i="1" dirty="0" smtClean="0">
                              <a:latin typeface="Cambria Math" panose="02040503050406030204" pitchFamily="18" charset="0"/>
                              <a:ea typeface="Google Sans Text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0443FEB7-582E-14D8-8553-938B927084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8032" y="5929871"/>
                <a:ext cx="890928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3438479-DD3A-1E4B-029E-017EBB853640}"/>
              </a:ext>
            </a:extLst>
          </p:cNvPr>
          <p:cNvCxnSpPr/>
          <p:nvPr/>
        </p:nvCxnSpPr>
        <p:spPr>
          <a:xfrm>
            <a:off x="3539773" y="6286500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3045878-5995-5D05-0EC9-17AE7037BFA8}"/>
              </a:ext>
            </a:extLst>
          </p:cNvPr>
          <p:cNvCxnSpPr>
            <a:cxnSpLocks/>
          </p:cNvCxnSpPr>
          <p:nvPr/>
        </p:nvCxnSpPr>
        <p:spPr>
          <a:xfrm>
            <a:off x="11963400" y="3771900"/>
            <a:ext cx="1414746" cy="1990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498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F5F5F-FB0E-4177-9BBC-196794391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F56B6F5-E265-DA13-56BB-8031A9C264DE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A0DF276-F683-1A66-129A-25CF7767E9ED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C8B0DD1-2FF0-B71A-ED69-78845991FFE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B4396C5-97ED-98FA-82B2-565B2C2DD859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6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Gating Mechanism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6C26C36-64F2-E1AF-3B47-DA60A0100D3B}"/>
              </a:ext>
            </a:extLst>
          </p:cNvPr>
          <p:cNvSpPr txBox="1"/>
          <p:nvPr/>
        </p:nvSpPr>
        <p:spPr>
          <a:xfrm>
            <a:off x="711959" y="851019"/>
            <a:ext cx="4047014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6589"/>
              </a:lnSpc>
              <a:spcBef>
                <a:spcPct val="0"/>
              </a:spcBef>
              <a:defRPr/>
            </a:pPr>
            <a:r>
              <a:rPr kumimoji="0" lang="en-US" sz="4000" b="0" i="0" u="none" strike="noStrike" kern="1200" cap="none" spc="-65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Attention Sink-Free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23035ED7-AB93-A9E7-5BB6-9B3079DBC191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8987E0A-4198-D847-017F-22454AE10CF6}"/>
              </a:ext>
            </a:extLst>
          </p:cNvPr>
          <p:cNvSpPr txBox="1"/>
          <p:nvPr/>
        </p:nvSpPr>
        <p:spPr>
          <a:xfrm>
            <a:off x="17259300" y="9533567"/>
            <a:ext cx="627766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7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윤고딕"/>
                <a:ea typeface="윤고딕"/>
                <a:cs typeface="윤고딕"/>
                <a:sym typeface="윤고딕"/>
              </a:rPr>
              <a:t>1</a:t>
            </a: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</a:t>
            </a:r>
            <a:endParaRPr kumimoji="0" lang="en-US" sz="3197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ED2BC00-EFFB-CBBF-6286-68E811BA8183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9" name="그림 8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93D6BB-0389-A16F-94C1-53F7383C1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286" y="2020970"/>
            <a:ext cx="14153424" cy="3360493"/>
          </a:xfrm>
          <a:prstGeom prst="rect">
            <a:avLst/>
          </a:prstGeom>
        </p:spPr>
      </p:pic>
      <p:pic>
        <p:nvPicPr>
          <p:cNvPr id="17" name="그림 16" descr="텍스트, 폰트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B87B0B-03EC-0E13-06CD-02AA41758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452" y="5781203"/>
            <a:ext cx="13163096" cy="30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6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086F-C944-A6B2-F230-BE2237F6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52172D-21CB-BF3D-245D-32B66FE692EA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5556D1-B903-6540-A029-CFDF75CE4CE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DC82141-C422-10B7-CFA4-C18A9E92EC5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30E32DD-1713-824F-9963-D512BAE4C880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Conclusion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2CB8557-1622-DA45-78F9-F305F01799A7}"/>
              </a:ext>
            </a:extLst>
          </p:cNvPr>
          <p:cNvSpPr txBox="1"/>
          <p:nvPr/>
        </p:nvSpPr>
        <p:spPr>
          <a:xfrm>
            <a:off x="31955" y="828675"/>
            <a:ext cx="5225845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Conclusion &amp; Limit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625DE26-72C6-C2D0-2ED6-E071C55A1151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CA6D97C-AB17-7416-DE88-9C04379F505B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1CAD55E-8F6E-D503-C2D0-020EE6BB6C75}"/>
              </a:ext>
            </a:extLst>
          </p:cNvPr>
          <p:cNvSpPr txBox="1"/>
          <p:nvPr/>
        </p:nvSpPr>
        <p:spPr>
          <a:xfrm>
            <a:off x="17068800" y="9533567"/>
            <a:ext cx="894466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23119F-AE5B-AAE0-C21C-2480AA600D7B}"/>
              </a:ext>
            </a:extLst>
          </p:cNvPr>
          <p:cNvSpPr txBox="1"/>
          <p:nvPr/>
        </p:nvSpPr>
        <p:spPr>
          <a:xfrm>
            <a:off x="1684770" y="6144580"/>
            <a:ext cx="15549949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5400" dirty="0">
                <a:solidFill>
                  <a:srgbClr val="FF0000"/>
                </a:solidFill>
              </a:rPr>
              <a:t>But</a:t>
            </a:r>
            <a:r>
              <a:rPr lang="en-US" altLang="ko-KR" sz="3600" dirty="0"/>
              <a:t> </a:t>
            </a:r>
          </a:p>
          <a:p>
            <a:pPr>
              <a:buNone/>
            </a:pPr>
            <a:r>
              <a:rPr lang="en-US" altLang="ko-KR" sz="3200" dirty="0"/>
              <a:t>We lack a rigorous mathematical or theoretical explanation for specifically by what mechanism attention sinks hinder the model's ability to generalize to long sequences.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E0D94-2637-5208-2480-3464335DB6F1}"/>
              </a:ext>
            </a:extLst>
          </p:cNvPr>
          <p:cNvSpPr txBox="1"/>
          <p:nvPr/>
        </p:nvSpPr>
        <p:spPr>
          <a:xfrm>
            <a:off x="1638194" y="2555357"/>
            <a:ext cx="1554994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This simple mechanism yields the following effects:</a:t>
            </a:r>
          </a:p>
          <a:p>
            <a:endParaRPr lang="en-US" altLang="ko-KR" sz="3200" dirty="0"/>
          </a:p>
          <a:p>
            <a:r>
              <a:rPr lang="en-US" altLang="ko-KR" sz="3200" dirty="0"/>
              <a:t>- Enhancing Non-linearity</a:t>
            </a:r>
          </a:p>
          <a:p>
            <a:r>
              <a:rPr lang="en-US" altLang="ko-KR" sz="3200" dirty="0"/>
              <a:t>- Introducing Input-dependent Sparsity</a:t>
            </a:r>
          </a:p>
          <a:p>
            <a:r>
              <a:rPr lang="en-US" altLang="ko-KR" sz="3200" dirty="0"/>
              <a:t>- Eliminating inefficiencies like the Attention Sink phenomenon</a:t>
            </a:r>
          </a:p>
        </p:txBody>
      </p:sp>
    </p:spTree>
    <p:extLst>
      <p:ext uri="{BB962C8B-B14F-4D97-AF65-F5344CB8AC3E}">
        <p14:creationId xmlns:p14="http://schemas.microsoft.com/office/powerpoint/2010/main" val="3957513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E2BF-4844-7EAA-F182-8754AD48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557FCC-4237-4E27-F1D8-252DC938E22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57FEFE-40A1-9DDB-8000-B09FF3C2FE6A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BDE6D3-9D9E-6012-39D6-513214B2CD4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77519F7-D9A9-A668-E49F-547A26734536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82CBE56-0540-CF03-0088-20287BD60F12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Model 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89CF8A5-38D7-14CD-0D57-7665ECD47EE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9A6C101-BC76-B972-77E6-EFDB50BDE553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A4F385CD-02FC-2B35-69F9-EE1ED35D97D3}"/>
              </a:ext>
            </a:extLst>
          </p:cNvPr>
          <p:cNvSpPr txBox="1"/>
          <p:nvPr/>
        </p:nvSpPr>
        <p:spPr>
          <a:xfrm>
            <a:off x="17068800" y="9533567"/>
            <a:ext cx="894466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15</a:t>
            </a:r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C435BA-0EB4-BDA7-B899-E0FDB41E8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70" y="4244595"/>
            <a:ext cx="8233379" cy="3931919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61A3928B-4EF3-4763-01F0-39357825A3FF}"/>
              </a:ext>
            </a:extLst>
          </p:cNvPr>
          <p:cNvSpPr txBox="1"/>
          <p:nvPr/>
        </p:nvSpPr>
        <p:spPr>
          <a:xfrm>
            <a:off x="3712859" y="3258852"/>
            <a:ext cx="2590800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589"/>
              </a:lnSpc>
              <a:spcBef>
                <a:spcPct val="0"/>
              </a:spcBef>
              <a:defRPr/>
            </a:pPr>
            <a:r>
              <a:rPr kumimoji="0" lang="en-US" sz="4000" b="0" i="0" u="none" strike="noStrike" kern="1200" cap="none" spc="-65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GPT-4o-mini</a:t>
            </a:r>
          </a:p>
        </p:txBody>
      </p:sp>
      <p:pic>
        <p:nvPicPr>
          <p:cNvPr id="15" name="그림 1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985EA1-2853-7265-E0B6-08C0BEB83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1" y="4240798"/>
            <a:ext cx="7871430" cy="3935715"/>
          </a:xfrm>
          <a:prstGeom prst="rect">
            <a:avLst/>
          </a:prstGeom>
        </p:spPr>
      </p:pic>
      <p:sp>
        <p:nvSpPr>
          <p:cNvPr id="16" name="TextBox 13">
            <a:extLst>
              <a:ext uri="{FF2B5EF4-FFF2-40B4-BE49-F238E27FC236}">
                <a16:creationId xmlns:a16="http://schemas.microsoft.com/office/drawing/2014/main" id="{CD7CB9B4-75F3-B619-8170-5E88CAFE4017}"/>
              </a:ext>
            </a:extLst>
          </p:cNvPr>
          <p:cNvSpPr txBox="1"/>
          <p:nvPr/>
        </p:nvSpPr>
        <p:spPr>
          <a:xfrm>
            <a:off x="12490247" y="3243562"/>
            <a:ext cx="1940937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589"/>
              </a:lnSpc>
              <a:spcBef>
                <a:spcPct val="0"/>
              </a:spcBef>
              <a:defRPr/>
            </a:pPr>
            <a:r>
              <a:rPr kumimoji="0" lang="en-US" sz="4000" b="0" i="0" u="none" strike="noStrike" kern="1200" cap="none" spc="-65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GPT-4o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C5210A-6E74-B3E3-2CB4-7B6CC893AD25}"/>
              </a:ext>
            </a:extLst>
          </p:cNvPr>
          <p:cNvSpPr txBox="1"/>
          <p:nvPr/>
        </p:nvSpPr>
        <p:spPr>
          <a:xfrm>
            <a:off x="831318" y="2064156"/>
            <a:ext cx="165353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latin typeface="+mj-lt"/>
              </a:rPr>
              <a:t>+ [</a:t>
            </a:r>
            <a:r>
              <a:rPr lang="ko-KR" altLang="en-US" sz="2800" dirty="0">
                <a:latin typeface="+mj-lt"/>
              </a:rPr>
              <a:t>'</a:t>
            </a:r>
            <a:r>
              <a:rPr lang="ko-KR" altLang="en-US" sz="2800" dirty="0" err="1">
                <a:latin typeface="+mj-lt"/>
              </a:rPr>
              <a:t>Gender</a:t>
            </a:r>
            <a:r>
              <a:rPr lang="ko-KR" altLang="en-US" sz="2800" dirty="0">
                <a:latin typeface="+mj-lt"/>
              </a:rPr>
              <a:t>', '</a:t>
            </a:r>
            <a:r>
              <a:rPr lang="ko-KR" altLang="en-US" sz="2800" dirty="0" err="1">
                <a:latin typeface="+mj-lt"/>
              </a:rPr>
              <a:t>Age</a:t>
            </a:r>
            <a:r>
              <a:rPr lang="ko-KR" altLang="en-US" sz="2800" dirty="0">
                <a:latin typeface="+mj-lt"/>
              </a:rPr>
              <a:t>', '</a:t>
            </a:r>
            <a:r>
              <a:rPr lang="ko-KR" altLang="en-US" sz="2800" dirty="0" err="1">
                <a:latin typeface="+mj-lt"/>
              </a:rPr>
              <a:t>Edu</a:t>
            </a:r>
            <a:r>
              <a:rPr lang="ko-KR" altLang="en-US" sz="2800" dirty="0">
                <a:latin typeface="+mj-lt"/>
              </a:rPr>
              <a:t>', '</a:t>
            </a:r>
            <a:r>
              <a:rPr lang="ko-KR" altLang="en-US" sz="2800" dirty="0" err="1">
                <a:latin typeface="+mj-lt"/>
              </a:rPr>
              <a:t>Literacy</a:t>
            </a:r>
            <a:r>
              <a:rPr lang="ko-KR" altLang="en-US" sz="2800" dirty="0">
                <a:latin typeface="+mj-lt"/>
              </a:rPr>
              <a:t> and </a:t>
            </a:r>
            <a:r>
              <a:rPr lang="ko-KR" altLang="en-US" sz="2800" dirty="0" err="1">
                <a:latin typeface="+mj-lt"/>
              </a:rPr>
              <a:t>Numeracy</a:t>
            </a:r>
            <a:r>
              <a:rPr lang="ko-KR" altLang="en-US" sz="2800" dirty="0">
                <a:latin typeface="+mj-lt"/>
              </a:rPr>
              <a:t>', 'Medical </a:t>
            </a:r>
            <a:r>
              <a:rPr lang="ko-KR" altLang="en-US" sz="2800" dirty="0" err="1">
                <a:latin typeface="+mj-lt"/>
              </a:rPr>
              <a:t>History</a:t>
            </a:r>
            <a:r>
              <a:rPr lang="ko-KR" altLang="en-US" sz="2800" dirty="0">
                <a:latin typeface="+mj-lt"/>
              </a:rPr>
              <a:t>', '</a:t>
            </a:r>
            <a:r>
              <a:rPr lang="ko-KR" altLang="en-US" sz="2800" dirty="0" err="1">
                <a:latin typeface="+mj-lt"/>
              </a:rPr>
              <a:t>Medications</a:t>
            </a:r>
            <a:r>
              <a:rPr lang="ko-KR" altLang="en-US" sz="2800" dirty="0">
                <a:latin typeface="+mj-lt"/>
              </a:rPr>
              <a:t>’,</a:t>
            </a:r>
            <a:r>
              <a:rPr lang="en-US" altLang="ko-KR" sz="2800" dirty="0">
                <a:latin typeface="+mj-lt"/>
              </a:rPr>
              <a:t> Main Complaints,</a:t>
            </a:r>
            <a:r>
              <a:rPr lang="ko-KR" altLang="en-US" sz="2800" dirty="0">
                <a:latin typeface="+mj-lt"/>
              </a:rPr>
              <a:t> '</a:t>
            </a:r>
            <a:r>
              <a:rPr lang="ko-KR" altLang="en-US" sz="2800" dirty="0" err="1">
                <a:latin typeface="+mj-lt"/>
              </a:rPr>
              <a:t>Memory</a:t>
            </a:r>
            <a:r>
              <a:rPr lang="ko-KR" altLang="en-US" sz="2800" dirty="0">
                <a:latin typeface="+mj-lt"/>
              </a:rPr>
              <a:t>', '</a:t>
            </a:r>
            <a:r>
              <a:rPr lang="ko-KR" altLang="en-US" sz="2800" dirty="0" err="1">
                <a:latin typeface="+mj-lt"/>
              </a:rPr>
              <a:t>Language</a:t>
            </a:r>
            <a:r>
              <a:rPr lang="ko-KR" altLang="en-US" sz="2800" dirty="0">
                <a:latin typeface="+mj-lt"/>
              </a:rPr>
              <a:t>’,</a:t>
            </a:r>
            <a:r>
              <a:rPr lang="en-US" altLang="ko-KR" sz="2800" dirty="0">
                <a:latin typeface="+mj-lt"/>
              </a:rPr>
              <a:t> ‘Orientation’ ,</a:t>
            </a:r>
            <a:r>
              <a:rPr lang="ko-KR" altLang="en-US" sz="2800" dirty="0">
                <a:latin typeface="+mj-lt"/>
              </a:rPr>
              <a:t> '</a:t>
            </a:r>
            <a:r>
              <a:rPr lang="ko-KR" altLang="en-US" sz="2800" dirty="0" err="1">
                <a:latin typeface="+mj-lt"/>
              </a:rPr>
              <a:t>Judgment</a:t>
            </a:r>
            <a:r>
              <a:rPr lang="ko-KR" altLang="en-US" sz="2800" dirty="0">
                <a:latin typeface="+mj-lt"/>
              </a:rPr>
              <a:t> and </a:t>
            </a:r>
            <a:r>
              <a:rPr lang="ko-KR" altLang="en-US" sz="2800" dirty="0" err="1">
                <a:latin typeface="+mj-lt"/>
              </a:rPr>
              <a:t>Problem</a:t>
            </a:r>
            <a:r>
              <a:rPr lang="ko-KR" altLang="en-US" sz="2800" dirty="0">
                <a:latin typeface="+mj-lt"/>
              </a:rPr>
              <a:t> </a:t>
            </a:r>
            <a:r>
              <a:rPr lang="ko-KR" altLang="en-US" sz="2800" dirty="0" err="1">
                <a:latin typeface="+mj-lt"/>
              </a:rPr>
              <a:t>Solving</a:t>
            </a:r>
            <a:r>
              <a:rPr lang="ko-KR" altLang="en-US" sz="2800" dirty="0">
                <a:latin typeface="+mj-lt"/>
              </a:rPr>
              <a:t>', '</a:t>
            </a:r>
            <a:r>
              <a:rPr lang="ko-KR" altLang="en-US" sz="2800" dirty="0" err="1">
                <a:latin typeface="+mj-lt"/>
              </a:rPr>
              <a:t>Social</a:t>
            </a:r>
            <a:r>
              <a:rPr lang="ko-KR" altLang="en-US" sz="2800" dirty="0">
                <a:latin typeface="+mj-lt"/>
              </a:rPr>
              <a:t> </a:t>
            </a:r>
            <a:r>
              <a:rPr lang="ko-KR" altLang="en-US" sz="2800" dirty="0" err="1">
                <a:latin typeface="+mj-lt"/>
              </a:rPr>
              <a:t>Activities</a:t>
            </a:r>
            <a:r>
              <a:rPr lang="ko-KR" altLang="en-US" sz="2800" dirty="0">
                <a:latin typeface="+mj-lt"/>
              </a:rPr>
              <a:t>', 'Home and </a:t>
            </a:r>
            <a:r>
              <a:rPr lang="ko-KR" altLang="en-US" sz="2800" dirty="0" err="1">
                <a:latin typeface="+mj-lt"/>
              </a:rPr>
              <a:t>Hobbies</a:t>
            </a:r>
            <a:r>
              <a:rPr lang="ko-KR" altLang="en-US" sz="2800" dirty="0">
                <a:latin typeface="+mj-lt"/>
              </a:rPr>
              <a:t>', '</a:t>
            </a:r>
            <a:r>
              <a:rPr lang="ko-KR" altLang="en-US" sz="2800" dirty="0" err="1">
                <a:latin typeface="+mj-lt"/>
              </a:rPr>
              <a:t>Daily</a:t>
            </a:r>
            <a:r>
              <a:rPr lang="ko-KR" altLang="en-US" sz="2800" dirty="0">
                <a:latin typeface="+mj-lt"/>
              </a:rPr>
              <a:t> </a:t>
            </a:r>
            <a:r>
              <a:rPr lang="ko-KR" altLang="en-US" sz="2800" dirty="0" err="1">
                <a:latin typeface="+mj-lt"/>
              </a:rPr>
              <a:t>Living</a:t>
            </a:r>
            <a:r>
              <a:rPr lang="ko-KR" altLang="en-US" sz="2800" dirty="0">
                <a:latin typeface="+mj-lt"/>
              </a:rPr>
              <a:t>', '</a:t>
            </a:r>
            <a:r>
              <a:rPr lang="ko-KR" altLang="en-US" sz="2800" dirty="0" err="1">
                <a:latin typeface="+mj-lt"/>
              </a:rPr>
              <a:t>Personality</a:t>
            </a:r>
            <a:r>
              <a:rPr lang="ko-KR" altLang="en-US" sz="2800" dirty="0">
                <a:latin typeface="+mj-lt"/>
              </a:rPr>
              <a:t> and </a:t>
            </a:r>
            <a:r>
              <a:rPr lang="ko-KR" altLang="en-US" sz="2800" dirty="0" err="1">
                <a:latin typeface="+mj-lt"/>
              </a:rPr>
              <a:t>Behavior</a:t>
            </a:r>
            <a:r>
              <a:rPr lang="ko-KR" altLang="en-US" sz="2800" dirty="0">
                <a:latin typeface="+mj-lt"/>
              </a:rPr>
              <a:t>’</a:t>
            </a:r>
            <a:r>
              <a:rPr lang="en-US" altLang="ko-KR" sz="2800" dirty="0">
                <a:latin typeface="+mj-lt"/>
              </a:rPr>
              <a:t>,’MMSE’,’GDS’,’SBT’]</a:t>
            </a:r>
            <a:endParaRPr lang="ko-KR" alt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3837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F9F61-7F83-945C-F424-D3CC090B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D1CF41-A51A-5CDA-1869-1CD8E9EF7978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DE0C65-89EC-F66D-1171-9C7F71BDE8E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84ECA5-02D3-7F98-2226-3AFCBD54D1C6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AAFAFE5-F599-397A-DDDE-5FF1391F1551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5C1AFB2-D3B5-D126-14E8-2186A253B345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Feature 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B06054A-6F66-1ADA-1A53-8422AE50AA20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AB50A2D-703F-4940-61AA-AF9213CE9107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0E3B76F1-F120-58F9-CE09-A76A071DACDA}"/>
              </a:ext>
            </a:extLst>
          </p:cNvPr>
          <p:cNvSpPr txBox="1"/>
          <p:nvPr/>
        </p:nvSpPr>
        <p:spPr>
          <a:xfrm>
            <a:off x="17068800" y="9533567"/>
            <a:ext cx="894466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16</a:t>
            </a:r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7122CB-A32B-3CC3-3EA2-9D9404EA9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18" y="3755994"/>
            <a:ext cx="8427720" cy="4137522"/>
          </a:xfrm>
          <a:prstGeom prst="rect">
            <a:avLst/>
          </a:prstGeom>
        </p:spPr>
      </p:pic>
      <p:sp>
        <p:nvSpPr>
          <p:cNvPr id="17" name="TextBox 6">
            <a:extLst>
              <a:ext uri="{FF2B5EF4-FFF2-40B4-BE49-F238E27FC236}">
                <a16:creationId xmlns:a16="http://schemas.microsoft.com/office/drawing/2014/main" id="{3625BB01-DCBE-F408-C01F-A044C3AE086F}"/>
              </a:ext>
            </a:extLst>
          </p:cNvPr>
          <p:cNvSpPr txBox="1"/>
          <p:nvPr/>
        </p:nvSpPr>
        <p:spPr>
          <a:xfrm>
            <a:off x="10820400" y="3200416"/>
            <a:ext cx="6124794" cy="5026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NC -&gt; MCI : 109</a:t>
            </a: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706" spc="-65" dirty="0">
                <a:solidFill>
                  <a:srgbClr val="191919"/>
                </a:solidFill>
                <a:ea typeface="윤고딕"/>
                <a:cs typeface="윤고딕"/>
                <a:sym typeface="윤고딕"/>
              </a:rPr>
              <a:t>NC-&gt; AD : 5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MCI -&gt; AD : 44</a:t>
            </a: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706" spc="-65" dirty="0">
                <a:solidFill>
                  <a:srgbClr val="191919"/>
                </a:solidFill>
                <a:ea typeface="윤고딕"/>
                <a:cs typeface="윤고딕"/>
                <a:sym typeface="윤고딕"/>
              </a:rPr>
              <a:t>MCI-&gt; NC : 3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AD -&gt; MCI : 33</a:t>
            </a: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AD -&gt; NC : 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309969-E773-D826-F1A2-A0D8BB8D7226}"/>
              </a:ext>
            </a:extLst>
          </p:cNvPr>
          <p:cNvSpPr txBox="1"/>
          <p:nvPr/>
        </p:nvSpPr>
        <p:spPr>
          <a:xfrm>
            <a:off x="2900912" y="2954820"/>
            <a:ext cx="4288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/>
              <a:t>- [MMSE, GDS, SBT]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919035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C49EA-9194-B475-EDDD-F3458830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B76818-29C9-3750-1206-94361B6442F3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1F4AEB3-A83E-2E8C-6FEC-C0878E730967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9F9087E-09BE-60E4-8640-DF954397C3FE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38AC063-DE9E-F980-F1AF-C52AF52C261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C8C21D9-3CF2-9B03-E212-39A6A7B7DAD9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Feature 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FF7AF98-D495-7DAA-34EA-72C092B08040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9E95199-9740-BC0E-18EE-29632819F82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F123F918-64DA-626E-3697-C5B3B2984EFF}"/>
              </a:ext>
            </a:extLst>
          </p:cNvPr>
          <p:cNvSpPr txBox="1"/>
          <p:nvPr/>
        </p:nvSpPr>
        <p:spPr>
          <a:xfrm>
            <a:off x="17068800" y="9533567"/>
            <a:ext cx="894466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17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67A627B6-5AD3-9708-E14C-7E7592DC5653}"/>
              </a:ext>
            </a:extLst>
          </p:cNvPr>
          <p:cNvSpPr txBox="1"/>
          <p:nvPr/>
        </p:nvSpPr>
        <p:spPr>
          <a:xfrm>
            <a:off x="10820400" y="3200416"/>
            <a:ext cx="6124794" cy="5026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NC -&gt; MCI : 86</a:t>
            </a: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706" spc="-65" dirty="0">
                <a:solidFill>
                  <a:srgbClr val="191919"/>
                </a:solidFill>
                <a:ea typeface="윤고딕"/>
                <a:cs typeface="윤고딕"/>
                <a:sym typeface="윤고딕"/>
              </a:rPr>
              <a:t>NC-&gt; AD : 3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MCI -&gt; AD : 30</a:t>
            </a: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706" spc="-65" dirty="0">
                <a:solidFill>
                  <a:srgbClr val="191919"/>
                </a:solidFill>
                <a:ea typeface="윤고딕"/>
                <a:cs typeface="윤고딕"/>
                <a:sym typeface="윤고딕"/>
              </a:rPr>
              <a:t>MCI-&gt; NC : 11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AD -&gt; MCI : 41</a:t>
            </a: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AD -&gt; NC : 1</a:t>
            </a:r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51B18D-A646-0DB5-3422-31EE2081F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18" y="3704728"/>
            <a:ext cx="8578644" cy="41716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8AC3DF7-C7D4-2B72-CE79-F65B245C431E}"/>
              </a:ext>
            </a:extLst>
          </p:cNvPr>
          <p:cNvSpPr txBox="1"/>
          <p:nvPr/>
        </p:nvSpPr>
        <p:spPr>
          <a:xfrm>
            <a:off x="1330516" y="2847465"/>
            <a:ext cx="8259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/>
              <a:t>- [MMSE, GDS, SBT,</a:t>
            </a:r>
            <a:r>
              <a:rPr lang="en-US" altLang="ko-KR" dirty="0"/>
              <a:t>  </a:t>
            </a:r>
            <a:r>
              <a:rPr lang="en-US" altLang="ko-KR" sz="3200" dirty="0"/>
              <a:t>+ </a:t>
            </a:r>
            <a:r>
              <a:rPr lang="en-US" altLang="ko-KR" sz="3600" dirty="0"/>
              <a:t>Main Complaints]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439074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7B5B-3594-1759-1598-45B5608D9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3B26EA1-00C2-25F0-6673-55F04B14C4D0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F91EFF4-3B9A-2471-C060-96FB092CE5C7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E4C2F9B-C791-E790-51F9-68FB97794342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2B8A664-3365-9FA1-8440-EDAD73D6049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C3FACE-CB23-070B-B9BA-0563D9D92891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Feature 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19033F2-F84F-2980-F4FC-A875DE65C74C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8AE44AB-63C8-998C-8291-075360ED45DB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7EFAA75-F976-8BE7-B92D-51AB3AE0D00C}"/>
              </a:ext>
            </a:extLst>
          </p:cNvPr>
          <p:cNvSpPr txBox="1"/>
          <p:nvPr/>
        </p:nvSpPr>
        <p:spPr>
          <a:xfrm>
            <a:off x="17068800" y="9533567"/>
            <a:ext cx="894466" cy="5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18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27F590B5-C819-F6E8-CF8B-98DB11729DEF}"/>
              </a:ext>
            </a:extLst>
          </p:cNvPr>
          <p:cNvSpPr txBox="1"/>
          <p:nvPr/>
        </p:nvSpPr>
        <p:spPr>
          <a:xfrm>
            <a:off x="10820400" y="3200416"/>
            <a:ext cx="6124794" cy="5026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NC -&gt; MCI : 85</a:t>
            </a: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706" spc="-65" dirty="0">
                <a:solidFill>
                  <a:srgbClr val="191919"/>
                </a:solidFill>
                <a:ea typeface="윤고딕"/>
                <a:cs typeface="윤고딕"/>
                <a:sym typeface="윤고딕"/>
              </a:rPr>
              <a:t>NC-&gt; AD : 2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MCI -&gt; AD : 30</a:t>
            </a: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706" spc="-65" dirty="0">
                <a:solidFill>
                  <a:srgbClr val="191919"/>
                </a:solidFill>
                <a:ea typeface="윤고딕"/>
                <a:cs typeface="윤고딕"/>
                <a:sym typeface="윤고딕"/>
              </a:rPr>
              <a:t>MCI-&gt; NC : 9</a:t>
            </a:r>
            <a:endParaRPr lang="en-US" sz="4706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AD -&gt; MCI : 44</a:t>
            </a:r>
          </a:p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AD -&gt; NC 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17BB2A-9806-EF65-A100-CE130742CE10}"/>
              </a:ext>
            </a:extLst>
          </p:cNvPr>
          <p:cNvSpPr txBox="1"/>
          <p:nvPr/>
        </p:nvSpPr>
        <p:spPr>
          <a:xfrm>
            <a:off x="1342806" y="1972161"/>
            <a:ext cx="87120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/>
              <a:t>+ [Memory, Language, Judgment and Problem Solving, Social Activities, Home and Hobbies, Personality and Behavior]</a:t>
            </a:r>
            <a:endParaRPr lang="ko-KR" altLang="en-US" sz="3600" dirty="0"/>
          </a:p>
        </p:txBody>
      </p:sp>
      <p:pic>
        <p:nvPicPr>
          <p:cNvPr id="14" name="그림 1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44AE9-AECB-3860-0BA1-1161285C3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60" y="3861879"/>
            <a:ext cx="8712027" cy="422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7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15469</TotalTime>
  <Words>601</Words>
  <Application>Microsoft Office PowerPoint</Application>
  <PresentationFormat>사용자 지정</PresentationFormat>
  <Paragraphs>136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Garet Light</vt:lpstr>
      <vt:lpstr>Glacial Indifference</vt:lpstr>
      <vt:lpstr>Google Sans Text</vt:lpstr>
      <vt:lpstr>맑은 고딕</vt:lpstr>
      <vt:lpstr>윤고딕</vt:lpstr>
      <vt:lpstr>Arial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dc:creator>윤성</dc:creator>
  <cp:lastModifiedBy>변윤성</cp:lastModifiedBy>
  <cp:revision>199</cp:revision>
  <cp:lastPrinted>2026-01-09T02:51:16Z</cp:lastPrinted>
  <dcterms:created xsi:type="dcterms:W3CDTF">2006-08-16T00:00:00Z</dcterms:created>
  <dcterms:modified xsi:type="dcterms:W3CDTF">2026-01-09T03:54:01Z</dcterms:modified>
  <dc:identifier>DAGyMBKKpxw</dc:identifier>
</cp:coreProperties>
</file>