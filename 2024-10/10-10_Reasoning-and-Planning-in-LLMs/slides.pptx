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94" r:id="rId4"/>
    <p:sldId id="260" r:id="rId5"/>
    <p:sldId id="280" r:id="rId6"/>
    <p:sldId id="275" r:id="rId7"/>
    <p:sldId id="276" r:id="rId8"/>
    <p:sldId id="274" r:id="rId9"/>
    <p:sldId id="293" r:id="rId10"/>
    <p:sldId id="281" r:id="rId11"/>
    <p:sldId id="282" r:id="rId12"/>
    <p:sldId id="295" r:id="rId13"/>
    <p:sldId id="296" r:id="rId14"/>
    <p:sldId id="298" r:id="rId15"/>
    <p:sldId id="304" r:id="rId16"/>
    <p:sldId id="301" r:id="rId17"/>
    <p:sldId id="303" r:id="rId18"/>
    <p:sldId id="305" r:id="rId19"/>
    <p:sldId id="302" r:id="rId20"/>
    <p:sldId id="299" r:id="rId21"/>
  </p:sldIdLst>
  <p:sldSz cx="18288000" cy="10287000"/>
  <p:notesSz cx="6858000" cy="9144000"/>
  <p:embeddedFontLst>
    <p:embeddedFont>
      <p:font typeface="윤고딕" panose="020B0600000101010101" charset="-127"/>
      <p:regular r:id="rId23"/>
    </p:embeddedFont>
    <p:embeddedFont>
      <p:font typeface="윤고딕 Light" panose="020B0600000101010101" charset="-127"/>
      <p:regular r:id="rId24"/>
    </p:embeddedFont>
    <p:embeddedFont>
      <p:font typeface="Garet Light" panose="020B0600000101010101" charset="0"/>
      <p:regular r:id="rId25"/>
    </p:embeddedFont>
    <p:embeddedFont>
      <p:font typeface="Glacial Indifference" panose="020B0600000101010101" charset="0"/>
      <p:regular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3B795-2DD5-41AD-8751-5C4089DF444F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B8363-F2E3-4439-A7E6-14F7E1DF9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4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D2B1C-BF43-4DE7-ABE0-B047D62A78C0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6A5C2-0AC0-4C27-B972-27F3E6623A31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3253-B364-4353-8945-5F93EC62AEA8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D38A-FBC9-4474-860E-0943576FB2A9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005-A359-4551-8385-DF962D05B961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7605-D5BC-4F76-AD54-FBE4D0EF73CC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34F-D1A4-4FC3-B616-E1519CFBDFE8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06EF1-72F3-46B4-913E-2E8BF85C7B09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54CDE-32A1-474B-A1A7-B2AE31A053DC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E487-4CBF-4938-A927-D22297E05349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8D2E-2F69-417D-9B17-4140C005495E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90963-C5EF-42F4-8651-C8B07638FE5F}" type="datetime1">
              <a:rPr lang="en-US" altLang="ko-KR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5808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781050"/>
            <a:ext cx="164242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5603" y="2932871"/>
            <a:ext cx="16296792" cy="1305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altLang="ko-KR" sz="4800" dirty="0"/>
              <a:t>On the Empirical Complexity of Reasoning and Planning in LLMs</a:t>
            </a:r>
            <a:endParaRPr lang="en-US" sz="4800" spc="-103" dirty="0">
              <a:solidFill>
                <a:srgbClr val="191919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" y="957397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2025.10.12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11114" y="9533567"/>
            <a:ext cx="2975952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YunSung</a:t>
            </a: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Byun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C8435-A8BC-D4AF-C15C-41A7B0E886D6}"/>
              </a:ext>
            </a:extLst>
          </p:cNvPr>
          <p:cNvSpPr txBox="1"/>
          <p:nvPr/>
        </p:nvSpPr>
        <p:spPr>
          <a:xfrm>
            <a:off x="8163336" y="5642136"/>
            <a:ext cx="1961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/>
              <a:t>ACL</a:t>
            </a:r>
            <a:r>
              <a:rPr lang="ko-KR" altLang="en-US" sz="3600" dirty="0"/>
              <a:t> </a:t>
            </a:r>
            <a:r>
              <a:rPr lang="en-US" altLang="ko-KR" sz="3600" dirty="0"/>
              <a:t>2024</a:t>
            </a:r>
            <a:endParaRPr lang="ko-KR" alt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82EAE-59C8-E631-E9C8-1A80B7ECA36A}"/>
              </a:ext>
            </a:extLst>
          </p:cNvPr>
          <p:cNvSpPr txBox="1"/>
          <p:nvPr/>
        </p:nvSpPr>
        <p:spPr>
          <a:xfrm>
            <a:off x="5579238" y="6793340"/>
            <a:ext cx="7399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latin typeface="+mj-lt"/>
              </a:rPr>
              <a:t>Liwei Kang, Zirui Zhao, David Hsu, Wee Sun Lee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52241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533948" y="1436071"/>
            <a:ext cx="391815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Introduction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33948" y="3210453"/>
            <a:ext cx="6734252" cy="719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Case Studies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533948" y="5018287"/>
            <a:ext cx="11001452" cy="72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29032" y="6747364"/>
            <a:ext cx="8034568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87931" y="973333"/>
            <a:ext cx="1268309" cy="1643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58433" y="265180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2.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87930" y="4384387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87930" y="619890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4.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31319" y="934598"/>
            <a:ext cx="247890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Contents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38BBEA-6728-FD9C-F1A3-C415764866D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F137AD9-D6D0-99F5-1B3C-2D1FEAC8E95E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8B0B-3149-3CB0-3987-E3EE36AA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3DAE4F-F662-CD7F-861B-9A414D81B3CB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8F678A2-E548-DDBC-7A07-66A46CF4D8B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E3DF4EB-E9BA-B395-B897-E4144BDBEFD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5302F38-A398-EFD4-EBCC-5E82DAB90D39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D21C959-D5D0-69F2-F255-2756738C6530}"/>
              </a:ext>
            </a:extLst>
          </p:cNvPr>
          <p:cNvSpPr txBox="1"/>
          <p:nvPr/>
        </p:nvSpPr>
        <p:spPr>
          <a:xfrm>
            <a:off x="711957" y="851019"/>
            <a:ext cx="4197897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Sample Complexity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2549273-0196-450B-A075-89B6CED32AF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32B6B1A-AD82-05D4-28A9-40FD0B80B6C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7D1D242-26C8-3629-9499-E282820A62E5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C47E2712-0126-0BE4-B2D5-F420D69219F4}"/>
              </a:ext>
            </a:extLst>
          </p:cNvPr>
          <p:cNvSpPr txBox="1"/>
          <p:nvPr/>
        </p:nvSpPr>
        <p:spPr>
          <a:xfrm>
            <a:off x="1772534" y="7408942"/>
            <a:ext cx="11774668" cy="2703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600" dirty="0"/>
              <a:t>As model complexity increases, the training error decreases</a:t>
            </a:r>
            <a:br>
              <a:rPr lang="en-US" altLang="ko-KR" sz="3600" dirty="0"/>
            </a:br>
            <a:r>
              <a:rPr lang="en-US" altLang="ko-KR" sz="3600" dirty="0"/>
              <a:t>but the generalization error follows a U-shaped curve.</a:t>
            </a:r>
          </a:p>
          <a:p>
            <a:r>
              <a:rPr lang="en-US" altLang="ko-KR" sz="3600" dirty="0"/>
              <a:t>When the model is too simple, it underfits the data,</a:t>
            </a:r>
            <a:br>
              <a:rPr lang="en-US" altLang="ko-KR" sz="3600" dirty="0"/>
            </a:br>
            <a:r>
              <a:rPr lang="en-US" altLang="ko-KR" sz="3600" dirty="0"/>
              <a:t>when it is too complex it overfits.</a:t>
            </a:r>
          </a:p>
          <a:p>
            <a:pPr>
              <a:lnSpc>
                <a:spcPts val="3779"/>
              </a:lnSpc>
              <a:spcBef>
                <a:spcPct val="0"/>
              </a:spcBef>
            </a:pPr>
            <a:endParaRPr lang="en-US" sz="36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1038498-CBE3-9D60-5A81-47F575F4A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220" y="1732462"/>
            <a:ext cx="5745556" cy="524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15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1957" y="851019"/>
            <a:ext cx="4197897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Chain-of-Thought ?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5739373-734D-903B-954C-41E5517D8A6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3031ECA-815C-C507-F09D-26C76B1ABD71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81FC1163-D37E-A1A2-C453-FA44DE6A9FB7}"/>
              </a:ext>
            </a:extLst>
          </p:cNvPr>
          <p:cNvSpPr txBox="1"/>
          <p:nvPr/>
        </p:nvSpPr>
        <p:spPr>
          <a:xfrm>
            <a:off x="2590800" y="7886700"/>
            <a:ext cx="143256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altLang="ko-KR" sz="3600" b="1" dirty="0" err="1"/>
              <a:t>CoT</a:t>
            </a:r>
            <a:r>
              <a:rPr lang="en-US" altLang="ko-KR" sz="3600" dirty="0"/>
              <a:t> is a prompting technique that guides a LLM to generate intermediate reasoning steps before providing a final answer to a complex problem.</a:t>
            </a:r>
            <a:endParaRPr lang="en-US" sz="36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03E2463-9051-7997-9154-ECC7715E1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88526"/>
            <a:ext cx="10744200" cy="53591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8339-DD52-6019-A308-573FD48C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709200-F389-0612-A40B-2C966DCBB4D1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A1AE1B-2285-98BA-7A6A-9C35A29B801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32C1DF-CD73-0D2B-40AE-C4AA1FF92D1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B3C8B9E-819E-4C29-1597-6C481BA91C46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FB84DFB-4588-9985-B205-2BB31199450F}"/>
              </a:ext>
            </a:extLst>
          </p:cNvPr>
          <p:cNvSpPr txBox="1"/>
          <p:nvPr/>
        </p:nvSpPr>
        <p:spPr>
          <a:xfrm>
            <a:off x="711958" y="851019"/>
            <a:ext cx="355524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Tree-of-Thought?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65736D3-EF99-D17E-4549-2127A103A39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7F44569-A3EB-1C4D-D891-B3DEA9B4451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D610979F-A38D-CE52-C160-B5F9E5682491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5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31EFA62B-2BED-40F5-F95A-23E589909F98}"/>
              </a:ext>
            </a:extLst>
          </p:cNvPr>
          <p:cNvSpPr txBox="1"/>
          <p:nvPr/>
        </p:nvSpPr>
        <p:spPr>
          <a:xfrm>
            <a:off x="1587687" y="7982868"/>
            <a:ext cx="15112621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altLang="ko-KR" sz="3600" b="1" dirty="0" err="1"/>
              <a:t>ToT</a:t>
            </a:r>
            <a:r>
              <a:rPr lang="en-US" altLang="ko-KR" sz="3600" dirty="0"/>
              <a:t> finds the optimal solution by exploring multiple reasoning paths simultaneously, rather than a single one, and evaluating the validity of each path.</a:t>
            </a:r>
            <a:endParaRPr lang="en-US" sz="36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216F2AC-4F7F-6B0D-E6CD-46524FA34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389" y="1945998"/>
            <a:ext cx="11360201" cy="571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30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7729-5671-95A4-1473-B080D566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B70018-95F4-E626-0C25-F1A0CA48EFA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CDEE6D-9C7C-0E15-CCC3-BDF2AAA46E0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E81A01-6BB3-9E3D-2CA4-249926E9E2A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A6DA00C-69FE-04F2-5831-888E61B8951C}"/>
              </a:ext>
            </a:extLst>
          </p:cNvPr>
          <p:cNvSpPr txBox="1"/>
          <p:nvPr/>
        </p:nvSpPr>
        <p:spPr>
          <a:xfrm>
            <a:off x="24581" y="768434"/>
            <a:ext cx="4162214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600" dirty="0"/>
              <a:t>Contribution</a:t>
            </a:r>
            <a:endParaRPr lang="en-US" sz="36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127906-69D5-1802-1C81-A819859EDCA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971494-FBB9-5FB5-3030-AE6998B09C7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33044-3171-89C2-56FA-555C17A268AF}"/>
              </a:ext>
            </a:extLst>
          </p:cNvPr>
          <p:cNvSpPr txBox="1"/>
          <p:nvPr/>
        </p:nvSpPr>
        <p:spPr>
          <a:xfrm>
            <a:off x="1447800" y="2991057"/>
            <a:ext cx="16459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US" altLang="ko-KR" sz="3600" dirty="0"/>
              <a:t>Explaining the effect of problem decomposition through sample complexity.</a:t>
            </a:r>
          </a:p>
          <a:p>
            <a:endParaRPr lang="en-US" altLang="ko-KR" sz="3600" dirty="0"/>
          </a:p>
          <a:p>
            <a:r>
              <a:rPr lang="en-US" altLang="ko-KR" sz="3600" dirty="0"/>
              <a:t>2.    Demonstrating the importance of explicitness in the reasoning process.</a:t>
            </a:r>
          </a:p>
          <a:p>
            <a:endParaRPr lang="en-US" altLang="ko-KR" sz="3600" dirty="0"/>
          </a:p>
          <a:p>
            <a:pPr marL="742950" indent="-742950">
              <a:buAutoNum type="arabicPeriod" startAt="3"/>
            </a:pPr>
            <a:r>
              <a:rPr lang="en-US" altLang="ko-KR" sz="3600" dirty="0"/>
              <a:t>Providing clear criteria for choosing between </a:t>
            </a:r>
            <a:r>
              <a:rPr lang="en-US" altLang="ko-KR" sz="3600" dirty="0" err="1"/>
              <a:t>CoT</a:t>
            </a:r>
            <a:r>
              <a:rPr lang="en-US" altLang="ko-KR" sz="3600" dirty="0"/>
              <a:t> and </a:t>
            </a:r>
            <a:r>
              <a:rPr lang="en-US" altLang="ko-KR" sz="3600" dirty="0" err="1"/>
              <a:t>ToT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en-US" altLang="ko-KR" sz="3600" dirty="0"/>
              <a:t>- </a:t>
            </a:r>
            <a:r>
              <a:rPr lang="en-US" altLang="ko-KR" sz="3600" dirty="0" err="1"/>
              <a:t>CoT</a:t>
            </a:r>
            <a:r>
              <a:rPr lang="en-US" altLang="ko-KR" sz="3600" dirty="0"/>
              <a:t> </a:t>
            </a:r>
            <a:r>
              <a:rPr lang="en-US" altLang="ko-KR" sz="3600" b="1" dirty="0"/>
              <a:t>:</a:t>
            </a:r>
            <a:r>
              <a:rPr lang="en-US" altLang="ko-KR" sz="3600" dirty="0"/>
              <a:t> When predicting the next step of a problem is computationally easy.</a:t>
            </a:r>
          </a:p>
          <a:p>
            <a:r>
              <a:rPr lang="en-US" altLang="ko-KR" sz="3600" dirty="0"/>
              <a:t>- </a:t>
            </a:r>
            <a:r>
              <a:rPr lang="en-US" altLang="ko-KR" sz="3600" dirty="0" err="1"/>
              <a:t>ToT</a:t>
            </a:r>
            <a:r>
              <a:rPr lang="en-US" altLang="ko-KR" sz="3600" dirty="0"/>
              <a:t> </a:t>
            </a:r>
            <a:r>
              <a:rPr lang="en-US" altLang="ko-KR" sz="3600" b="1" dirty="0"/>
              <a:t>:</a:t>
            </a:r>
            <a:r>
              <a:rPr lang="en-US" altLang="ko-KR" sz="3600" dirty="0"/>
              <a:t> When predicting the next step is computationally hard and requires exploring multiple possibilities.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49774ED-6768-6553-5188-A365B4C0D89F}"/>
              </a:ext>
            </a:extLst>
          </p:cNvPr>
          <p:cNvSpPr txBox="1"/>
          <p:nvPr/>
        </p:nvSpPr>
        <p:spPr>
          <a:xfrm>
            <a:off x="17259300" y="9533567"/>
            <a:ext cx="6477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6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44C1852-68A5-2DE8-94CB-77459EE30E0D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5374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B365C-3454-F53F-4239-824DB709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FCE120-A5CE-FB72-4D49-C34B74134E83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E4BBFE-8E6E-D6E5-6896-8C19BE39EF6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D25CA93-45C8-5171-6334-808C35655D4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F462F81-1EE5-2612-5F0B-3D997F968059}"/>
              </a:ext>
            </a:extLst>
          </p:cNvPr>
          <p:cNvSpPr txBox="1"/>
          <p:nvPr/>
        </p:nvSpPr>
        <p:spPr>
          <a:xfrm>
            <a:off x="533399" y="828675"/>
            <a:ext cx="3276389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Why?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835A241-15CC-7E26-6665-12D88F643CA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4E2E105-E3AB-B43F-A914-6588E5640F6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FB19E-ABCA-B8C1-E2D7-524FEAC50448}"/>
              </a:ext>
            </a:extLst>
          </p:cNvPr>
          <p:cNvSpPr txBox="1"/>
          <p:nvPr/>
        </p:nvSpPr>
        <p:spPr>
          <a:xfrm>
            <a:off x="1948786" y="7734300"/>
            <a:ext cx="143904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/>
              <a:t>Why does this performance difference occur and under what conditions should we use which method?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52CB7C61-8E02-25EA-93F6-9E6F226DC4C8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7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EC02DA-F899-3AB7-EC7D-7938EC224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299" y="1626220"/>
            <a:ext cx="6629400" cy="5586312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2F581FA7-E9E6-0035-AAEE-FD014CC67344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5155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5552-0FEE-1DF6-0DC7-70F0F9F0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8E73A8-F38D-91B7-576A-3E2FF13510B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B4E806-49FF-E7B4-B3E3-AE91F5F030E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D2BF01-D555-BADF-CA37-53DF97746C5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5F4AE9C-703B-1D64-60F1-5599B1CBAFC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Case Studies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47FBA65-B21C-6561-ED56-73036018F91E}"/>
              </a:ext>
            </a:extLst>
          </p:cNvPr>
          <p:cNvSpPr txBox="1"/>
          <p:nvPr/>
        </p:nvSpPr>
        <p:spPr>
          <a:xfrm>
            <a:off x="31955" y="828675"/>
            <a:ext cx="4877900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Grade School </a:t>
            </a:r>
            <a:r>
              <a:rPr lang="en-US" altLang="ko-KR" sz="4000" dirty="0" err="1"/>
              <a:t>Maths</a:t>
            </a:r>
            <a:endParaRPr lang="en-US" sz="40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707C8EA-550D-A197-50F7-F61BB8D7DFE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F67A6425-BA08-B524-BFCB-3AE217C19154}"/>
              </a:ext>
            </a:extLst>
          </p:cNvPr>
          <p:cNvSpPr txBox="1"/>
          <p:nvPr/>
        </p:nvSpPr>
        <p:spPr>
          <a:xfrm>
            <a:off x="609599" y="7706237"/>
            <a:ext cx="170688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ko-KR" sz="2800" dirty="0"/>
              <a:t>Both GPT-3.5 and GPT-4 show a clear performance hierarchy:</a:t>
            </a:r>
            <a:br>
              <a:rPr lang="en-US" altLang="ko-KR" sz="2800" dirty="0"/>
            </a:br>
            <a:r>
              <a:rPr lang="en-US" altLang="ko-KR" sz="2800" dirty="0" err="1"/>
              <a:t>ToT</a:t>
            </a:r>
            <a:r>
              <a:rPr lang="en-US" altLang="ko-KR" sz="2800" dirty="0"/>
              <a:t> &gt; </a:t>
            </a:r>
            <a:r>
              <a:rPr lang="en-US" altLang="ko-KR" sz="2800" dirty="0" err="1"/>
              <a:t>CoT</a:t>
            </a:r>
            <a:r>
              <a:rPr lang="en-US" altLang="ko-KR" sz="2800" dirty="0"/>
              <a:t> &gt;&gt; Direct prompting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CA07042-7023-A9AF-E300-9479E2165C44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8040A07-19B7-EE26-F2AE-602D42B70937}"/>
              </a:ext>
            </a:extLst>
          </p:cNvPr>
          <p:cNvSpPr txBox="1"/>
          <p:nvPr/>
        </p:nvSpPr>
        <p:spPr>
          <a:xfrm>
            <a:off x="176784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8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75E5E56-053E-431A-F49E-13F0E7C4E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261161"/>
            <a:ext cx="11125200" cy="42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82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D0DC-DF3E-2D50-FC8F-2FACE504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60D354-9C35-7635-E367-EC17F6515B3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2006BCB-7DC2-5D1E-6F25-A70D478BA6C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BDEA42-DEE3-78F9-1CA0-DAE784ED310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EA4D31F9-D3F9-5793-6DA2-2FE7B36D8BBF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Case Studies</a:t>
            </a:r>
            <a:endParaRPr lang="en-US" altLang="ko-KR" sz="2800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8E6E9DB-6D4C-4DD8-8901-1481A7194B98}"/>
              </a:ext>
            </a:extLst>
          </p:cNvPr>
          <p:cNvSpPr txBox="1"/>
          <p:nvPr/>
        </p:nvSpPr>
        <p:spPr>
          <a:xfrm>
            <a:off x="31955" y="828675"/>
            <a:ext cx="5530645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 err="1"/>
              <a:t>DynamicProgramming</a:t>
            </a:r>
            <a:endParaRPr lang="en-US" sz="40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A57BB67-1251-1760-9C39-3DEADE00DFE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35CC295-AD13-966C-73A1-70198FFF2AE2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851315F3-F92F-DC9C-36F1-EE1058456F1D}"/>
              </a:ext>
            </a:extLst>
          </p:cNvPr>
          <p:cNvSpPr txBox="1"/>
          <p:nvPr/>
        </p:nvSpPr>
        <p:spPr>
          <a:xfrm>
            <a:off x="176784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9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28F8655-3765-F1F9-B52F-5BEE7326485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868897" y="4235558"/>
            <a:ext cx="654403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800" dirty="0"/>
              <a:t>In sequential, step-dependent tasks like dynamic programming the clarity of each reasoning step matters more than the breadth of exploration.</a:t>
            </a:r>
            <a:endParaRPr kumimoji="0" lang="en-US" altLang="ko-KR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27EDB92-C828-82F3-B3A2-EAE36AB73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97" y="1790210"/>
            <a:ext cx="9467136" cy="384221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8CAAF4F-1419-B8D9-52A4-F526177EA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74" y="5725660"/>
            <a:ext cx="9606116" cy="394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91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69362-DB5C-AD91-EA42-8B2D97865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6C916D-038C-FFA3-FC83-994474773CF7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B4BD6C-CD65-ED2B-7B38-344B68953682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9CBD009-BC6D-EB29-EA87-BF463995E3AC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A0477DB2-7BB9-6324-7D23-CDD2F043088D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Case Studies</a:t>
            </a:r>
            <a:endParaRPr lang="en-US" altLang="ko-KR" sz="2800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F58F31C-933B-E526-ED38-45396C71FBAC}"/>
              </a:ext>
            </a:extLst>
          </p:cNvPr>
          <p:cNvSpPr txBox="1"/>
          <p:nvPr/>
        </p:nvSpPr>
        <p:spPr>
          <a:xfrm>
            <a:off x="31955" y="828675"/>
            <a:ext cx="4692445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dirty="0" err="1"/>
              <a:t>AirTravelPlanning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143FB946-8633-76B8-105F-37A0A1C6C29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BCA60D67-F84D-296A-C1DA-329A641CAA08}"/>
              </a:ext>
            </a:extLst>
          </p:cNvPr>
          <p:cNvSpPr txBox="1"/>
          <p:nvPr/>
        </p:nvSpPr>
        <p:spPr>
          <a:xfrm>
            <a:off x="1369023" y="7625176"/>
            <a:ext cx="15549949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200" b="1" dirty="0"/>
              <a:t>Prompt alone limits </a:t>
            </a:r>
            <a:r>
              <a:rPr lang="en-US" altLang="ko-KR" sz="3200" dirty="0"/>
              <a:t>navigation structures + model adaptations must be designed together</a:t>
            </a:r>
            <a:endParaRPr lang="en-US" altLang="ko-KR" sz="4000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0984BA8-7E69-28C1-65E1-7FAB2B53E956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00F18A8-1EE3-DF33-194A-50663B8F3382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10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0F49DDF-6736-6182-DCDE-1CB03F379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023" y="2158422"/>
            <a:ext cx="7565923" cy="453040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4BA3580-ECB5-A528-2826-1EB16AAA2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146" y="2797482"/>
            <a:ext cx="7723004" cy="345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0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D4FA-3E29-F1DE-0843-F7AB4099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1D2FA1-54CB-6CA5-C57A-EEA0A101D2D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CB73849-20F6-53F1-D933-5B7DC0FF61D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AC7FA4C-A4E2-5ACB-EFB6-FBEBFBBFC47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33F121E4-36C6-54CA-10CA-73C7F7543B9A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Case Studies</a:t>
            </a:r>
            <a:endParaRPr lang="en-US" altLang="ko-KR" sz="2800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E93782E-A073-93D1-F718-63F099BC86A3}"/>
              </a:ext>
            </a:extLst>
          </p:cNvPr>
          <p:cNvSpPr txBox="1"/>
          <p:nvPr/>
        </p:nvSpPr>
        <p:spPr>
          <a:xfrm>
            <a:off x="31955" y="828675"/>
            <a:ext cx="4159045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dirty="0"/>
              <a:t>Game of 24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CA6E6CD-2161-C0F1-66DB-CB38AEF5F29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C066EC4C-1175-B927-17D5-69353A1899F6}"/>
              </a:ext>
            </a:extLst>
          </p:cNvPr>
          <p:cNvSpPr txBox="1"/>
          <p:nvPr/>
        </p:nvSpPr>
        <p:spPr>
          <a:xfrm>
            <a:off x="1369024" y="8212135"/>
            <a:ext cx="15549949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ko-KR" sz="3200" dirty="0"/>
              <a:t>More few-shots → Greater improvement with Decomp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D319DDE-B31F-0FD3-881F-61C92550C5E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78738C99-9F47-E3BD-67EC-F8F412CD2EB2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11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75A21A7-05D1-EB62-DBEF-32754D1D7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464366"/>
            <a:ext cx="9829800" cy="458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11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086F-C944-A6B2-F230-BE2237F6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52172D-21CB-BF3D-245D-32B66FE692EA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5556D1-B903-6540-A029-CFDF75CE4CE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C82141-C422-10B7-CFA4-C18A9E92EC5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30E32DD-1713-824F-9963-D512BAE4C880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Conclusion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CB8557-1622-DA45-78F9-F305F01799A7}"/>
              </a:ext>
            </a:extLst>
          </p:cNvPr>
          <p:cNvSpPr txBox="1"/>
          <p:nvPr/>
        </p:nvSpPr>
        <p:spPr>
          <a:xfrm>
            <a:off x="31955" y="828675"/>
            <a:ext cx="5225845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Conclusion &amp; Limit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625DE26-72C6-C2D0-2ED6-E071C55A1151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82323F71-1021-9B8B-2D03-A510AF5E280F}"/>
              </a:ext>
            </a:extLst>
          </p:cNvPr>
          <p:cNvSpPr txBox="1"/>
          <p:nvPr/>
        </p:nvSpPr>
        <p:spPr>
          <a:xfrm>
            <a:off x="1722246" y="3314700"/>
            <a:ext cx="1554994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200" dirty="0"/>
              <a:t>When it is computationally difficult to predict the next step in the </a:t>
            </a:r>
            <a:r>
              <a:rPr lang="en-US" altLang="ko-KR" sz="3200" b="1" dirty="0"/>
              <a:t>Chain-of-Thought</a:t>
            </a:r>
            <a:r>
              <a:rPr lang="en-US" altLang="ko-KR" sz="3200" dirty="0"/>
              <a:t> reasoning process, adopting a </a:t>
            </a:r>
            <a:r>
              <a:rPr lang="en-US" altLang="ko-KR" sz="3200" b="1" dirty="0"/>
              <a:t>Tree-of-Thought</a:t>
            </a:r>
            <a:r>
              <a:rPr lang="en-US" altLang="ko-KR" sz="3200" dirty="0"/>
              <a:t> structure can be more effective.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CA6D97C-AB17-7416-DE88-9C04379F505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1CAD55E-8F6E-D503-C2D0-020EE6BB6C75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3119F-AE5B-AAE0-C21C-2480AA600D7B}"/>
              </a:ext>
            </a:extLst>
          </p:cNvPr>
          <p:cNvSpPr txBox="1"/>
          <p:nvPr/>
        </p:nvSpPr>
        <p:spPr>
          <a:xfrm>
            <a:off x="1722246" y="5706235"/>
            <a:ext cx="1554994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5400" dirty="0">
                <a:solidFill>
                  <a:srgbClr val="FF0000"/>
                </a:solidFill>
              </a:rPr>
              <a:t>But</a:t>
            </a:r>
            <a:r>
              <a:rPr lang="en-US" altLang="ko-KR" sz="3600" dirty="0"/>
              <a:t> </a:t>
            </a:r>
          </a:p>
          <a:p>
            <a:pPr>
              <a:buNone/>
            </a:pPr>
            <a:r>
              <a:rPr lang="en-US" altLang="ko-KR" sz="3200" dirty="0"/>
              <a:t>Even if each step has low sample complexity the computational complexity of the model’s actual learning process can still be high.</a:t>
            </a:r>
          </a:p>
          <a:p>
            <a:pPr>
              <a:buNone/>
            </a:pPr>
            <a:endParaRPr lang="en-US" altLang="ko-KR" sz="3200" dirty="0"/>
          </a:p>
          <a:p>
            <a:pPr>
              <a:buNone/>
            </a:pPr>
            <a:r>
              <a:rPr lang="en-US" altLang="ko-KR" sz="3200" dirty="0"/>
              <a:t>High performance on a specific dataset does not necessarily guarantee consistent performance on new or different types of problems.</a:t>
            </a:r>
          </a:p>
        </p:txBody>
      </p:sp>
    </p:spTree>
    <p:extLst>
      <p:ext uri="{BB962C8B-B14F-4D97-AF65-F5344CB8AC3E}">
        <p14:creationId xmlns:p14="http://schemas.microsoft.com/office/powerpoint/2010/main" val="3957513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E2BF-4844-7EAA-F182-8754AD48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557FCC-4237-4E27-F1D8-252DC938E22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57FEFE-40A1-9DDB-8000-B09FF3C2FE6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BDE6D3-9D9E-6012-39D6-513214B2CD4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77519F7-D9A9-A668-E49F-547A26734536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82CBE56-0540-CF03-0088-20287BD60F12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EDA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89CF8A5-38D7-14CD-0D57-7665ECD47EE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A6C101-BC76-B972-77E6-EFDB50BDE553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A4F385CD-02FC-2B35-69F9-EE1ED35D97D3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13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2648FF5-9FDE-AC58-B833-DAB63AF83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270027"/>
              </p:ext>
            </p:extLst>
          </p:nvPr>
        </p:nvGraphicFramePr>
        <p:xfrm>
          <a:off x="2673775" y="2527198"/>
          <a:ext cx="12940448" cy="563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35112">
                  <a:extLst>
                    <a:ext uri="{9D8B030D-6E8A-4147-A177-3AD203B41FA5}">
                      <a16:colId xmlns:a16="http://schemas.microsoft.com/office/drawing/2014/main" val="1120793415"/>
                    </a:ext>
                  </a:extLst>
                </a:gridCol>
                <a:gridCol w="3235112">
                  <a:extLst>
                    <a:ext uri="{9D8B030D-6E8A-4147-A177-3AD203B41FA5}">
                      <a16:colId xmlns:a16="http://schemas.microsoft.com/office/drawing/2014/main" val="4191087394"/>
                    </a:ext>
                  </a:extLst>
                </a:gridCol>
                <a:gridCol w="3235112">
                  <a:extLst>
                    <a:ext uri="{9D8B030D-6E8A-4147-A177-3AD203B41FA5}">
                      <a16:colId xmlns:a16="http://schemas.microsoft.com/office/drawing/2014/main" val="3788323716"/>
                    </a:ext>
                  </a:extLst>
                </a:gridCol>
                <a:gridCol w="3235112">
                  <a:extLst>
                    <a:ext uri="{9D8B030D-6E8A-4147-A177-3AD203B41FA5}">
                      <a16:colId xmlns:a16="http://schemas.microsoft.com/office/drawing/2014/main" val="2340288101"/>
                    </a:ext>
                  </a:extLst>
                </a:gridCol>
              </a:tblGrid>
              <a:tr h="1127760"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Male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Female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err="1"/>
                        <a:t>Mean_Age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908356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NC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57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120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72.29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60471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MCI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218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454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74.49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98544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AD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158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386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80.2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09223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Total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433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960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76.52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13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837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0077-D4DC-B96A-892A-FABDB16A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57F127-5677-43A0-BEF3-682293B6B08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7C36A3-810E-75F0-FCCA-CE92D9A813C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C9A725A-731B-2CEA-E941-71771824B8D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C5657DC-D235-94FC-A34A-9F83E53592AA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F0043CB-183E-7B00-4D56-BD45926C1AE0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96480A7-7F9C-AA0C-F996-DA3E79F61C2A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BC3A97D-1DD6-8232-47A1-12E0E4BD495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18700A07-3D86-577D-5968-2C7D6899C389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3A537A6-4089-865E-EBEA-B75C07213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74688"/>
              </p:ext>
            </p:extLst>
          </p:nvPr>
        </p:nvGraphicFramePr>
        <p:xfrm>
          <a:off x="745184" y="3771900"/>
          <a:ext cx="7332016" cy="2699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3004">
                  <a:extLst>
                    <a:ext uri="{9D8B030D-6E8A-4147-A177-3AD203B41FA5}">
                      <a16:colId xmlns:a16="http://schemas.microsoft.com/office/drawing/2014/main" val="3223535439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2841078448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1213734767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3479516802"/>
                    </a:ext>
                  </a:extLst>
                </a:gridCol>
              </a:tblGrid>
              <a:tr h="539876">
                <a:tc>
                  <a:txBody>
                    <a:bodyPr/>
                    <a:lstStyle/>
                    <a:p>
                      <a:pPr algn="ctr" latinLnBrk="1"/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Precision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Recall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F1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909343499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NC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0.47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844941952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MCI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3261376421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AD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2499071844"/>
                  </a:ext>
                </a:extLst>
              </a:tr>
              <a:tr h="53987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Accuracy: 77.46% (=1393</a:t>
                      </a:r>
                      <a:r>
                        <a:rPr lang="ko-KR" altLang="en-US" sz="2200" dirty="0"/>
                        <a:t>개</a:t>
                      </a:r>
                      <a:r>
                        <a:rPr lang="en-US" altLang="ko-KR" sz="2200" dirty="0"/>
                        <a:t>)</a:t>
                      </a:r>
                      <a:endParaRPr lang="ko-KR" altLang="en-US" sz="2200" dirty="0"/>
                    </a:p>
                  </a:txBody>
                  <a:tcPr marL="115769" marR="115769" marT="57884" marB="57884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713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966E97C-C079-5B99-AACC-9FC9B823A6FD}"/>
              </a:ext>
            </a:extLst>
          </p:cNvPr>
          <p:cNvSpPr txBox="1"/>
          <p:nvPr/>
        </p:nvSpPr>
        <p:spPr>
          <a:xfrm>
            <a:off x="831318" y="2173819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Direct prompt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607C644-1600-57AD-2CD2-0632AF014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52" y="6941200"/>
            <a:ext cx="6674013" cy="201405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0EF42DF-941C-BE64-FE36-EA7F762318AA}"/>
              </a:ext>
            </a:extLst>
          </p:cNvPr>
          <p:cNvSpPr txBox="1"/>
          <p:nvPr/>
        </p:nvSpPr>
        <p:spPr>
          <a:xfrm>
            <a:off x="8229600" y="2860413"/>
            <a:ext cx="943742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Read the patient record below and assign one label: 0=NC, 1=MCI, 2=AD.</a:t>
            </a:r>
          </a:p>
          <a:p>
            <a:r>
              <a:rPr lang="en-US" altLang="ko-KR" sz="2400" dirty="0"/>
              <a:t>Use what is in the record only. Pick exactly one label.</a:t>
            </a:r>
          </a:p>
          <a:p>
            <a:endParaRPr lang="en-US" altLang="ko-KR" sz="2400" dirty="0"/>
          </a:p>
          <a:p>
            <a:r>
              <a:rPr lang="en-US" altLang="ko-KR" sz="2400" dirty="0"/>
              <a:t>Output exactly two lines (exactly two lines, no extra text):</a:t>
            </a:r>
          </a:p>
          <a:p>
            <a:r>
              <a:rPr lang="en-US" altLang="ko-KR" sz="2400" dirty="0"/>
              <a:t>Diagnosis: &lt;0 or 1 or 2&gt;</a:t>
            </a:r>
          </a:p>
          <a:p>
            <a:r>
              <a:rPr lang="en-US" altLang="ko-KR" sz="2400" dirty="0"/>
              <a:t>Rationale: &lt;cite decisive evidence&gt;</a:t>
            </a:r>
          </a:p>
          <a:p>
            <a:endParaRPr lang="en-US" altLang="ko-KR" sz="2400" dirty="0"/>
          </a:p>
          <a:p>
            <a:r>
              <a:rPr lang="en-US" altLang="ko-KR" sz="2400" dirty="0"/>
              <a:t>Patient Record:</a:t>
            </a:r>
          </a:p>
          <a:p>
            <a:r>
              <a:rPr lang="en-US" altLang="ko-KR" sz="2400" dirty="0"/>
              <a:t>---</a:t>
            </a:r>
          </a:p>
          <a:p>
            <a:r>
              <a:rPr lang="en-US" altLang="ko-KR" sz="2400" dirty="0"/>
              <a:t>{</a:t>
            </a:r>
            <a:r>
              <a:rPr lang="en-US" altLang="ko-KR" sz="2400" dirty="0" err="1"/>
              <a:t>patient_note</a:t>
            </a:r>
            <a:r>
              <a:rPr lang="en-US" altLang="ko-KR" sz="2400" dirty="0"/>
              <a:t>}</a:t>
            </a:r>
          </a:p>
          <a:p>
            <a:r>
              <a:rPr lang="en-US" altLang="ko-KR" sz="2400" dirty="0"/>
              <a:t>---</a:t>
            </a:r>
          </a:p>
        </p:txBody>
      </p:sp>
    </p:spTree>
    <p:extLst>
      <p:ext uri="{BB962C8B-B14F-4D97-AF65-F5344CB8AC3E}">
        <p14:creationId xmlns:p14="http://schemas.microsoft.com/office/powerpoint/2010/main" val="3338613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7E1A-7127-1E6B-0E76-800A887E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8ECAEFF-A58F-2D27-D29A-E4C3096DB5B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F86160-7337-D8FB-E757-406F647EA7B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7C45C28-36F8-E729-F8D1-7C379F3DABD4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B5D08E44-210D-B39C-0D1C-B01FAA5B4758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7CDF3D-850F-19A4-D64E-20949BF8A0F0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697D819-46C6-5688-8C12-6BC78F6B8BE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7EB38B4-A7CF-84EB-CDD7-F099157BB6EF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7247C88B-F6DE-8484-301E-15B71A77992B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F4A08A-CE27-06A1-A365-008C89B75307}"/>
              </a:ext>
            </a:extLst>
          </p:cNvPr>
          <p:cNvSpPr txBox="1"/>
          <p:nvPr/>
        </p:nvSpPr>
        <p:spPr>
          <a:xfrm>
            <a:off x="5521058" y="1914647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Direct prompt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2237032-92CC-57C4-D582-88399AA7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795" y="2745644"/>
            <a:ext cx="14664408" cy="662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49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9E1D-9744-CFCC-4BEB-D8ACDB1A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87D97B2-4081-D418-480B-6B9F77B921D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5C3F28C-ED50-3581-9DEC-693ACC3C4ED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D2FCD3-B977-87D6-ED3C-04D8549D6B1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9A45239-306F-ED6B-5C9E-5107493F397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02DAC3-ACBF-B0EB-0FFF-2DCCC4F1ECB0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30933B9-8738-2487-35AE-A87FEB449F7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B0EE48D-DB37-3AB7-C989-E07E5CA726E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F59BB0-E1EF-44EF-34A9-5318D532ABF4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FB8C012-C982-B7DB-19FE-235F4676A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495682"/>
              </p:ext>
            </p:extLst>
          </p:nvPr>
        </p:nvGraphicFramePr>
        <p:xfrm>
          <a:off x="9736784" y="3664844"/>
          <a:ext cx="7332016" cy="2699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3004">
                  <a:extLst>
                    <a:ext uri="{9D8B030D-6E8A-4147-A177-3AD203B41FA5}">
                      <a16:colId xmlns:a16="http://schemas.microsoft.com/office/drawing/2014/main" val="3223535439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2841078448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1213734767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3479516802"/>
                    </a:ext>
                  </a:extLst>
                </a:gridCol>
              </a:tblGrid>
              <a:tr h="539876">
                <a:tc>
                  <a:txBody>
                    <a:bodyPr/>
                    <a:lstStyle/>
                    <a:p>
                      <a:pPr algn="ctr" latinLnBrk="1"/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Precision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Recall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F1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909343499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NC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0.96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0.29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0.45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844941952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MCI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0.88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3261376421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AD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0.84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2499071844"/>
                  </a:ext>
                </a:extLst>
              </a:tr>
              <a:tr h="53987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Accuracy: 78.75% (=1393</a:t>
                      </a:r>
                      <a:r>
                        <a:rPr lang="ko-KR" altLang="en-US" sz="2200" dirty="0"/>
                        <a:t>개</a:t>
                      </a:r>
                      <a:r>
                        <a:rPr lang="en-US" altLang="ko-KR" sz="2200" dirty="0"/>
                        <a:t>)</a:t>
                      </a:r>
                      <a:endParaRPr lang="ko-KR" altLang="en-US" sz="2200" dirty="0"/>
                    </a:p>
                  </a:txBody>
                  <a:tcPr marL="115769" marR="115769" marT="57884" marB="57884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713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7032428-DD21-1673-D34F-347F9BCFA10E}"/>
              </a:ext>
            </a:extLst>
          </p:cNvPr>
          <p:cNvSpPr txBox="1"/>
          <p:nvPr/>
        </p:nvSpPr>
        <p:spPr>
          <a:xfrm>
            <a:off x="9822918" y="2066763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COT + </a:t>
            </a:r>
            <a:r>
              <a:rPr lang="en-US" altLang="ko-KR" sz="4800" dirty="0" err="1"/>
              <a:t>Fewshot</a:t>
            </a:r>
            <a:r>
              <a:rPr lang="en-US" altLang="ko-KR" sz="4800" dirty="0"/>
              <a:t> prompt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4E2CCE0-EE50-F2FB-BE36-868DB8106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023" y="6825379"/>
            <a:ext cx="6677538" cy="2014051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B84836F-8D95-164F-AB8C-0473F4FBA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059800"/>
              </p:ext>
            </p:extLst>
          </p:nvPr>
        </p:nvGraphicFramePr>
        <p:xfrm>
          <a:off x="1219200" y="3662595"/>
          <a:ext cx="7332016" cy="2699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3004">
                  <a:extLst>
                    <a:ext uri="{9D8B030D-6E8A-4147-A177-3AD203B41FA5}">
                      <a16:colId xmlns:a16="http://schemas.microsoft.com/office/drawing/2014/main" val="3223535439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2841078448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1213734767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3479516802"/>
                    </a:ext>
                  </a:extLst>
                </a:gridCol>
              </a:tblGrid>
              <a:tr h="539876">
                <a:tc>
                  <a:txBody>
                    <a:bodyPr/>
                    <a:lstStyle/>
                    <a:p>
                      <a:pPr algn="ctr" latinLnBrk="1"/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Precision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Recall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F1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909343499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NC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0.47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0.64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844941952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MCI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0.78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3261376421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AD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0.95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0.53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0.68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2499071844"/>
                  </a:ext>
                </a:extLst>
              </a:tr>
              <a:tr h="53987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Accuracy: 73.87% (=1393</a:t>
                      </a:r>
                      <a:r>
                        <a:rPr lang="ko-KR" altLang="en-US" sz="2200" dirty="0"/>
                        <a:t>개</a:t>
                      </a:r>
                      <a:r>
                        <a:rPr lang="en-US" altLang="ko-KR" sz="2200" dirty="0"/>
                        <a:t>)</a:t>
                      </a:r>
                      <a:endParaRPr lang="ko-KR" altLang="en-US" sz="2200" dirty="0"/>
                    </a:p>
                  </a:txBody>
                  <a:tcPr marL="115769" marR="115769" marT="57884" marB="57884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713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32296EF-5586-C506-5F01-0AAE46228D77}"/>
              </a:ext>
            </a:extLst>
          </p:cNvPr>
          <p:cNvSpPr txBox="1"/>
          <p:nvPr/>
        </p:nvSpPr>
        <p:spPr>
          <a:xfrm>
            <a:off x="1194554" y="2064514"/>
            <a:ext cx="73320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COT prompt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CFFDF5E-64E9-E868-9590-354C955C0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50" y="6825379"/>
            <a:ext cx="6505916" cy="201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34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A9D21-7F1D-90A5-C980-77F183A1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8BBED96-5C5C-AE63-8DD8-B02758E41331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32EFBC-398A-C684-058D-F813F1E04BA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D12724-26F0-C002-69DF-8BB97F20DBC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0517880-B2AB-12F6-3E82-3DE8633B280E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9F6B148-AB71-FDDF-65A4-0CB75CE0911A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51288B3-2D57-5E7D-1FF9-69394C6980B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FBDD806-0DDB-1369-FF99-ACCABE69135C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9A8091B-FB14-BEDB-4307-A9925B05A61C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409EA9-F3BF-5C9F-6DDB-93600B5F6980}"/>
              </a:ext>
            </a:extLst>
          </p:cNvPr>
          <p:cNvSpPr txBox="1"/>
          <p:nvPr/>
        </p:nvSpPr>
        <p:spPr>
          <a:xfrm>
            <a:off x="5477991" y="2052020"/>
            <a:ext cx="73320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COT prompt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1B5A1BE-101D-F06B-8297-AD7D73CA1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047" y="2883017"/>
            <a:ext cx="13437906" cy="638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02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ADD3-757E-0C2B-4BDD-9E88D402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B6A07C-9E67-0EFD-617A-E5DF7CE31FC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8E6F5A-EE22-62AC-FFB1-BCAD056A0C0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BE6C7EF-B7B5-69E1-5A0D-F0F449649E9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798D8F4-EC59-85B0-7C3E-DF2561BAF6BA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CD31E3-5E1D-B944-E201-87821D419299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F008000-BFC3-8A4B-3C8A-EA5344AF5B7C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F342A64-9C1E-06BB-BA5F-A40BEA00F1C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C5A49CC2-7568-5A94-8E96-7653B04FBC5D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3B750C-C1BE-A745-6AF9-EC2F2F1CF609}"/>
              </a:ext>
            </a:extLst>
          </p:cNvPr>
          <p:cNvSpPr txBox="1"/>
          <p:nvPr/>
        </p:nvSpPr>
        <p:spPr>
          <a:xfrm>
            <a:off x="4903629" y="2018773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COT + </a:t>
            </a:r>
            <a:r>
              <a:rPr lang="en-US" altLang="ko-KR" sz="4800" dirty="0" err="1"/>
              <a:t>Fewshot</a:t>
            </a:r>
            <a:r>
              <a:rPr lang="en-US" altLang="ko-KR" sz="4800" dirty="0"/>
              <a:t> prompt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869466-3483-3AFC-6ED9-7D800A6D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99" y="2849770"/>
            <a:ext cx="14706600" cy="601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77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115AD-4497-44A5-C8FF-EF2724D5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138FEF-9544-431F-A4BF-2386C36B1937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0BEBED-A42D-31C2-C9FC-7DB5E13E7B8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7212D7-A79E-B3D1-3177-E9FE44034E7D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3DA1A0B2-90B3-5FAA-7F19-B6F8E0BC6074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E7CFA09-5246-F422-2293-376C0E4ADF55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D3F557D-1941-877A-37B1-76DFF70B7D61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52F41C4-0602-527B-743A-DCCFAB3C1E37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97621ED-DF94-A56C-348A-8CB52DB24767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6813041-F52D-FD1D-FB5D-62BD23B13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784001"/>
              </p:ext>
            </p:extLst>
          </p:nvPr>
        </p:nvGraphicFramePr>
        <p:xfrm>
          <a:off x="609600" y="3615852"/>
          <a:ext cx="7332016" cy="2699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3004">
                  <a:extLst>
                    <a:ext uri="{9D8B030D-6E8A-4147-A177-3AD203B41FA5}">
                      <a16:colId xmlns:a16="http://schemas.microsoft.com/office/drawing/2014/main" val="3223535439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2841078448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1213734767"/>
                    </a:ext>
                  </a:extLst>
                </a:gridCol>
                <a:gridCol w="1833004">
                  <a:extLst>
                    <a:ext uri="{9D8B030D-6E8A-4147-A177-3AD203B41FA5}">
                      <a16:colId xmlns:a16="http://schemas.microsoft.com/office/drawing/2014/main" val="3479516802"/>
                    </a:ext>
                  </a:extLst>
                </a:gridCol>
              </a:tblGrid>
              <a:tr h="539876">
                <a:tc>
                  <a:txBody>
                    <a:bodyPr/>
                    <a:lstStyle/>
                    <a:p>
                      <a:pPr algn="ctr" latinLnBrk="1"/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Precision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Recall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F1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909343499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NC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0.46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1844941952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MCI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0.67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0.94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0.78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3261376421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AD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0.91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0.60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0.72</a:t>
                      </a:r>
                      <a:endParaRPr lang="ko-KR" altLang="en-US" sz="2200" dirty="0"/>
                    </a:p>
                  </a:txBody>
                  <a:tcPr marL="54990" marR="54990" marT="27495" marB="27495"/>
                </a:tc>
                <a:extLst>
                  <a:ext uri="{0D108BD9-81ED-4DB2-BD59-A6C34878D82A}">
                    <a16:rowId xmlns:a16="http://schemas.microsoft.com/office/drawing/2014/main" val="2499071844"/>
                  </a:ext>
                </a:extLst>
              </a:tr>
              <a:tr h="53987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/>
                        <a:t>Accuracy: 74.52% (=1393</a:t>
                      </a:r>
                      <a:r>
                        <a:rPr lang="ko-KR" altLang="en-US" sz="2200" dirty="0"/>
                        <a:t>개</a:t>
                      </a:r>
                      <a:r>
                        <a:rPr lang="en-US" altLang="ko-KR" sz="2200" dirty="0"/>
                        <a:t>)</a:t>
                      </a:r>
                      <a:endParaRPr lang="ko-KR" altLang="en-US" sz="2200" dirty="0"/>
                    </a:p>
                  </a:txBody>
                  <a:tcPr marL="115769" marR="115769" marT="57884" marB="57884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04713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79AF7F2-749E-3CCA-D47F-20F6557D3582}"/>
              </a:ext>
            </a:extLst>
          </p:cNvPr>
          <p:cNvSpPr txBox="1"/>
          <p:nvPr/>
        </p:nvSpPr>
        <p:spPr>
          <a:xfrm>
            <a:off x="695734" y="2017771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TOT prompt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2F4505F-4E86-1A7F-2E93-5A0C826E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16" y="6781480"/>
            <a:ext cx="6648233" cy="20613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27B1D9-B67F-87BC-9430-B78D4ACF274A}"/>
              </a:ext>
            </a:extLst>
          </p:cNvPr>
          <p:cNvSpPr txBox="1"/>
          <p:nvPr/>
        </p:nvSpPr>
        <p:spPr>
          <a:xfrm>
            <a:off x="8093392" y="1315167"/>
            <a:ext cx="9437426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You are a medical classifier. Decide (0=NC, 1=MCI, 2=AD).</a:t>
            </a:r>
          </a:p>
          <a:p>
            <a:endParaRPr lang="en-US" altLang="ko-KR" dirty="0"/>
          </a:p>
          <a:p>
            <a:r>
              <a:rPr lang="en-US" altLang="ko-KR" dirty="0"/>
              <a:t>Internally use a Tree-of-Thoughts BFS with shallow depth:</a:t>
            </a:r>
          </a:p>
          <a:p>
            <a:r>
              <a:rPr lang="en-US" altLang="ko-KR" dirty="0"/>
              <a:t>Thought decomposition:</a:t>
            </a:r>
          </a:p>
          <a:p>
            <a:r>
              <a:rPr lang="en-US" altLang="ko-KR" dirty="0"/>
              <a:t>  • Step 1 (Evidence extraction): bucket signals from the record:</a:t>
            </a:r>
          </a:p>
          <a:p>
            <a:r>
              <a:rPr lang="en-US" altLang="ko-KR" dirty="0"/>
              <a:t>    A) Functional impairment (CDR, FAQ/IADL, caregiver-reported daily function)</a:t>
            </a:r>
          </a:p>
          <a:p>
            <a:r>
              <a:rPr lang="en-US" altLang="ko-KR" dirty="0"/>
              <a:t>    B) Global staging (CDR)</a:t>
            </a:r>
          </a:p>
          <a:p>
            <a:r>
              <a:rPr lang="en-US" altLang="ko-KR" dirty="0"/>
              <a:t>    C) Objective scores (MMSE, MoCA, ADAS-Cog; higher ADAS=worse; lower MMSE/MoCA=worse)</a:t>
            </a:r>
          </a:p>
          <a:p>
            <a:r>
              <a:rPr lang="en-US" altLang="ko-KR" dirty="0"/>
              <a:t>    D) Clinical text cues (orientation, memory, executive/extrapyramidal symptoms, progression)</a:t>
            </a:r>
          </a:p>
          <a:p>
            <a:r>
              <a:rPr lang="en-US" altLang="ko-KR" dirty="0"/>
              <a:t>  • Step 2 (Hypothesis thoughts): propose k=3 label-specific thoughts (NC, MCI, AD), each listing decisive evidence by priority A→D.</a:t>
            </a:r>
          </a:p>
          <a:p>
            <a:r>
              <a:rPr lang="en-US" altLang="ko-KR" dirty="0"/>
              <a:t>  • Step 3 (State evaluation): for each proposed thought, assign a value in (sure, likely, impossible) for correctness given A→D, and prune “impossible”.</a:t>
            </a:r>
          </a:p>
          <a:p>
            <a:r>
              <a:rPr lang="en-US" altLang="ko-KR" dirty="0"/>
              <a:t>  • Step 4 (Voting): compare remaining thoughts and select the top one (tie-breaker order: function &gt; CDR &gt; scores &gt; text).</a:t>
            </a:r>
          </a:p>
          <a:p>
            <a:endParaRPr lang="en-US" altLang="ko-KR" dirty="0"/>
          </a:p>
          <a:p>
            <a:r>
              <a:rPr lang="en-US" altLang="ko-KR" dirty="0"/>
              <a:t>Rules:</a:t>
            </a:r>
          </a:p>
          <a:p>
            <a:r>
              <a:rPr lang="en-US" altLang="ko-KR" dirty="0"/>
              <a:t>- Use only information present; ignore missing; never invent values.</a:t>
            </a:r>
          </a:p>
          <a:p>
            <a:r>
              <a:rPr lang="en-US" altLang="ko-KR" dirty="0"/>
              <a:t>- Resolve conflicts strictly by the priority: function &gt; global CDR &gt; objective scores &gt; text cues.</a:t>
            </a:r>
          </a:p>
          <a:p>
            <a:r>
              <a:rPr lang="en-US" altLang="ko-KR" dirty="0"/>
              <a:t>- Keep internal search private; DO NOT reveal thoughts/evaluations.</a:t>
            </a:r>
          </a:p>
          <a:p>
            <a:endParaRPr lang="en-US" altLang="ko-KR" dirty="0"/>
          </a:p>
          <a:p>
            <a:r>
              <a:rPr lang="en-US" altLang="ko-KR" dirty="0"/>
              <a:t>STRICT OUTPUT (exactly two lines, no extra text):</a:t>
            </a:r>
          </a:p>
          <a:p>
            <a:r>
              <a:rPr lang="en-US" altLang="ko-KR" dirty="0"/>
              <a:t>Diagnosis: &lt;0 or 1 or 2&gt;</a:t>
            </a:r>
          </a:p>
          <a:p>
            <a:r>
              <a:rPr lang="en-US" altLang="ko-KR" dirty="0"/>
              <a:t>Rationale: &lt;cite decisive evidence&gt;</a:t>
            </a:r>
          </a:p>
          <a:p>
            <a:endParaRPr lang="en-US" altLang="ko-KR" dirty="0"/>
          </a:p>
          <a:p>
            <a:r>
              <a:rPr lang="en-US" altLang="ko-KR" dirty="0"/>
              <a:t>Patient Record:</a:t>
            </a:r>
          </a:p>
          <a:p>
            <a:r>
              <a:rPr lang="en-US" altLang="ko-KR" dirty="0"/>
              <a:t>---</a:t>
            </a:r>
          </a:p>
          <a:p>
            <a:r>
              <a:rPr lang="en-US" altLang="ko-KR" dirty="0"/>
              <a:t>{</a:t>
            </a:r>
            <a:r>
              <a:rPr lang="en-US" altLang="ko-KR" dirty="0" err="1"/>
              <a:t>patient_note</a:t>
            </a:r>
            <a:r>
              <a:rPr lang="en-US" altLang="ko-KR" dirty="0"/>
              <a:t>}</a:t>
            </a:r>
          </a:p>
          <a:p>
            <a:r>
              <a:rPr lang="en-US" altLang="ko-KR" dirty="0"/>
              <a:t>---</a:t>
            </a:r>
          </a:p>
        </p:txBody>
      </p:sp>
    </p:spTree>
    <p:extLst>
      <p:ext uri="{BB962C8B-B14F-4D97-AF65-F5344CB8AC3E}">
        <p14:creationId xmlns:p14="http://schemas.microsoft.com/office/powerpoint/2010/main" val="3291049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BD8D-71FC-F98E-805B-5716C4D9D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791CAA4-EAF6-0D2F-130B-D5F3F0FEBA3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0E3361-93B1-EBE3-0074-2C5059391833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1CC0928-B6AC-43A2-9BD5-6BE41657947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344F34A-243E-28CF-E6E9-4386C3807ACA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4D19D6-FEC4-44B8-976A-730F1D44F5BB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Test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BD0E270-20AD-9C0F-630B-3E50C033628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04A0D86-0DD0-27B1-435F-5DB7F356F735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F107213-8C47-1206-011D-1D2664ED4C9A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16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206771-6E4D-24CF-6751-C084C164D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9" y="2760678"/>
            <a:ext cx="15621000" cy="66127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BCAB6B-6505-2AED-F602-54E506E6DDF1}"/>
              </a:ext>
            </a:extLst>
          </p:cNvPr>
          <p:cNvSpPr txBox="1"/>
          <p:nvPr/>
        </p:nvSpPr>
        <p:spPr>
          <a:xfrm>
            <a:off x="5521058" y="1929681"/>
            <a:ext cx="7245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dirty="0"/>
              <a:t>TOT prompt</a:t>
            </a:r>
          </a:p>
        </p:txBody>
      </p:sp>
    </p:spTree>
    <p:extLst>
      <p:ext uri="{BB962C8B-B14F-4D97-AF65-F5344CB8AC3E}">
        <p14:creationId xmlns:p14="http://schemas.microsoft.com/office/powerpoint/2010/main" val="1457104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8254</TotalTime>
  <Words>982</Words>
  <Application>Microsoft Office PowerPoint</Application>
  <PresentationFormat>사용자 지정</PresentationFormat>
  <Paragraphs>239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Calibri</vt:lpstr>
      <vt:lpstr>Arial</vt:lpstr>
      <vt:lpstr>윤고딕 Light</vt:lpstr>
      <vt:lpstr>윤고딕</vt:lpstr>
      <vt:lpstr>Garet Light</vt:lpstr>
      <vt:lpstr>맑은 고딕</vt:lpstr>
      <vt:lpstr>Glacial Indifference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cp:lastModifiedBy>변윤성</cp:lastModifiedBy>
  <cp:revision>114</cp:revision>
  <dcterms:created xsi:type="dcterms:W3CDTF">2006-08-16T00:00:00Z</dcterms:created>
  <dcterms:modified xsi:type="dcterms:W3CDTF">2025-11-06T07:16:21Z</dcterms:modified>
  <dc:identifier>DAGyMBKKpxw</dc:identifier>
</cp:coreProperties>
</file>