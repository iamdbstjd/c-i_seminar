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0" r:id="rId4"/>
    <p:sldId id="280" r:id="rId5"/>
    <p:sldId id="276" r:id="rId6"/>
    <p:sldId id="275" r:id="rId7"/>
    <p:sldId id="274" r:id="rId8"/>
    <p:sldId id="293" r:id="rId9"/>
    <p:sldId id="281" r:id="rId10"/>
    <p:sldId id="282" r:id="rId11"/>
    <p:sldId id="284" r:id="rId12"/>
    <p:sldId id="286" r:id="rId13"/>
    <p:sldId id="287" r:id="rId14"/>
    <p:sldId id="288" r:id="rId15"/>
    <p:sldId id="273" r:id="rId16"/>
    <p:sldId id="289" r:id="rId17"/>
  </p:sldIdLst>
  <p:sldSz cx="18288000" cy="10287000"/>
  <p:notesSz cx="6858000" cy="9144000"/>
  <p:embeddedFontLst>
    <p:embeddedFont>
      <p:font typeface="윤고딕" panose="020B0600000101010101" charset="-127"/>
      <p:regular r:id="rId19"/>
    </p:embeddedFont>
    <p:embeddedFont>
      <p:font typeface="윤고딕 Light" panose="020B0600000101010101" charset="-127"/>
      <p:regular r:id="rId20"/>
    </p:embeddedFont>
    <p:embeddedFont>
      <p:font typeface="Garet Light" panose="020B0600000101010101" charset="0"/>
      <p:regular r:id="rId21"/>
    </p:embeddedFont>
    <p:embeddedFont>
      <p:font typeface="Glacial Indifference" panose="020B0600000101010101" charset="0"/>
      <p:regular r:id="rId22"/>
    </p:embeddedFont>
    <p:embeddedFont>
      <p:font typeface="맑은 고딕" panose="020B0503020000020004" pitchFamily="50" charset="-127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A3B795-2DD5-41AD-8751-5C4089DF444F}" type="datetimeFigureOut">
              <a:rPr lang="ko-KR" altLang="en-US" smtClean="0"/>
              <a:t>2025-09-26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B8363-F2E3-4439-A7E6-14F7E1DF9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3242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D2B1C-BF43-4DE7-ABE0-B047D62A78C0}" type="datetime1">
              <a:rPr lang="en-US" altLang="ko-KR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6A5C2-0AC0-4C27-B972-27F3E6623A31}" type="datetime1">
              <a:rPr lang="en-US" altLang="ko-KR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C3253-B364-4353-8945-5F93EC62AEA8}" type="datetime1">
              <a:rPr lang="en-US" altLang="ko-KR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D38A-FBC9-4474-860E-0943576FB2A9}" type="datetime1">
              <a:rPr lang="en-US" altLang="ko-KR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8A005-A359-4551-8385-DF962D05B961}" type="datetime1">
              <a:rPr lang="en-US" altLang="ko-KR" smtClean="0"/>
              <a:t>9/26/2025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87605-D5BC-4F76-AD54-FBE4D0EF73CC}" type="datetime1">
              <a:rPr lang="en-US" altLang="ko-KR" smtClean="0"/>
              <a:t>9/26/2025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134F-D1A4-4FC3-B616-E1519CFBDFE8}" type="datetime1">
              <a:rPr lang="en-US" altLang="ko-KR" smtClean="0"/>
              <a:t>9/26/2025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06EF1-72F3-46B4-913E-2E8BF85C7B09}" type="datetime1">
              <a:rPr lang="en-US" altLang="ko-KR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54CDE-32A1-474B-A1A7-B2AE31A053DC}" type="datetime1">
              <a:rPr lang="en-US" altLang="ko-KR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2E487-4CBF-4938-A927-D22297E05349}" type="datetime1">
              <a:rPr lang="en-US" altLang="ko-KR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F8D2E-2F69-417D-9B17-4140C005495E}" type="datetime1">
              <a:rPr lang="en-US" altLang="ko-KR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90963-C5EF-42F4-8651-C8B07638FE5F}" type="datetime1">
              <a:rPr lang="en-US" altLang="ko-KR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search/cs?searchtype=author&amp;query=Sutherland,+D+J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5808" y="10052689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486400" y="6854143"/>
            <a:ext cx="7315199" cy="448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706"/>
              </a:lnSpc>
              <a:spcBef>
                <a:spcPct val="0"/>
              </a:spcBef>
            </a:pPr>
            <a:r>
              <a:rPr lang="en-US" altLang="ko-KR" sz="2800" dirty="0" err="1"/>
              <a:t>Tianwei</a:t>
            </a:r>
            <a:r>
              <a:rPr lang="en-US" altLang="ko-KR" sz="2800" dirty="0"/>
              <a:t> Lin, </a:t>
            </a:r>
            <a:r>
              <a:rPr lang="en-US" altLang="ko-KR" sz="2800" dirty="0" err="1"/>
              <a:t>Wenqiao</a:t>
            </a:r>
            <a:r>
              <a:rPr lang="en-US" altLang="ko-KR" sz="2800" dirty="0"/>
              <a:t> Zhang, </a:t>
            </a:r>
            <a:r>
              <a:rPr lang="en-US" altLang="ko-KR" sz="2800" dirty="0" err="1"/>
              <a:t>Sijing</a:t>
            </a:r>
            <a:r>
              <a:rPr lang="en-US" altLang="ko-KR" sz="2800" dirty="0"/>
              <a:t> Li, </a:t>
            </a:r>
            <a:r>
              <a:rPr lang="en-US" altLang="ko-KR" sz="2800" dirty="0" err="1"/>
              <a:t>Yuqian</a:t>
            </a:r>
            <a:r>
              <a:rPr lang="en-US" altLang="ko-KR" sz="2800" dirty="0"/>
              <a:t> Yuan</a:t>
            </a:r>
            <a:endParaRPr lang="en-US" sz="2647" u="sng" dirty="0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  <a:hlinkClick r:id="rId2" tooltip="https://arxiv.org/search/cs?searchtype=author&amp;query=Sutherland,+D+J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781050"/>
            <a:ext cx="1642428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99326" y="1142544"/>
            <a:ext cx="15559466" cy="43773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923"/>
              </a:lnSpc>
            </a:pPr>
            <a:r>
              <a:rPr lang="en-US" altLang="ko-KR" sz="4800" dirty="0" err="1"/>
              <a:t>HealthGPT</a:t>
            </a:r>
            <a:r>
              <a:rPr lang="en-US" altLang="ko-KR" sz="4800" dirty="0"/>
              <a:t>: A Medical Large Vision-Language Model for Unifying Comprehension and Generation via Heterogeneous Knowledge Adaptation</a:t>
            </a:r>
            <a:endParaRPr lang="en-US" sz="4800" spc="-103" dirty="0">
              <a:solidFill>
                <a:srgbClr val="191919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52400" y="9573972"/>
            <a:ext cx="2975952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u="none" strike="noStrike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2025.9.25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911114" y="9533567"/>
            <a:ext cx="2975952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 err="1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YunSung</a:t>
            </a: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 Byun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4C8435-A8BC-D4AF-C15C-41A7B0E886D6}"/>
              </a:ext>
            </a:extLst>
          </p:cNvPr>
          <p:cNvSpPr txBox="1"/>
          <p:nvPr/>
        </p:nvSpPr>
        <p:spPr>
          <a:xfrm>
            <a:off x="8151628" y="5638683"/>
            <a:ext cx="22548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/>
              <a:t>ICML</a:t>
            </a:r>
            <a:r>
              <a:rPr lang="ko-KR" altLang="en-US" sz="3600" dirty="0"/>
              <a:t> </a:t>
            </a:r>
            <a:r>
              <a:rPr lang="en-US" altLang="ko-KR" sz="3600" dirty="0"/>
              <a:t>2025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0868" y="10052241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533948" y="1436071"/>
            <a:ext cx="3918154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56"/>
              </a:lnSpc>
              <a:spcBef>
                <a:spcPct val="0"/>
              </a:spcBef>
            </a:pPr>
            <a:r>
              <a:rPr lang="en-US" altLang="ko-KR" sz="5400" dirty="0">
                <a:latin typeface="Glacial Indifference" panose="020B0600000101010101" charset="0"/>
              </a:rPr>
              <a:t>Introduction</a:t>
            </a:r>
            <a:endParaRPr lang="en-US" sz="5400" spc="-182" dirty="0">
              <a:solidFill>
                <a:srgbClr val="191919"/>
              </a:solidFill>
              <a:latin typeface="Glacial Indifference" panose="020B0600000101010101" charset="0"/>
              <a:ea typeface="윤고딕"/>
              <a:cs typeface="윤고딕"/>
              <a:sym typeface="윤고딕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533948" y="3210453"/>
            <a:ext cx="6734252" cy="719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56"/>
              </a:lnSpc>
              <a:spcBef>
                <a:spcPct val="0"/>
              </a:spcBef>
            </a:pPr>
            <a:r>
              <a:rPr lang="en-US" altLang="ko-KR" sz="5400" dirty="0" err="1">
                <a:latin typeface="Glacial Indifference" panose="020B0600000101010101" charset="0"/>
              </a:rPr>
              <a:t>HealthGPT</a:t>
            </a:r>
            <a:endParaRPr lang="en-US" sz="5400" spc="-182" dirty="0">
              <a:solidFill>
                <a:srgbClr val="191919"/>
              </a:solidFill>
              <a:latin typeface="Glacial Indifference" panose="020B0600000101010101" charset="0"/>
              <a:ea typeface="윤고딕"/>
              <a:cs typeface="윤고딕"/>
              <a:sym typeface="윤고딕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533948" y="5018287"/>
            <a:ext cx="11001452" cy="7214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56"/>
              </a:lnSpc>
              <a:spcBef>
                <a:spcPct val="0"/>
              </a:spcBef>
            </a:pPr>
            <a:r>
              <a:rPr lang="en-US" altLang="ko-KR" sz="5400" dirty="0">
                <a:latin typeface="Glacial Indifference" panose="020B0600000101010101" charset="0"/>
              </a:rPr>
              <a:t>Experiments</a:t>
            </a:r>
            <a:endParaRPr lang="en-US" altLang="ko-KR" sz="5400" spc="-65" dirty="0">
              <a:solidFill>
                <a:srgbClr val="191919"/>
              </a:solidFill>
              <a:latin typeface="Glacial Indifference" panose="020B0600000101010101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529032" y="6747364"/>
            <a:ext cx="3386368" cy="14362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56"/>
              </a:lnSpc>
              <a:spcBef>
                <a:spcPct val="0"/>
              </a:spcBef>
            </a:pPr>
            <a:r>
              <a:rPr lang="en-US" altLang="ko-KR" sz="5400" spc="-65" dirty="0">
                <a:solidFill>
                  <a:srgbClr val="191919"/>
                </a:solidFill>
                <a:latin typeface="Glacial Indifference" panose="020B0600000101010101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Conclusion</a:t>
            </a:r>
          </a:p>
          <a:p>
            <a:pPr algn="l">
              <a:lnSpc>
                <a:spcPts val="5556"/>
              </a:lnSpc>
              <a:spcBef>
                <a:spcPct val="0"/>
              </a:spcBef>
            </a:pPr>
            <a:endParaRPr lang="en-US" sz="5400" spc="-182" dirty="0">
              <a:solidFill>
                <a:srgbClr val="191919"/>
              </a:solidFill>
              <a:latin typeface="Glacial Indifference" panose="020B0600000101010101" charset="0"/>
              <a:ea typeface="윤고딕"/>
              <a:cs typeface="윤고딕"/>
              <a:sym typeface="윤고딕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787931" y="973333"/>
            <a:ext cx="1268309" cy="1643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3481"/>
              </a:lnSpc>
              <a:spcBef>
                <a:spcPct val="0"/>
              </a:spcBef>
            </a:pPr>
            <a:r>
              <a:rPr lang="en-US" sz="9629" u="none" strike="noStrike" dirty="0">
                <a:solidFill>
                  <a:srgbClr val="191919"/>
                </a:solidFill>
                <a:latin typeface="Glacial Indifference" panose="020B0600000101010101" charset="0"/>
                <a:ea typeface="Beautifully Delicious Script"/>
                <a:cs typeface="Beautifully Delicious Script"/>
                <a:sym typeface="Beautifully Delicious Script"/>
              </a:rPr>
              <a:t>1.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87930" y="2665736"/>
            <a:ext cx="1268310" cy="1607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3481"/>
              </a:lnSpc>
              <a:spcBef>
                <a:spcPct val="0"/>
              </a:spcBef>
            </a:pPr>
            <a:r>
              <a:rPr lang="en-US" sz="9629" dirty="0">
                <a:solidFill>
                  <a:srgbClr val="191919"/>
                </a:solidFill>
                <a:latin typeface="Glacial Indifference" panose="020B0600000101010101" charset="0"/>
                <a:ea typeface="Beautifully Delicious Script"/>
                <a:cs typeface="Beautifully Delicious Script"/>
                <a:sym typeface="Beautifully Delicious Script"/>
              </a:rPr>
              <a:t>2.</a:t>
            </a:r>
            <a:endParaRPr lang="en-US" sz="9629" u="none" strike="noStrike" dirty="0">
              <a:solidFill>
                <a:srgbClr val="191919"/>
              </a:solidFill>
              <a:latin typeface="Glacial Indifference" panose="020B0600000101010101" charset="0"/>
              <a:ea typeface="Beautifully Delicious Script"/>
              <a:cs typeface="Beautifully Delicious Script"/>
              <a:sym typeface="Beautifully Delicious Scrip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787930" y="4384387"/>
            <a:ext cx="1268310" cy="1607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3481"/>
              </a:lnSpc>
              <a:spcBef>
                <a:spcPct val="0"/>
              </a:spcBef>
            </a:pPr>
            <a:r>
              <a:rPr lang="en-US" sz="9629" dirty="0">
                <a:solidFill>
                  <a:srgbClr val="191919"/>
                </a:solidFill>
                <a:latin typeface="Glacial Indifference" panose="020B0600000101010101" charset="0"/>
                <a:ea typeface="Beautifully Delicious Script"/>
                <a:cs typeface="Beautifully Delicious Script"/>
                <a:sym typeface="Beautifully Delicious Script"/>
              </a:rPr>
              <a:t>3</a:t>
            </a:r>
            <a:r>
              <a:rPr lang="en-US" sz="9629" u="none" strike="noStrike" dirty="0">
                <a:solidFill>
                  <a:srgbClr val="191919"/>
                </a:solidFill>
                <a:latin typeface="Glacial Indifference" panose="020B0600000101010101" charset="0"/>
                <a:ea typeface="Beautifully Delicious Script"/>
                <a:cs typeface="Beautifully Delicious Script"/>
                <a:sym typeface="Beautifully Delicious Script"/>
              </a:rPr>
              <a:t>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87930" y="6198904"/>
            <a:ext cx="1268310" cy="1607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3481"/>
              </a:lnSpc>
              <a:spcBef>
                <a:spcPct val="0"/>
              </a:spcBef>
            </a:pPr>
            <a:r>
              <a:rPr lang="en-US" sz="9629" dirty="0">
                <a:solidFill>
                  <a:srgbClr val="191919"/>
                </a:solidFill>
                <a:latin typeface="Glacial Indifference" panose="020B0600000101010101" charset="0"/>
                <a:ea typeface="Beautifully Delicious Script"/>
                <a:cs typeface="Beautifully Delicious Script"/>
                <a:sym typeface="Beautifully Delicious Script"/>
              </a:rPr>
              <a:t>4.</a:t>
            </a:r>
            <a:endParaRPr lang="en-US" sz="9629" u="none" strike="noStrike" dirty="0">
              <a:solidFill>
                <a:srgbClr val="191919"/>
              </a:solidFill>
              <a:latin typeface="Glacial Indifference" panose="020B0600000101010101" charset="0"/>
              <a:ea typeface="Beautifully Delicious Script"/>
              <a:cs typeface="Beautifully Delicious Script"/>
              <a:sym typeface="Beautifully Delicious Script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31319" y="934598"/>
            <a:ext cx="2478904" cy="80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Contents</a:t>
            </a:r>
          </a:p>
        </p:txBody>
      </p:sp>
      <p:sp>
        <p:nvSpPr>
          <p:cNvPr id="20" name="AutoShape 20"/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538BBEA-6728-FD9C-F1A3-C415764866D1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9F137AD9-D6D0-99F5-1B3C-2D1FEAC8E95E}"/>
              </a:ext>
            </a:extLst>
          </p:cNvPr>
          <p:cNvSpPr txBox="1"/>
          <p:nvPr/>
        </p:nvSpPr>
        <p:spPr>
          <a:xfrm>
            <a:off x="17602200" y="9533567"/>
            <a:ext cx="2848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0869" y="10052689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378146" y="781050"/>
            <a:ext cx="388115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599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Introduction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1958" y="851019"/>
            <a:ext cx="3021842" cy="756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3600" dirty="0" err="1"/>
              <a:t>LoRA</a:t>
            </a:r>
            <a:r>
              <a:rPr lang="en-US" altLang="ko-KR" sz="3600" dirty="0"/>
              <a:t> ?</a:t>
            </a:r>
            <a:endParaRPr lang="en-US" sz="3600" spc="-65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A5739373-734D-903B-954C-41E5517D8A6D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43031ECA-815C-C507-F09D-26C76B1ABD71}"/>
              </a:ext>
            </a:extLst>
          </p:cNvPr>
          <p:cNvSpPr txBox="1"/>
          <p:nvPr/>
        </p:nvSpPr>
        <p:spPr>
          <a:xfrm>
            <a:off x="17602200" y="9533567"/>
            <a:ext cx="2848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3</a:t>
            </a: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81FC1163-D37E-A1A2-C453-FA44DE6A9FB7}"/>
              </a:ext>
            </a:extLst>
          </p:cNvPr>
          <p:cNvSpPr txBox="1"/>
          <p:nvPr/>
        </p:nvSpPr>
        <p:spPr>
          <a:xfrm>
            <a:off x="2590799" y="7199164"/>
            <a:ext cx="12884625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79"/>
              </a:lnSpc>
              <a:spcBef>
                <a:spcPct val="0"/>
              </a:spcBef>
            </a:pPr>
            <a:r>
              <a:rPr lang="en-US" altLang="ko-KR" sz="3200" b="1" dirty="0"/>
              <a:t>Low-Rank Adaptation </a:t>
            </a:r>
            <a:r>
              <a:rPr lang="en-US" altLang="ko-KR" sz="3200" dirty="0"/>
              <a:t>: A technique for efficiently fine-tuning large-scale models with billions of parameters.</a:t>
            </a:r>
            <a:endParaRPr lang="en-US" sz="2800" dirty="0">
              <a:solidFill>
                <a:srgbClr val="191919"/>
              </a:solidFill>
              <a:latin typeface="윤고딕 Light"/>
              <a:ea typeface="윤고딕 Light"/>
              <a:cs typeface="윤고딕 Light"/>
              <a:sym typeface="윤고딕 Light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22BE774-FEF7-5240-B2D9-A962E8E6A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389" y="2442839"/>
            <a:ext cx="4328265" cy="36982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2557DAC4-B1B0-3F12-68FF-CF4A12CCC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3112" y="3262111"/>
            <a:ext cx="5156514" cy="135404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21A5577-A5AA-BB8A-6056-78E6FC083A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4972926"/>
            <a:ext cx="5623635" cy="11681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D8339-DD52-6019-A308-573FD48C1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7709200-F389-0612-A40B-2C966DCBB4D1}"/>
              </a:ext>
            </a:extLst>
          </p:cNvPr>
          <p:cNvGrpSpPr/>
          <p:nvPr/>
        </p:nvGrpSpPr>
        <p:grpSpPr>
          <a:xfrm>
            <a:off x="-290869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6A1AE1B-2285-98BA-7A6A-9C35A29B8010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832C1DF-CD73-0D2B-40AE-C4AA1FF92D1B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5B3C8B9E-819E-4C29-1597-6C481BA91C46}"/>
              </a:ext>
            </a:extLst>
          </p:cNvPr>
          <p:cNvSpPr txBox="1"/>
          <p:nvPr/>
        </p:nvSpPr>
        <p:spPr>
          <a:xfrm>
            <a:off x="13378146" y="781050"/>
            <a:ext cx="388115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599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Introduction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FB84DFB-4588-9985-B205-2BB31199450F}"/>
              </a:ext>
            </a:extLst>
          </p:cNvPr>
          <p:cNvSpPr txBox="1"/>
          <p:nvPr/>
        </p:nvSpPr>
        <p:spPr>
          <a:xfrm>
            <a:off x="711958" y="851019"/>
            <a:ext cx="3021842" cy="756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3600" dirty="0"/>
              <a:t>H-</a:t>
            </a:r>
            <a:r>
              <a:rPr lang="en-US" altLang="ko-KR" sz="3600" dirty="0" err="1"/>
              <a:t>LoRA</a:t>
            </a:r>
            <a:r>
              <a:rPr lang="en-US" altLang="ko-KR" sz="3600" dirty="0"/>
              <a:t> ?</a:t>
            </a:r>
            <a:endParaRPr lang="en-US" sz="3600" spc="-65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365736D3-EF99-D17E-4549-2127A103A395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77F44569-A3EB-1C4D-D891-B3DEA9B4451A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D610979F-A38D-CE52-C160-B5F9E5682491}"/>
              </a:ext>
            </a:extLst>
          </p:cNvPr>
          <p:cNvSpPr txBox="1"/>
          <p:nvPr/>
        </p:nvSpPr>
        <p:spPr>
          <a:xfrm>
            <a:off x="17602200" y="9533567"/>
            <a:ext cx="2848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4</a:t>
            </a: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31EFA62B-2BED-40F5-F95A-23E589909F98}"/>
              </a:ext>
            </a:extLst>
          </p:cNvPr>
          <p:cNvSpPr txBox="1"/>
          <p:nvPr/>
        </p:nvSpPr>
        <p:spPr>
          <a:xfrm>
            <a:off x="2590800" y="7059772"/>
            <a:ext cx="12884625" cy="9461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79"/>
              </a:lnSpc>
              <a:spcBef>
                <a:spcPct val="0"/>
              </a:spcBef>
            </a:pPr>
            <a:r>
              <a:rPr lang="en-US" altLang="ko-KR" sz="2800" b="1" dirty="0"/>
              <a:t>Heterogeneous-LORA</a:t>
            </a:r>
            <a:r>
              <a:rPr lang="en-US" altLang="ko-KR" sz="2800" dirty="0"/>
              <a:t> : A multi-expert extension of </a:t>
            </a:r>
            <a:r>
              <a:rPr lang="en-US" altLang="ko-KR" sz="2800" dirty="0" err="1"/>
              <a:t>LoRA</a:t>
            </a:r>
            <a:r>
              <a:rPr lang="en-US" altLang="ko-KR" sz="2800" dirty="0"/>
              <a:t> that separates comprehension and generation knowledge into task-specific adapters</a:t>
            </a:r>
            <a:endParaRPr lang="en-US" sz="2800" dirty="0">
              <a:solidFill>
                <a:srgbClr val="191919"/>
              </a:solidFill>
              <a:latin typeface="윤고딕 Light"/>
              <a:ea typeface="윤고딕 Light"/>
              <a:cs typeface="윤고딕 Light"/>
              <a:sym typeface="윤고딕 Light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5BE808C-8EE0-5CBA-6B56-9D2954896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879" y="3742870"/>
            <a:ext cx="12934242" cy="185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630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B365C-3454-F53F-4239-824DB7097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4FCE120-A5CE-FB72-4D49-C34B74134E83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EE4BBFE-8E6E-D6E5-6896-8C19BE39EF6E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D25CA93-45C8-5171-6334-808C35655D4B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DCE210F1-00AC-18C1-FB99-EE0DF096412A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4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Introduction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F462F81-1EE5-2612-5F0B-3D997F968059}"/>
              </a:ext>
            </a:extLst>
          </p:cNvPr>
          <p:cNvSpPr txBox="1"/>
          <p:nvPr/>
        </p:nvSpPr>
        <p:spPr>
          <a:xfrm>
            <a:off x="533399" y="828675"/>
            <a:ext cx="3276389" cy="756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3600" dirty="0"/>
              <a:t>VQGAN?</a:t>
            </a:r>
            <a:endParaRPr lang="en-US" sz="3600" spc="-65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5835A241-15CC-7E26-6665-12D88F643CA2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B4E2E105-E3AB-B43F-A914-6588E5640F60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8FB19E-ABCA-B8C1-E2D7-524FEAC50448}"/>
              </a:ext>
            </a:extLst>
          </p:cNvPr>
          <p:cNvSpPr txBox="1"/>
          <p:nvPr/>
        </p:nvSpPr>
        <p:spPr>
          <a:xfrm>
            <a:off x="1948786" y="6803648"/>
            <a:ext cx="1439042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b="1" dirty="0"/>
              <a:t>Encoder</a:t>
            </a:r>
            <a:r>
              <a:rPr lang="en-US" altLang="ko-KR" sz="3600" dirty="0"/>
              <a:t>: Compresses an input image into a very small sequence of discrete numerical codes (index sequences).</a:t>
            </a:r>
          </a:p>
          <a:p>
            <a:r>
              <a:rPr lang="en-US" altLang="ko-KR" sz="3600" b="1" dirty="0"/>
              <a:t>Decoder</a:t>
            </a:r>
            <a:r>
              <a:rPr lang="en-US" altLang="ko-KR" sz="3600" dirty="0"/>
              <a:t>: Takes these numerical codes as input and reconstructs them into a high-quality image similar to the original.</a:t>
            </a:r>
          </a:p>
          <a:p>
            <a:endParaRPr lang="ko-KR" altLang="en-US" sz="3600" dirty="0">
              <a:latin typeface="+mj-lt"/>
            </a:endParaRP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52CB7C61-8E02-25EA-93F6-9E6F226DC4C8}"/>
              </a:ext>
            </a:extLst>
          </p:cNvPr>
          <p:cNvSpPr txBox="1"/>
          <p:nvPr/>
        </p:nvSpPr>
        <p:spPr>
          <a:xfrm>
            <a:off x="17622134" y="9533567"/>
            <a:ext cx="2848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5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149620A-B751-530D-EAAA-99AF31AC0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2004191"/>
            <a:ext cx="10363200" cy="424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557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C7729-5671-95A4-1473-B080D5669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AB70018-95F4-E626-0C25-F1A0CA48EFA8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5CDEE6D-9C7C-0E15-CCC3-BDF2AAA46E04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6E81A01-6BB3-9E3D-2CA4-249926E9E2AF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95FA3119-3D06-A3FC-13D2-8DECFA220F6E}"/>
              </a:ext>
            </a:extLst>
          </p:cNvPr>
          <p:cNvSpPr txBox="1"/>
          <p:nvPr/>
        </p:nvSpPr>
        <p:spPr>
          <a:xfrm>
            <a:off x="12420600" y="514486"/>
            <a:ext cx="4838700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556"/>
              </a:lnSpc>
              <a:spcBef>
                <a:spcPct val="0"/>
              </a:spcBef>
            </a:pPr>
            <a:r>
              <a:rPr lang="en-US" altLang="ko-KR" sz="2400" spc="-65" dirty="0">
                <a:solidFill>
                  <a:srgbClr val="191919"/>
                </a:solidFill>
                <a:latin typeface="Glacial Indifference" panose="020B0600000101010101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Introduction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A6DA00C-69FE-04F2-5831-888E61B8951C}"/>
              </a:ext>
            </a:extLst>
          </p:cNvPr>
          <p:cNvSpPr txBox="1"/>
          <p:nvPr/>
        </p:nvSpPr>
        <p:spPr>
          <a:xfrm>
            <a:off x="457200" y="777212"/>
            <a:ext cx="4162214" cy="797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800" dirty="0"/>
              <a:t>Contribution</a:t>
            </a:r>
            <a:endParaRPr lang="en-US" sz="4706" spc="-65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04127906-69D5-1802-1C81-A819859EDCA6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1971494-FBB9-5FB5-3030-AE6998B09C7A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333044-3171-89C2-56FA-555C17A268AF}"/>
              </a:ext>
            </a:extLst>
          </p:cNvPr>
          <p:cNvSpPr txBox="1"/>
          <p:nvPr/>
        </p:nvSpPr>
        <p:spPr>
          <a:xfrm>
            <a:off x="1447800" y="2353019"/>
            <a:ext cx="164592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AutoNum type="arabicPeriod"/>
            </a:pPr>
            <a:r>
              <a:rPr lang="en-US" altLang="ko-KR" sz="3600" dirty="0"/>
              <a:t>The First Unified Medical Vision-Language Model</a:t>
            </a:r>
          </a:p>
          <a:p>
            <a:r>
              <a:rPr lang="en-US" altLang="ko-KR" sz="3600" dirty="0"/>
              <a:t>     - </a:t>
            </a:r>
            <a:r>
              <a:rPr lang="en-US" altLang="ko-KR" sz="3600" b="1" dirty="0"/>
              <a:t>first model</a:t>
            </a:r>
            <a:r>
              <a:rPr lang="en-US" altLang="ko-KR" sz="3600" dirty="0"/>
              <a:t> to integrate both image </a:t>
            </a:r>
            <a:r>
              <a:rPr lang="en-US" altLang="ko-KR" sz="3600" b="1" dirty="0"/>
              <a:t>comprehension</a:t>
            </a:r>
            <a:r>
              <a:rPr lang="en-US" altLang="ko-KR" sz="3600" dirty="0"/>
              <a:t> and </a:t>
            </a:r>
            <a:r>
              <a:rPr lang="en-US" altLang="ko-KR" sz="3600" b="1" dirty="0"/>
              <a:t>generation</a:t>
            </a:r>
            <a:r>
              <a:rPr lang="en-US" altLang="ko-KR" sz="3600" dirty="0"/>
              <a:t> within a single         framework</a:t>
            </a:r>
          </a:p>
          <a:p>
            <a:pPr marL="742950" indent="-742950">
              <a:buAutoNum type="arabicPeriod"/>
            </a:pPr>
            <a:endParaRPr lang="en-US" altLang="ko-KR" sz="3600" dirty="0">
              <a:latin typeface="+mj-lt"/>
            </a:endParaRPr>
          </a:p>
          <a:p>
            <a:pPr marL="742950" indent="-742950">
              <a:buAutoNum type="arabicPeriod" startAt="2"/>
            </a:pPr>
            <a:r>
              <a:rPr lang="en-US" altLang="ko-KR" sz="3600" dirty="0"/>
              <a:t>Effective Learning Paradigm (H-LORA)</a:t>
            </a:r>
          </a:p>
          <a:p>
            <a:r>
              <a:rPr lang="en-US" altLang="ko-KR" sz="3600" dirty="0"/>
              <a:t>     - optimized learning architecture called </a:t>
            </a:r>
            <a:r>
              <a:rPr lang="en-US" altLang="ko-KR" sz="3600" b="1" dirty="0"/>
              <a:t>H-LORA</a:t>
            </a:r>
            <a:r>
              <a:rPr lang="en-US" altLang="ko-KR" sz="3600" dirty="0"/>
              <a:t> was proposed</a:t>
            </a:r>
          </a:p>
          <a:p>
            <a:pPr marL="742950" indent="-742950">
              <a:buAutoNum type="arabicPeriod"/>
            </a:pPr>
            <a:endParaRPr lang="en-US" altLang="ko-KR" sz="3600" dirty="0"/>
          </a:p>
          <a:p>
            <a:r>
              <a:rPr lang="en-US" altLang="ko-KR" sz="3600" dirty="0"/>
              <a:t>3.    Comprehensive Training Dataset (VL-Health)</a:t>
            </a:r>
          </a:p>
          <a:p>
            <a:r>
              <a:rPr lang="en-US" altLang="ko-KR" sz="3600" dirty="0">
                <a:latin typeface="+mj-lt"/>
              </a:rPr>
              <a:t>     - </a:t>
            </a:r>
            <a:r>
              <a:rPr lang="en-US" altLang="ko-KR" sz="3600" dirty="0"/>
              <a:t>To effectively train the unified model a </a:t>
            </a:r>
            <a:r>
              <a:rPr lang="en-US" altLang="ko-KR" sz="3600" b="1" dirty="0"/>
              <a:t>comprehensive dataset called VL-Health</a:t>
            </a:r>
          </a:p>
          <a:p>
            <a:endParaRPr lang="en-US" altLang="ko-KR" sz="3600" dirty="0">
              <a:latin typeface="+mj-lt"/>
            </a:endParaRPr>
          </a:p>
          <a:p>
            <a:r>
              <a:rPr lang="en-US" altLang="ko-KR" sz="3600" dirty="0"/>
              <a:t>4.    Proven Superior Performance</a:t>
            </a:r>
          </a:p>
          <a:p>
            <a:r>
              <a:rPr lang="en-US" altLang="ko-KR" sz="3600" dirty="0">
                <a:latin typeface="+mj-lt"/>
              </a:rPr>
              <a:t>     - </a:t>
            </a:r>
            <a:r>
              <a:rPr lang="en-US" altLang="ko-KR" sz="3600" dirty="0" err="1"/>
              <a:t>HealthGPT</a:t>
            </a:r>
            <a:r>
              <a:rPr lang="en-US" altLang="ko-KR" sz="3600" dirty="0"/>
              <a:t> achieved </a:t>
            </a:r>
            <a:r>
              <a:rPr lang="en-US" altLang="ko-KR" sz="3600" b="1" dirty="0"/>
              <a:t>state-of-the-art (SOTA) performance</a:t>
            </a:r>
            <a:endParaRPr lang="en-US" altLang="ko-KR" sz="3600" dirty="0">
              <a:latin typeface="+mj-lt"/>
            </a:endParaRP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649774ED-6768-6553-5188-A365B4C0D89F}"/>
              </a:ext>
            </a:extLst>
          </p:cNvPr>
          <p:cNvSpPr txBox="1"/>
          <p:nvPr/>
        </p:nvSpPr>
        <p:spPr>
          <a:xfrm>
            <a:off x="17259300" y="9533567"/>
            <a:ext cx="647700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53740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95552-0FEE-1DF6-0DC7-70F0F9F03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38E73A8-F38D-91B7-576A-3E2FF13510BF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FB4E806-49FF-E7B4-B3E3-AE91F5F030E1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0D2BF01-D555-BADF-CA37-53DF97746C58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25F4AE9C-703B-1D64-60F1-5599B1CBAFCC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 dirty="0" err="1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HealthGPT</a:t>
            </a:r>
            <a:endParaRPr lang="en-US" sz="2599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47FBA65-B21C-6561-ED56-73036018F91E}"/>
              </a:ext>
            </a:extLst>
          </p:cNvPr>
          <p:cNvSpPr txBox="1"/>
          <p:nvPr/>
        </p:nvSpPr>
        <p:spPr>
          <a:xfrm>
            <a:off x="31955" y="828675"/>
            <a:ext cx="4159045" cy="793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 err="1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HealthGPT</a:t>
            </a:r>
            <a:endParaRPr lang="en-US" sz="4706" spc="-65" dirty="0">
              <a:solidFill>
                <a:srgbClr val="191919"/>
              </a:solidFill>
              <a:latin typeface="+mj-lt"/>
              <a:ea typeface="윤고딕"/>
              <a:cs typeface="윤고딕"/>
              <a:sym typeface="윤고딕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9707C8EA-550D-A197-50F7-F61BB8D7DFEF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F67A6425-BA08-B524-BFCB-3AE217C19154}"/>
              </a:ext>
            </a:extLst>
          </p:cNvPr>
          <p:cNvSpPr txBox="1"/>
          <p:nvPr/>
        </p:nvSpPr>
        <p:spPr>
          <a:xfrm>
            <a:off x="609599" y="7706237"/>
            <a:ext cx="17068800" cy="1723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2800" b="1" dirty="0"/>
              <a:t>Basic Structure:</a:t>
            </a:r>
            <a:r>
              <a:rPr lang="en-US" altLang="ko-KR" sz="2800" dirty="0"/>
              <a:t> Uses a Vision Transformer (</a:t>
            </a:r>
            <a:r>
              <a:rPr lang="en-US" altLang="ko-KR" sz="2800" dirty="0" err="1"/>
              <a:t>ViT</a:t>
            </a:r>
            <a:r>
              <a:rPr lang="en-US" altLang="ko-KR" sz="2800" dirty="0"/>
              <a:t>)–based encoder such as CLIP-L/14</a:t>
            </a:r>
          </a:p>
          <a:p>
            <a:endParaRPr lang="en-US" altLang="ko-KR" sz="2800" dirty="0"/>
          </a:p>
          <a:p>
            <a:r>
              <a:rPr lang="en-US" altLang="ko-KR" sz="2800" b="1" dirty="0"/>
              <a:t>Output Format:</a:t>
            </a:r>
            <a:r>
              <a:rPr lang="en-US" altLang="ko-KR" sz="2800" dirty="0"/>
              <a:t> The image is divided into small patches, which are converted into token-level continuous vector sequences (Visual Embeddings)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5CA07042-7023-A9AF-E300-9479E2165C44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E8040A07-19B7-EE26-F2AE-602D42B70937}"/>
              </a:ext>
            </a:extLst>
          </p:cNvPr>
          <p:cNvSpPr txBox="1"/>
          <p:nvPr/>
        </p:nvSpPr>
        <p:spPr>
          <a:xfrm>
            <a:off x="17678400" y="9533567"/>
            <a:ext cx="2848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7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C6D7ED8-306E-675D-4535-F77CC061C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151" y="1859701"/>
            <a:ext cx="12447695" cy="5677387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1E69A3B2-6D3E-76D0-41F1-C9AFB46B5ACD}"/>
              </a:ext>
            </a:extLst>
          </p:cNvPr>
          <p:cNvSpPr/>
          <p:nvPr/>
        </p:nvSpPr>
        <p:spPr>
          <a:xfrm>
            <a:off x="2920151" y="1859701"/>
            <a:ext cx="4014049" cy="567738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3822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CD0DC-DF3E-2D50-FC8F-2FACE5045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060D354-9C35-7635-E367-EC17F6515B3F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2006BCB-7DC2-5D1E-6F25-A70D478BA6CF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DBDEA42-DEE3-78F9-1CA0-DAE784ED3109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EA4D31F9-D3F9-5793-6DA2-2FE7B36D8BBF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 dirty="0" err="1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HealthGPT</a:t>
            </a:r>
            <a:endParaRPr lang="en-US" sz="2599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8E6E9DB-6D4C-4DD8-8901-1481A7194B98}"/>
              </a:ext>
            </a:extLst>
          </p:cNvPr>
          <p:cNvSpPr txBox="1"/>
          <p:nvPr/>
        </p:nvSpPr>
        <p:spPr>
          <a:xfrm>
            <a:off x="31955" y="828675"/>
            <a:ext cx="4159045" cy="793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 err="1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HealthGPT</a:t>
            </a:r>
            <a:endParaRPr lang="en-US" sz="4706" spc="-65" dirty="0">
              <a:solidFill>
                <a:srgbClr val="191919"/>
              </a:solidFill>
              <a:latin typeface="+mj-lt"/>
              <a:ea typeface="윤고딕"/>
              <a:cs typeface="윤고딕"/>
              <a:sym typeface="윤고딕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8A57BB67-1251-1760-9C39-3DEADE00DFEF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035CC295-AD13-966C-73A1-70198FFF2AE2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851315F3-F92F-DC9C-36F1-EE1058456F1D}"/>
              </a:ext>
            </a:extLst>
          </p:cNvPr>
          <p:cNvSpPr txBox="1"/>
          <p:nvPr/>
        </p:nvSpPr>
        <p:spPr>
          <a:xfrm>
            <a:off x="17678400" y="9533567"/>
            <a:ext cx="2848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8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D7CD006-4ED9-E65C-955F-CDAC65AE5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151" y="1859701"/>
            <a:ext cx="12447695" cy="5677387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47BD8A69-BE31-8372-9981-3AA6835AEC3B}"/>
              </a:ext>
            </a:extLst>
          </p:cNvPr>
          <p:cNvSpPr/>
          <p:nvPr/>
        </p:nvSpPr>
        <p:spPr>
          <a:xfrm>
            <a:off x="6858000" y="1890602"/>
            <a:ext cx="7315200" cy="567738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C28F8655-3765-F1F9-B52F-5BEE7326485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38200" y="7880946"/>
            <a:ext cx="160020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Basic</a:t>
            </a:r>
            <a:r>
              <a:rPr kumimoji="0" lang="ko-KR" altLang="ko-K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ko-KR" altLang="ko-K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Structure</a:t>
            </a:r>
            <a:r>
              <a:rPr kumimoji="0" lang="ko-KR" altLang="ko-K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Multiple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Transformer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decoder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blocks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with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H-LoRA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adapters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task-specific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experts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+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router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</a:t>
            </a:r>
            <a:endParaRPr kumimoji="0" lang="en-US" altLang="ko-K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ko-KR" altLang="ko-K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Output</a:t>
            </a:r>
            <a:r>
              <a:rPr kumimoji="0" lang="ko-KR" altLang="ko-K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ko-KR" altLang="ko-K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Format</a:t>
            </a:r>
            <a:r>
              <a:rPr kumimoji="0" lang="ko-KR" altLang="ko-K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Generates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either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text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tokens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for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comprehension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or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VQ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indices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for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image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generation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</a:t>
            </a:r>
            <a:endParaRPr kumimoji="0" lang="en-US" altLang="ko-K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07591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69362-DB5C-AD91-EA42-8B2D97865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66C916D-038C-FFA3-FC83-994474773CF7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CB4BD6C-CD65-ED2B-7B38-344B68953682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9CBD009-BC6D-EB29-EA87-BF463995E3AC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A0477DB2-7BB9-6324-7D23-CDD2F043088D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 dirty="0" err="1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HealthGPT</a:t>
            </a:r>
            <a:endParaRPr lang="en-US" sz="2599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F58F31C-933B-E526-ED38-45396C71FBAC}"/>
              </a:ext>
            </a:extLst>
          </p:cNvPr>
          <p:cNvSpPr txBox="1"/>
          <p:nvPr/>
        </p:nvSpPr>
        <p:spPr>
          <a:xfrm>
            <a:off x="31955" y="828675"/>
            <a:ext cx="4159045" cy="793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 err="1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HealthGPT</a:t>
            </a:r>
            <a:endParaRPr lang="en-US" sz="4706" spc="-65" dirty="0">
              <a:solidFill>
                <a:srgbClr val="191919"/>
              </a:solidFill>
              <a:latin typeface="+mj-lt"/>
              <a:ea typeface="윤고딕"/>
              <a:cs typeface="윤고딕"/>
              <a:sym typeface="윤고딕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143FB946-8633-76B8-105F-37A0A1C6C29E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BCA60D67-F84D-296A-C1DA-329A641CAA08}"/>
              </a:ext>
            </a:extLst>
          </p:cNvPr>
          <p:cNvSpPr txBox="1"/>
          <p:nvPr/>
        </p:nvSpPr>
        <p:spPr>
          <a:xfrm>
            <a:off x="1369023" y="7625176"/>
            <a:ext cx="15549949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2400" b="1" dirty="0"/>
              <a:t>Comp. Visual Adapter (for Comprehension)</a:t>
            </a:r>
            <a:br>
              <a:rPr lang="en-US" altLang="ko-KR" sz="2400" dirty="0"/>
            </a:br>
            <a:r>
              <a:rPr lang="en-US" altLang="ko-KR" sz="2400" dirty="0"/>
              <a:t>Emphasizes abstracted features of the image to support tasks such as summarization, analysis, and visual question answering.</a:t>
            </a:r>
          </a:p>
          <a:p>
            <a:br>
              <a:rPr lang="en-US" altLang="ko-KR" sz="2400" dirty="0"/>
            </a:br>
            <a:r>
              <a:rPr lang="en-US" altLang="ko-KR" sz="2400" b="1" dirty="0"/>
              <a:t>Gen. Visual Adapter (for Generation)</a:t>
            </a:r>
            <a:br>
              <a:rPr lang="en-US" altLang="ko-KR" sz="2400" dirty="0"/>
            </a:br>
            <a:r>
              <a:rPr lang="en-US" altLang="ko-KR" sz="2400" dirty="0"/>
              <a:t>Preserves fine-grained details necessary for reconstructing the image as-is or transforming it into another form.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00984BA8-7E69-28C1-65E1-7FAB2B53E956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B00F18A8-1EE3-DF33-194A-50663B8F3382}"/>
              </a:ext>
            </a:extLst>
          </p:cNvPr>
          <p:cNvSpPr txBox="1"/>
          <p:nvPr/>
        </p:nvSpPr>
        <p:spPr>
          <a:xfrm>
            <a:off x="17678400" y="9533567"/>
            <a:ext cx="2848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9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5D5D71E-8392-6B2C-6974-E2295F004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151" y="1859701"/>
            <a:ext cx="12447695" cy="5677387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6B356004-FE40-3119-78D7-68EB743379F7}"/>
              </a:ext>
            </a:extLst>
          </p:cNvPr>
          <p:cNvSpPr/>
          <p:nvPr/>
        </p:nvSpPr>
        <p:spPr>
          <a:xfrm>
            <a:off x="2920151" y="5372099"/>
            <a:ext cx="4014049" cy="205894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1607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BD4FA-3E29-F1DE-0843-F7AB40990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61D2FA1-54CB-6CA5-C57A-EEA0A101D2D2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CB73849-20F6-53F1-D933-5B7DC0FF61D8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AC7FA4C-A4E2-5ACB-EFB6-FBEBFBBFC47B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33F121E4-36C6-54CA-10CA-73C7F7543B9A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 dirty="0" err="1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HealthGPT</a:t>
            </a:r>
            <a:endParaRPr lang="en-US" sz="2599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E93782E-A073-93D1-F718-63F099BC86A3}"/>
              </a:ext>
            </a:extLst>
          </p:cNvPr>
          <p:cNvSpPr txBox="1"/>
          <p:nvPr/>
        </p:nvSpPr>
        <p:spPr>
          <a:xfrm>
            <a:off x="31955" y="828675"/>
            <a:ext cx="4159045" cy="793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 err="1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HealthGPT</a:t>
            </a:r>
            <a:endParaRPr lang="en-US" sz="4706" spc="-65" dirty="0">
              <a:solidFill>
                <a:srgbClr val="191919"/>
              </a:solidFill>
              <a:latin typeface="+mj-lt"/>
              <a:ea typeface="윤고딕"/>
              <a:cs typeface="윤고딕"/>
              <a:sym typeface="윤고딕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2CA6E6CD-2161-C0F1-66DB-CB38AEF5F29F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C066EC4C-1175-B927-17D5-69353A1899F6}"/>
              </a:ext>
            </a:extLst>
          </p:cNvPr>
          <p:cNvSpPr txBox="1"/>
          <p:nvPr/>
        </p:nvSpPr>
        <p:spPr>
          <a:xfrm>
            <a:off x="1369023" y="8085696"/>
            <a:ext cx="15549949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3200" b="1" dirty="0"/>
              <a:t>Input</a:t>
            </a:r>
            <a:r>
              <a:rPr lang="en-US" altLang="ko-KR" sz="3200" dirty="0"/>
              <a:t> : Medical Instruction &amp; Answer (Question/Instruction/Explanation) </a:t>
            </a:r>
          </a:p>
          <a:p>
            <a:r>
              <a:rPr lang="en-US" altLang="ko-KR" sz="3200" b="1" dirty="0"/>
              <a:t>Tokenization → Embedding </a:t>
            </a:r>
            <a:r>
              <a:rPr lang="en-US" altLang="ko-KR" sz="3200" dirty="0"/>
              <a:t>: </a:t>
            </a:r>
            <a:r>
              <a:rPr lang="en-US" altLang="ko-KR" sz="3200" dirty="0" err="1"/>
              <a:t>Subword</a:t>
            </a:r>
            <a:r>
              <a:rPr lang="en-US" altLang="ko-KR" sz="3200" dirty="0"/>
              <a:t> Token → Text Embedding.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2D319DDE-B31F-0FD3-881F-61C92550C5EA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78738C99-9F47-E3BD-67EC-F8F412CD2EB2}"/>
              </a:ext>
            </a:extLst>
          </p:cNvPr>
          <p:cNvSpPr txBox="1"/>
          <p:nvPr/>
        </p:nvSpPr>
        <p:spPr>
          <a:xfrm>
            <a:off x="17068800" y="9533567"/>
            <a:ext cx="8944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10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1CFE733-41E4-AE44-0129-647D028A1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151" y="1859701"/>
            <a:ext cx="12447695" cy="5677387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DC0AF757-852E-51FF-2037-69562829E5BA}"/>
              </a:ext>
            </a:extLst>
          </p:cNvPr>
          <p:cNvSpPr/>
          <p:nvPr/>
        </p:nvSpPr>
        <p:spPr>
          <a:xfrm>
            <a:off x="6934201" y="5372100"/>
            <a:ext cx="3733800" cy="22090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6011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23E87-30E3-7166-4F37-34C0952C1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EF2848F-5992-DE74-BD46-E50A2B5432AA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0E254FE-CCDE-5A20-B52B-8F43E59BA659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B29DF6C-57DB-5DC9-BE5B-033097D016F6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07C2E41E-7410-3F40-E1D8-BA897FB3681A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 dirty="0" err="1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HealthGPT</a:t>
            </a:r>
            <a:endParaRPr lang="en-US" sz="2599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23658E3-42A5-9352-2704-A90446428FC4}"/>
              </a:ext>
            </a:extLst>
          </p:cNvPr>
          <p:cNvSpPr txBox="1"/>
          <p:nvPr/>
        </p:nvSpPr>
        <p:spPr>
          <a:xfrm>
            <a:off x="31955" y="828675"/>
            <a:ext cx="4159045" cy="793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 err="1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HealthGPT</a:t>
            </a:r>
            <a:endParaRPr lang="en-US" sz="4706" spc="-65" dirty="0">
              <a:solidFill>
                <a:srgbClr val="191919"/>
              </a:solidFill>
              <a:latin typeface="+mj-lt"/>
              <a:ea typeface="윤고딕"/>
              <a:cs typeface="윤고딕"/>
              <a:sym typeface="윤고딕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ED3B645C-8944-FA92-C50E-7BE583EE6E27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A4CB1A85-3207-7CDF-9D90-2B47666D0F67}"/>
              </a:ext>
            </a:extLst>
          </p:cNvPr>
          <p:cNvSpPr txBox="1"/>
          <p:nvPr/>
        </p:nvSpPr>
        <p:spPr>
          <a:xfrm>
            <a:off x="1369023" y="8141537"/>
            <a:ext cx="15549949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3200" b="1" dirty="0"/>
              <a:t>Input</a:t>
            </a:r>
            <a:r>
              <a:rPr lang="en-US" altLang="ko-KR" sz="3200" dirty="0"/>
              <a:t> : Medical Generation Image (Ground truth image) — Supervision signal for training </a:t>
            </a:r>
          </a:p>
          <a:p>
            <a:r>
              <a:rPr lang="en-US" altLang="ko-KR" sz="3200" b="1" dirty="0"/>
              <a:t>VQ Indexing: Image → VQ Embedding </a:t>
            </a:r>
            <a:r>
              <a:rPr lang="en-US" altLang="ko-KR" sz="3200" dirty="0"/>
              <a:t>(Discrete code sequence)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32B22E5-4AA8-5B80-7C07-7476D5A6A2C1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8154D327-0E3B-D5AE-4C2B-63CC9DA49BEF}"/>
              </a:ext>
            </a:extLst>
          </p:cNvPr>
          <p:cNvSpPr txBox="1"/>
          <p:nvPr/>
        </p:nvSpPr>
        <p:spPr>
          <a:xfrm>
            <a:off x="17449800" y="9533567"/>
            <a:ext cx="5134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11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D07A000-E364-5854-0B2E-B0A61C8D8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151" y="1859701"/>
            <a:ext cx="12447695" cy="5677387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314F5CCB-490B-ACAF-3707-61DAC7789A3C}"/>
              </a:ext>
            </a:extLst>
          </p:cNvPr>
          <p:cNvSpPr/>
          <p:nvPr/>
        </p:nvSpPr>
        <p:spPr>
          <a:xfrm>
            <a:off x="10668000" y="5372100"/>
            <a:ext cx="3505199" cy="22090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290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758B6-7D2D-AE6A-0D97-AD8A5A952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5DB5A70-36FE-826F-FF00-2F3832C59C0C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B4488DE-218F-FF47-709B-E996559CCF32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2BE9E0F-2AE1-4C24-452E-BDFD7905C78F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77AC8A95-BFF0-2D97-6018-8AE2962FE84D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 dirty="0" err="1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HealthGPT</a:t>
            </a:r>
            <a:endParaRPr lang="en-US" sz="2599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2F0B9A2-1D62-EA4F-744D-B2F9C546C518}"/>
              </a:ext>
            </a:extLst>
          </p:cNvPr>
          <p:cNvSpPr txBox="1"/>
          <p:nvPr/>
        </p:nvSpPr>
        <p:spPr>
          <a:xfrm>
            <a:off x="31955" y="828675"/>
            <a:ext cx="4159045" cy="793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 err="1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HealthGPT</a:t>
            </a:r>
            <a:endParaRPr lang="en-US" sz="4706" spc="-65" dirty="0">
              <a:solidFill>
                <a:srgbClr val="191919"/>
              </a:solidFill>
              <a:latin typeface="+mj-lt"/>
              <a:ea typeface="윤고딕"/>
              <a:cs typeface="윤고딕"/>
              <a:sym typeface="윤고딕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B4E29033-347D-5230-0ACE-877BFD23A211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EF4CA4D9-8CC0-97E7-2B6E-1F36452526A3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63189A69-F10E-3467-0CF9-66700D13B2C8}"/>
              </a:ext>
            </a:extLst>
          </p:cNvPr>
          <p:cNvSpPr txBox="1"/>
          <p:nvPr/>
        </p:nvSpPr>
        <p:spPr>
          <a:xfrm>
            <a:off x="17259300" y="9533567"/>
            <a:ext cx="7039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12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A28A140-FC60-92F0-EE33-8044FB89F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151" y="1859701"/>
            <a:ext cx="12447695" cy="5677387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84F5D6C6-AE8E-B41B-12ED-F91325F198C1}"/>
              </a:ext>
            </a:extLst>
          </p:cNvPr>
          <p:cNvSpPr/>
          <p:nvPr/>
        </p:nvSpPr>
        <p:spPr>
          <a:xfrm>
            <a:off x="3124200" y="3314700"/>
            <a:ext cx="11048999" cy="2057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AD134760-E626-8AE8-3B14-36955BF3D66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09600" y="7519358"/>
            <a:ext cx="166497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Interference</a:t>
            </a:r>
            <a:r>
              <a:rPr kumimoji="0" lang="ko-KR" altLang="ko-K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ko-KR" altLang="ko-K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Prevention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Physically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separate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understanding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and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generation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knowledge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+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dynamically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select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→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minimize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mutual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interference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Per-Token</a:t>
            </a:r>
            <a:r>
              <a:rPr kumimoji="0" lang="ko-KR" altLang="ko-K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ko-KR" altLang="ko-K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Adaptation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Different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combinations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of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experts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can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be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applied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text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segments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image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segments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and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even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different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tokens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within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same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ko-KR" altLang="ko-K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sentence</a:t>
            </a:r>
            <a:r>
              <a:rPr kumimoji="0" lang="ko-KR" altLang="ko-K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2311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36016-FF48-9B37-4DD2-DF2689C07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4F5E7FF-A3FB-4622-82F3-80A48A2651F1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8FE9CD2-4B80-A55E-D3C0-D0544DDFDA39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E208E07-4C1E-A11B-8DB8-72980E67C7DB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1998B0EE-A252-1702-80DF-6D4D96543976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 dirty="0" err="1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HealthGPT</a:t>
            </a:r>
            <a:endParaRPr lang="en-US" sz="2599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A05B5A7-F2BD-4F39-6C27-DE0DBC2C5648}"/>
              </a:ext>
            </a:extLst>
          </p:cNvPr>
          <p:cNvSpPr txBox="1"/>
          <p:nvPr/>
        </p:nvSpPr>
        <p:spPr>
          <a:xfrm>
            <a:off x="31955" y="828675"/>
            <a:ext cx="4159045" cy="793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 err="1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HealthGPT</a:t>
            </a:r>
            <a:endParaRPr lang="en-US" sz="4706" spc="-65" dirty="0">
              <a:solidFill>
                <a:srgbClr val="191919"/>
              </a:solidFill>
              <a:latin typeface="+mj-lt"/>
              <a:ea typeface="윤고딕"/>
              <a:cs typeface="윤고딕"/>
              <a:sym typeface="윤고딕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0129031E-B741-60FC-54B6-D98FFEA1CE16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68EF9A94-FFAD-7F85-D41D-24954EB3AFF0}"/>
              </a:ext>
            </a:extLst>
          </p:cNvPr>
          <p:cNvSpPr txBox="1"/>
          <p:nvPr/>
        </p:nvSpPr>
        <p:spPr>
          <a:xfrm>
            <a:off x="4913609" y="7934856"/>
            <a:ext cx="8460777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3200" dirty="0"/>
              <a:t>Text vocabulary distribution ⟶ </a:t>
            </a:r>
            <a:r>
              <a:rPr lang="en-US" altLang="ko-KR" sz="3200" b="1" dirty="0"/>
              <a:t>Text Decoder path </a:t>
            </a:r>
          </a:p>
          <a:p>
            <a:r>
              <a:rPr lang="en-US" altLang="ko-KR" sz="3200" dirty="0"/>
              <a:t>VQ codebook distribution ⟶ </a:t>
            </a:r>
            <a:r>
              <a:rPr lang="en-US" altLang="ko-KR" sz="3200" b="1" dirty="0"/>
              <a:t>VQ Decoder path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6E1432A1-2DE9-D399-A19F-8B18C7B26E68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17D3838C-96C3-69C3-4FD4-EB9567E9F58A}"/>
              </a:ext>
            </a:extLst>
          </p:cNvPr>
          <p:cNvSpPr txBox="1"/>
          <p:nvPr/>
        </p:nvSpPr>
        <p:spPr>
          <a:xfrm>
            <a:off x="17145000" y="9533567"/>
            <a:ext cx="8182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13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047761B-69CC-CE5B-1686-2C3D9F852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151" y="1859701"/>
            <a:ext cx="12447695" cy="5677387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F0BA7F51-5CED-69C2-3503-AA9B7099DC82}"/>
              </a:ext>
            </a:extLst>
          </p:cNvPr>
          <p:cNvSpPr/>
          <p:nvPr/>
        </p:nvSpPr>
        <p:spPr>
          <a:xfrm>
            <a:off x="3124200" y="1903745"/>
            <a:ext cx="11048999" cy="141095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1199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3C116-8869-39EB-4F0A-46B211689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D1C5AA8-8F4F-7046-D9D8-42A008E648B2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9F494B2-5286-40C7-D53F-038C8F3522FA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47DF342-3911-0970-33B7-AE9FD2BDECB3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D3E042C6-B42C-19C6-BEA0-7028E1FCF84B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/>
              <a:t>Experiments</a:t>
            </a:r>
            <a:endParaRPr lang="en-US" altLang="ko-KR" sz="2800" spc="-65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2CB76C4-76C1-9544-CF0D-9BEC4C14FC87}"/>
              </a:ext>
            </a:extLst>
          </p:cNvPr>
          <p:cNvSpPr txBox="1"/>
          <p:nvPr/>
        </p:nvSpPr>
        <p:spPr>
          <a:xfrm>
            <a:off x="31955" y="828675"/>
            <a:ext cx="4159045" cy="797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800" dirty="0"/>
              <a:t>Data / Setup</a:t>
            </a:r>
            <a:endParaRPr lang="en-US" sz="4706" spc="-65" dirty="0">
              <a:solidFill>
                <a:srgbClr val="191919"/>
              </a:solidFill>
              <a:latin typeface="+mj-lt"/>
              <a:ea typeface="윤고딕"/>
              <a:cs typeface="윤고딕"/>
              <a:sym typeface="윤고딕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D2166D5F-50F7-2D8A-FFAA-F27499DDBD4B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46BEF838-FB8A-3AE9-4513-8425FEF61D59}"/>
              </a:ext>
            </a:extLst>
          </p:cNvPr>
          <p:cNvSpPr txBox="1"/>
          <p:nvPr/>
        </p:nvSpPr>
        <p:spPr>
          <a:xfrm>
            <a:off x="10081881" y="3296839"/>
            <a:ext cx="6592530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4000" b="1" dirty="0"/>
              <a:t>Vision Encoder</a:t>
            </a:r>
            <a:r>
              <a:rPr lang="en-US" altLang="ko-KR" sz="4000" dirty="0"/>
              <a:t>: CLIP-L/14</a:t>
            </a:r>
          </a:p>
          <a:p>
            <a:endParaRPr lang="en-US" altLang="ko-KR" sz="4000" dirty="0"/>
          </a:p>
          <a:p>
            <a:r>
              <a:rPr lang="it-IT" altLang="ko-KR" sz="4000" b="1" dirty="0"/>
              <a:t>Base LLM</a:t>
            </a:r>
            <a:r>
              <a:rPr lang="it-IT" altLang="ko-KR" sz="4000" dirty="0"/>
              <a:t>: </a:t>
            </a:r>
            <a:r>
              <a:rPr lang="it-IT" altLang="ko-KR" sz="4000" b="1" dirty="0"/>
              <a:t>phi-3-mini(3.8B)</a:t>
            </a:r>
            <a:r>
              <a:rPr lang="it-IT" altLang="ko-KR" sz="4000" dirty="0"/>
              <a:t>, </a:t>
            </a:r>
            <a:r>
              <a:rPr lang="it-IT" altLang="ko-KR" sz="4000" b="1" dirty="0"/>
              <a:t>phi-4(14B)</a:t>
            </a:r>
          </a:p>
          <a:p>
            <a:endParaRPr lang="it-IT" altLang="ko-KR" sz="4000" b="1" dirty="0"/>
          </a:p>
          <a:p>
            <a:r>
              <a:rPr lang="en-US" altLang="ko-KR" sz="4000" b="1" dirty="0"/>
              <a:t>VQGAN</a:t>
            </a:r>
            <a:r>
              <a:rPr lang="en-US" altLang="ko-KR" sz="4000" dirty="0"/>
              <a:t>: </a:t>
            </a:r>
            <a:r>
              <a:rPr lang="en-US" altLang="ko-KR" sz="4000" b="1" dirty="0"/>
              <a:t>f8-8192</a:t>
            </a:r>
            <a:r>
              <a:rPr lang="en-US" altLang="ko-KR" sz="4000" dirty="0"/>
              <a:t> version</a:t>
            </a:r>
            <a:endParaRPr lang="en-US" altLang="ko-KR" sz="4000" b="1" dirty="0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14193E6-0749-A66C-C08A-9F90688C50BA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A38112C8-8012-804C-549D-44ED92B0AF04}"/>
              </a:ext>
            </a:extLst>
          </p:cNvPr>
          <p:cNvSpPr txBox="1"/>
          <p:nvPr/>
        </p:nvSpPr>
        <p:spPr>
          <a:xfrm>
            <a:off x="17259300" y="9533567"/>
            <a:ext cx="7039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14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C35B05C-FD7A-FADE-D9DE-9E89766A9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776" y="2587645"/>
            <a:ext cx="7345888" cy="511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612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1B2DA-FC8A-E4C9-2878-78F0A4DF4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33609EF-F979-1B63-C46F-2EB8C39038C2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0BD9E0C-683B-A04A-2F86-4DA9F605391E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8EBED50-6D37-B468-93E5-BB83DE106280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1FF06DF3-D105-5765-3FF7-237F2A6B4B24}"/>
              </a:ext>
            </a:extLst>
          </p:cNvPr>
          <p:cNvSpPr txBox="1"/>
          <p:nvPr/>
        </p:nvSpPr>
        <p:spPr>
          <a:xfrm>
            <a:off x="12420600" y="591650"/>
            <a:ext cx="4838700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556"/>
              </a:lnSpc>
              <a:spcBef>
                <a:spcPct val="0"/>
              </a:spcBef>
            </a:pPr>
            <a:r>
              <a:rPr lang="en-US" altLang="ko-KR" sz="2800" dirty="0"/>
              <a:t>Experiments</a:t>
            </a:r>
            <a:endParaRPr lang="en-US" altLang="ko-KR" sz="2800" spc="-65" dirty="0">
              <a:solidFill>
                <a:srgbClr val="191919"/>
              </a:solidFill>
              <a:latin typeface="Glacial Indifference" panose="020B0600000101010101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95F975E-E45C-6D3D-081C-7EA3911E9B10}"/>
              </a:ext>
            </a:extLst>
          </p:cNvPr>
          <p:cNvSpPr txBox="1"/>
          <p:nvPr/>
        </p:nvSpPr>
        <p:spPr>
          <a:xfrm>
            <a:off x="-47836" y="907795"/>
            <a:ext cx="4315036" cy="797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800" dirty="0"/>
              <a:t>Experiments</a:t>
            </a:r>
            <a:endParaRPr lang="en-US" sz="4706" spc="-65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87185E12-F9B7-5B85-1F02-99C97232D6D0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0F0B13E-B1F8-C2F1-8F48-9FD25A2D4D2C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80A2A5B1-A77B-2953-782C-EF10D164B0A9}"/>
              </a:ext>
            </a:extLst>
          </p:cNvPr>
          <p:cNvSpPr txBox="1"/>
          <p:nvPr/>
        </p:nvSpPr>
        <p:spPr>
          <a:xfrm>
            <a:off x="17259300" y="9533567"/>
            <a:ext cx="647700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15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933B50D3-39B9-4B9C-C04C-DE2941A5F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869913"/>
            <a:ext cx="12649200" cy="457096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4ED5C0B-699E-D422-DA2A-54DA5D1A8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6732536"/>
            <a:ext cx="12649200" cy="273974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B8428D-229C-EFBF-3771-87EA1DCC2483}"/>
              </a:ext>
            </a:extLst>
          </p:cNvPr>
          <p:cNvSpPr/>
          <p:nvPr/>
        </p:nvSpPr>
        <p:spPr>
          <a:xfrm>
            <a:off x="4038600" y="5753100"/>
            <a:ext cx="10972800" cy="68777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3E2877C-AAC4-8924-D513-BEF354ED1AF6}"/>
              </a:ext>
            </a:extLst>
          </p:cNvPr>
          <p:cNvSpPr/>
          <p:nvPr/>
        </p:nvSpPr>
        <p:spPr>
          <a:xfrm>
            <a:off x="2362200" y="8784502"/>
            <a:ext cx="12626454" cy="68777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3962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88DC2-4463-C769-E631-B700940E7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F81CA53-20F9-6676-0E24-7425CF6F3585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F25DF1E-7E72-C21E-198B-FA9F28160680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71CA2A4-902F-ABDC-EEFE-5F06B4958283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1466A637-FC5F-1DA6-2258-D48839A111CE}"/>
              </a:ext>
            </a:extLst>
          </p:cNvPr>
          <p:cNvSpPr txBox="1"/>
          <p:nvPr/>
        </p:nvSpPr>
        <p:spPr>
          <a:xfrm>
            <a:off x="12420600" y="591650"/>
            <a:ext cx="4838700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556"/>
              </a:lnSpc>
              <a:spcBef>
                <a:spcPct val="0"/>
              </a:spcBef>
            </a:pPr>
            <a:r>
              <a:rPr lang="en-US" altLang="ko-KR" sz="2800" spc="-65" dirty="0">
                <a:solidFill>
                  <a:srgbClr val="191919"/>
                </a:solidFill>
                <a:latin typeface="Glacial Indifference" panose="020B0600000101010101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Conclusion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98FBAE1-6298-8CA4-A035-58ED1A78DB10}"/>
              </a:ext>
            </a:extLst>
          </p:cNvPr>
          <p:cNvSpPr txBox="1"/>
          <p:nvPr/>
        </p:nvSpPr>
        <p:spPr>
          <a:xfrm>
            <a:off x="-47836" y="907795"/>
            <a:ext cx="4315036" cy="797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Conclusion</a:t>
            </a: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25C61B17-F521-D109-7A9D-E8F74DC144BA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9212EBA-55B9-78F8-FDC2-9606A7459356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CFDC9996-D7A6-F611-B9BE-2CA56F5021B7}"/>
              </a:ext>
            </a:extLst>
          </p:cNvPr>
          <p:cNvSpPr txBox="1"/>
          <p:nvPr/>
        </p:nvSpPr>
        <p:spPr>
          <a:xfrm>
            <a:off x="17259300" y="9533567"/>
            <a:ext cx="647700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16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660E68C-492E-DECA-70D9-6D4C2625C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536" y="2552700"/>
            <a:ext cx="16250926" cy="36749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3ABD630-8E28-C425-78FF-D59AF2B6BEF4}"/>
              </a:ext>
            </a:extLst>
          </p:cNvPr>
          <p:cNvSpPr txBox="1"/>
          <p:nvPr/>
        </p:nvSpPr>
        <p:spPr>
          <a:xfrm>
            <a:off x="1018536" y="6817281"/>
            <a:ext cx="158115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Tx/>
              <a:buChar char="-"/>
            </a:pPr>
            <a:r>
              <a:rPr lang="en-US" altLang="ko-KR" sz="2800" b="1" dirty="0"/>
              <a:t>Ground Truth absent </a:t>
            </a:r>
          </a:p>
          <a:p>
            <a:endParaRPr lang="en-US" altLang="ko-KR" sz="2800" b="1" dirty="0"/>
          </a:p>
          <a:p>
            <a:pPr>
              <a:buNone/>
            </a:pPr>
            <a:r>
              <a:rPr lang="en-US" altLang="ko-KR" sz="2800" dirty="0"/>
              <a:t>The difficulty of performing a 1:1 comparison between generated images and real X-rays makes it challenging to validate their actual clinical reliability.</a:t>
            </a:r>
          </a:p>
          <a:p>
            <a:pPr>
              <a:buNone/>
            </a:pPr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2191510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4121</TotalTime>
  <Words>580</Words>
  <Application>Microsoft Office PowerPoint</Application>
  <PresentationFormat>사용자 지정</PresentationFormat>
  <Paragraphs>112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4" baseType="lpstr">
      <vt:lpstr>윤고딕</vt:lpstr>
      <vt:lpstr>Arial</vt:lpstr>
      <vt:lpstr>Glacial Indifference</vt:lpstr>
      <vt:lpstr>맑은 고딕</vt:lpstr>
      <vt:lpstr>Garet Light</vt:lpstr>
      <vt:lpstr>윤고딕 Light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블랙 화이트 심플한 비지니스 프로젝트 프레젠테이션</dc:title>
  <cp:lastModifiedBy>변윤성</cp:lastModifiedBy>
  <cp:revision>75</cp:revision>
  <dcterms:created xsi:type="dcterms:W3CDTF">2006-08-16T00:00:00Z</dcterms:created>
  <dcterms:modified xsi:type="dcterms:W3CDTF">2025-09-26T04:19:22Z</dcterms:modified>
  <dc:identifier>DAGyMBKKpxw</dc:identifier>
</cp:coreProperties>
</file>