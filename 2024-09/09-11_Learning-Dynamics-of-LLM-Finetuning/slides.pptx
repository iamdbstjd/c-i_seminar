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0" r:id="rId4"/>
    <p:sldId id="276" r:id="rId5"/>
    <p:sldId id="261" r:id="rId6"/>
    <p:sldId id="277" r:id="rId7"/>
    <p:sldId id="259" r:id="rId8"/>
    <p:sldId id="274" r:id="rId9"/>
    <p:sldId id="273" r:id="rId10"/>
    <p:sldId id="275" r:id="rId11"/>
    <p:sldId id="278" r:id="rId12"/>
    <p:sldId id="279" r:id="rId13"/>
  </p:sldIdLst>
  <p:sldSz cx="18288000" cy="10287000"/>
  <p:notesSz cx="6858000" cy="9144000"/>
  <p:embeddedFontLst>
    <p:embeddedFont>
      <p:font typeface="맑은 고딕" panose="020B0503020000020004" pitchFamily="50" charset="-127"/>
      <p:regular r:id="rId15"/>
      <p:bold r:id="rId16"/>
    </p:embeddedFont>
    <p:embeddedFont>
      <p:font typeface="윤고딕" panose="020B0600000101010101" charset="-127"/>
      <p:regular r:id="rId17"/>
    </p:embeddedFont>
    <p:embeddedFont>
      <p:font typeface="윤고딕 Light" panose="020B0600000101010101" charset="-127"/>
      <p:regular r:id="rId18"/>
    </p:embeddedFont>
    <p:embeddedFont>
      <p:font typeface="Cambria Math" panose="02040503050406030204" pitchFamily="18" charset="0"/>
      <p:regular r:id="rId19"/>
    </p:embeddedFont>
    <p:embeddedFont>
      <p:font typeface="Garet Light" panose="020B0600000101010101" charset="0"/>
      <p:regular r:id="rId20"/>
    </p:embeddedFont>
    <p:embeddedFont>
      <p:font typeface="Glacial Indifference" panose="020B0600000101010101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3B795-2DD5-41AD-8751-5C4089DF444F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B8363-F2E3-4439-A7E6-14F7E1DF9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242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D2B1C-BF43-4DE7-ABE0-B047D62A78C0}" type="datetime1">
              <a:rPr lang="en-US" altLang="ko-KR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6A5C2-0AC0-4C27-B972-27F3E6623A31}" type="datetime1">
              <a:rPr lang="en-US" altLang="ko-KR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C3253-B364-4353-8945-5F93EC62AEA8}" type="datetime1">
              <a:rPr lang="en-US" altLang="ko-KR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D38A-FBC9-4474-860E-0943576FB2A9}" type="datetime1">
              <a:rPr lang="en-US" altLang="ko-KR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8A005-A359-4551-8385-DF962D05B961}" type="datetime1">
              <a:rPr lang="en-US" altLang="ko-KR" smtClean="0"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87605-D5BC-4F76-AD54-FBE4D0EF73CC}" type="datetime1">
              <a:rPr lang="en-US" altLang="ko-KR" smtClean="0"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34F-D1A4-4FC3-B616-E1519CFBDFE8}" type="datetime1">
              <a:rPr lang="en-US" altLang="ko-KR" smtClean="0"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06EF1-72F3-46B4-913E-2E8BF85C7B09}" type="datetime1">
              <a:rPr lang="en-US" altLang="ko-KR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54CDE-32A1-474B-A1A7-B2AE31A053DC}" type="datetime1">
              <a:rPr lang="en-US" altLang="ko-KR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2E487-4CBF-4938-A927-D22297E05349}" type="datetime1">
              <a:rPr lang="en-US" altLang="ko-KR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F8D2E-2F69-417D-9B17-4140C005495E}" type="datetime1">
              <a:rPr lang="en-US" altLang="ko-KR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90963-C5EF-42F4-8651-C8B07638FE5F}" type="datetime1">
              <a:rPr lang="en-US" altLang="ko-KR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search/cs?searchtype=author&amp;query=Sutherland,+D+J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5808" y="10052689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072092" y="6701392"/>
            <a:ext cx="4143816" cy="448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706"/>
              </a:lnSpc>
              <a:spcBef>
                <a:spcPct val="0"/>
              </a:spcBef>
            </a:pPr>
            <a:r>
              <a:rPr lang="en-US" altLang="ko-KR" sz="2800" dirty="0"/>
              <a:t>Yi Ren, Danica J. Sutherland</a:t>
            </a:r>
            <a:endParaRPr lang="en-US" sz="2647" u="sng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  <a:hlinkClick r:id="rId2" tooltip="https://arxiv.org/search/cs?searchtype=author&amp;query=Sutherland,+D+J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781050"/>
            <a:ext cx="164242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9334" y="2105861"/>
            <a:ext cx="15539453" cy="3037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23"/>
              </a:lnSpc>
            </a:pPr>
            <a:r>
              <a:rPr lang="en-US" sz="10368" spc="-103" dirty="0">
                <a:solidFill>
                  <a:srgbClr val="19191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LEARNING DYNAMICS OF LLM FINETUNING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2400" y="9573972"/>
            <a:ext cx="2975952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u="none" strike="noStrike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2025.9.11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11114" y="9533567"/>
            <a:ext cx="2975952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YunSung</a:t>
            </a: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 Byun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4C8435-A8BC-D4AF-C15C-41A7B0E886D6}"/>
              </a:ext>
            </a:extLst>
          </p:cNvPr>
          <p:cNvSpPr txBox="1"/>
          <p:nvPr/>
        </p:nvSpPr>
        <p:spPr>
          <a:xfrm>
            <a:off x="8000998" y="5582637"/>
            <a:ext cx="23622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dirty="0"/>
              <a:t>ICLR 2025</a:t>
            </a:r>
            <a:endParaRPr lang="ko-KR" altLang="en-US" sz="4000" dirty="0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7508ABC7-4CC2-0F84-003E-1B0B5B623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52241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533948" y="1436071"/>
            <a:ext cx="3918154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dirty="0">
                <a:latin typeface="Glacial Indifference" panose="020B0600000101010101" charset="0"/>
              </a:rPr>
              <a:t>Introduction</a:t>
            </a:r>
            <a:endParaRPr lang="en-US" sz="5400" spc="-182" dirty="0">
              <a:solidFill>
                <a:srgbClr val="191919"/>
              </a:solidFill>
              <a:latin typeface="Glacial Indifference" panose="020B0600000101010101" charset="0"/>
              <a:ea typeface="윤고딕"/>
              <a:cs typeface="윤고딕"/>
              <a:sym typeface="윤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533948" y="3210453"/>
            <a:ext cx="5591252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dirty="0">
                <a:latin typeface="Glacial Indifference" panose="020B0600000101010101" charset="0"/>
              </a:rPr>
              <a:t>Learning Dynamics</a:t>
            </a:r>
            <a:endParaRPr lang="en-US" sz="5400" spc="-182" dirty="0">
              <a:solidFill>
                <a:srgbClr val="191919"/>
              </a:solidFill>
              <a:latin typeface="Glacial Indifference" panose="020B0600000101010101" charset="0"/>
              <a:ea typeface="윤고딕"/>
              <a:cs typeface="윤고딕"/>
              <a:sym typeface="윤고딕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533948" y="5018287"/>
            <a:ext cx="11001452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dirty="0">
                <a:latin typeface="Glacial Indifference" panose="020B0600000101010101" charset="0"/>
              </a:rPr>
              <a:t>Hallucination</a:t>
            </a:r>
            <a:r>
              <a:rPr lang="en-US" sz="5400" spc="-182" dirty="0">
                <a:solidFill>
                  <a:srgbClr val="191919"/>
                </a:solidFill>
                <a:latin typeface="Glacial Indifference" panose="020B0600000101010101" charset="0"/>
                <a:ea typeface="윤고딕"/>
                <a:cs typeface="윤고딕"/>
                <a:sym typeface="윤고딕"/>
              </a:rPr>
              <a:t>/</a:t>
            </a:r>
            <a:r>
              <a:rPr lang="en-US" altLang="ko-KR" sz="5400" dirty="0">
                <a:latin typeface="Glacial Indifference" panose="020B0600000101010101" charset="0"/>
              </a:rPr>
              <a:t>Squeezing Effect</a:t>
            </a:r>
            <a:endParaRPr lang="en-US" altLang="ko-KR" sz="5400" spc="-65" dirty="0">
              <a:solidFill>
                <a:srgbClr val="191919"/>
              </a:solidFill>
              <a:latin typeface="Glacial Indifference" panose="020B0600000101010101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529032" y="6747364"/>
            <a:ext cx="3052600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6"/>
              </a:lnSpc>
              <a:spcBef>
                <a:spcPct val="0"/>
              </a:spcBef>
            </a:pPr>
            <a:r>
              <a:rPr lang="en-US" sz="5400" spc="-182" dirty="0">
                <a:solidFill>
                  <a:srgbClr val="191919"/>
                </a:solidFill>
                <a:latin typeface="Glacial Indifference" panose="020B0600000101010101" charset="0"/>
                <a:ea typeface="윤고딕"/>
                <a:cs typeface="윤고딕"/>
                <a:sym typeface="윤고딕"/>
              </a:rPr>
              <a:t>Solution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87931" y="973333"/>
            <a:ext cx="1268309" cy="1643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u="none" strike="noStrike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1.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87930" y="2665736"/>
            <a:ext cx="1268310" cy="1607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2.</a:t>
            </a:r>
            <a:endParaRPr lang="en-US" sz="9629" u="none" strike="noStrike" dirty="0">
              <a:solidFill>
                <a:srgbClr val="191919"/>
              </a:solidFill>
              <a:latin typeface="Glacial Indifference" panose="020B0600000101010101" charset="0"/>
              <a:ea typeface="Beautifully Delicious Script"/>
              <a:cs typeface="Beautifully Delicious Script"/>
              <a:sym typeface="Beautifully Delicious Scrip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787930" y="4384387"/>
            <a:ext cx="1268310" cy="1607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3</a:t>
            </a:r>
            <a:r>
              <a:rPr lang="en-US" sz="9629" u="none" strike="noStrike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87930" y="6198904"/>
            <a:ext cx="1268310" cy="1607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4.</a:t>
            </a:r>
            <a:endParaRPr lang="en-US" sz="9629" u="none" strike="noStrike" dirty="0">
              <a:solidFill>
                <a:srgbClr val="191919"/>
              </a:solidFill>
              <a:latin typeface="Glacial Indifference" panose="020B0600000101010101" charset="0"/>
              <a:ea typeface="Beautifully Delicious Script"/>
              <a:cs typeface="Beautifully Delicious Script"/>
              <a:sym typeface="Beautifully Delicious Scrip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31319" y="934598"/>
            <a:ext cx="2478904" cy="80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Contents</a:t>
            </a:r>
          </a:p>
        </p:txBody>
      </p:sp>
      <p:sp>
        <p:nvSpPr>
          <p:cNvPr id="20" name="AutoShape 20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C11D7A17-F58B-299B-0E05-27FEF58FC366}"/>
              </a:ext>
            </a:extLst>
          </p:cNvPr>
          <p:cNvSpPr txBox="1"/>
          <p:nvPr/>
        </p:nvSpPr>
        <p:spPr>
          <a:xfrm>
            <a:off x="3787931" y="8013363"/>
            <a:ext cx="1268310" cy="1607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5.</a:t>
            </a:r>
            <a:endParaRPr lang="en-US" sz="9629" u="none" strike="noStrike" dirty="0">
              <a:solidFill>
                <a:srgbClr val="191919"/>
              </a:solidFill>
              <a:latin typeface="Glacial Indifference" panose="020B0600000101010101" charset="0"/>
              <a:ea typeface="Beautifully Delicious Script"/>
              <a:cs typeface="Beautifully Delicious Script"/>
              <a:sym typeface="Beautifully Delicious Script"/>
            </a:endParaRP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6D16BA28-8648-A519-AEAD-F44D7F755C24}"/>
              </a:ext>
            </a:extLst>
          </p:cNvPr>
          <p:cNvSpPr txBox="1"/>
          <p:nvPr/>
        </p:nvSpPr>
        <p:spPr>
          <a:xfrm>
            <a:off x="5529032" y="8558165"/>
            <a:ext cx="3614968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dirty="0">
                <a:latin typeface="Glacial Indifference" panose="020B0600000101010101" charset="0"/>
              </a:rPr>
              <a:t>Conclusion</a:t>
            </a:r>
            <a:endParaRPr lang="en-US" sz="5400" spc="-182" dirty="0">
              <a:solidFill>
                <a:srgbClr val="191919"/>
              </a:solidFill>
              <a:latin typeface="Glacial Indifference" panose="020B0600000101010101" charset="0"/>
              <a:ea typeface="윤고딕"/>
              <a:cs typeface="윤고딕"/>
              <a:sym typeface="윤고딕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538BBEA-6728-FD9C-F1A3-C415764866D1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9F137AD9-D6D0-99F5-1B3C-2D1FEAC8E95E}"/>
              </a:ext>
            </a:extLst>
          </p:cNvPr>
          <p:cNvSpPr txBox="1"/>
          <p:nvPr/>
        </p:nvSpPr>
        <p:spPr>
          <a:xfrm>
            <a:off x="176022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60AE283-0E37-CDD6-C89E-2234E0C5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62699" y="2325697"/>
            <a:ext cx="5562600" cy="458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79"/>
              </a:lnSpc>
              <a:spcBef>
                <a:spcPct val="0"/>
              </a:spcBef>
            </a:pPr>
            <a:r>
              <a:rPr lang="en-US" altLang="ko-KR" sz="2800" dirty="0"/>
              <a:t>Pre-training -&gt; Supervised Fine-tuning</a:t>
            </a:r>
            <a:endParaRPr lang="en-US" sz="2699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23950" y="934598"/>
            <a:ext cx="2186274" cy="80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SFT?</a:t>
            </a:r>
          </a:p>
        </p:txBody>
      </p:sp>
      <p:sp>
        <p:nvSpPr>
          <p:cNvPr id="14" name="AutoShape 14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8C9B250-9116-5C92-A7FE-02F214108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797196"/>
            <a:ext cx="7010400" cy="401644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A8FF4CE-61EB-EF6E-846D-A3F816D29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371" y="2885931"/>
            <a:ext cx="8519707" cy="182652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1EAEC4C-853A-3C40-1D36-BE1346542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598" y="4712458"/>
            <a:ext cx="7715251" cy="4430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A5739373-734D-903B-954C-41E5517D8A6D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43031ECA-815C-C507-F09D-26C76B1ABD71}"/>
              </a:ext>
            </a:extLst>
          </p:cNvPr>
          <p:cNvSpPr txBox="1"/>
          <p:nvPr/>
        </p:nvSpPr>
        <p:spPr>
          <a:xfrm>
            <a:off x="176022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3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C3F0615-255B-8EDE-2BB0-F8DEA28B6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B365C-3454-F53F-4239-824DB7097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4FCE120-A5CE-FB72-4D49-C34B74134E83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EE4BBFE-8E6E-D6E5-6896-8C19BE39EF6E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D25CA93-45C8-5171-6334-808C35655D4B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DCE210F1-00AC-18C1-FB99-EE0DF096412A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F462F81-1EE5-2612-5F0B-3D997F968059}"/>
              </a:ext>
            </a:extLst>
          </p:cNvPr>
          <p:cNvSpPr txBox="1"/>
          <p:nvPr/>
        </p:nvSpPr>
        <p:spPr>
          <a:xfrm>
            <a:off x="1123950" y="934598"/>
            <a:ext cx="2186274" cy="80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SFT?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5835A241-15CC-7E26-6665-12D88F643CA2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4E2E105-E3AB-B43F-A914-6588E5640F60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C3BBDA7-FF25-19A0-C0A2-7D18C64ED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4937" y="2095500"/>
            <a:ext cx="9758123" cy="18812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8FB19E-ABCA-B8C1-E2D7-524FEAC50448}"/>
                  </a:ext>
                </a:extLst>
              </p:cNvPr>
              <p:cNvSpPr txBox="1"/>
              <p:nvPr/>
            </p:nvSpPr>
            <p:spPr>
              <a:xfrm>
                <a:off x="1948785" y="5372100"/>
                <a:ext cx="14390426" cy="12168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3600" dirty="0">
                    <a:latin typeface="+mj-lt"/>
                  </a:rPr>
                  <a:t>It maximizes the conditional likelihood of each target word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ko-KR" sz="3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sz="3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ko-KR" altLang="ar-AE" sz="36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a:rPr lang="ar-AE" altLang="ko-KR" sz="360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altLang="ko-KR" sz="3600" dirty="0">
                    <a:latin typeface="+mj-lt"/>
                  </a:rPr>
                  <a:t>given its preceding context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ko-KR" sz="3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sz="3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altLang="ko-KR" sz="360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ko-KR" altLang="ar-AE" sz="36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a:rPr lang="ar-AE" altLang="ko-KR" sz="360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ar-AE" altLang="ko-KR" sz="3600" dirty="0">
                    <a:latin typeface="+mj-lt"/>
                  </a:rPr>
                  <a:t>, </a:t>
                </a:r>
                <a:r>
                  <a:rPr lang="en-US" altLang="ko-KR" sz="3600" dirty="0">
                    <a:latin typeface="+mj-lt"/>
                  </a:rPr>
                  <a:t> in the order they appear in the reference sentence.</a:t>
                </a:r>
                <a:endParaRPr lang="ko-KR" altLang="en-US" sz="3600" dirty="0">
                  <a:latin typeface="+mj-lt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8FB19E-ABCA-B8C1-E2D7-524FEAC50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785" y="5372100"/>
                <a:ext cx="14390426" cy="1216872"/>
              </a:xfrm>
              <a:prstGeom prst="rect">
                <a:avLst/>
              </a:prstGeom>
              <a:blipFill>
                <a:blip r:embed="rId3"/>
                <a:stretch>
                  <a:fillRect l="-1314" t="-6500" b="-1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9">
            <a:extLst>
              <a:ext uri="{FF2B5EF4-FFF2-40B4-BE49-F238E27FC236}">
                <a16:creationId xmlns:a16="http://schemas.microsoft.com/office/drawing/2014/main" id="{52CB7C61-8E02-25EA-93F6-9E6F226DC4C8}"/>
              </a:ext>
            </a:extLst>
          </p:cNvPr>
          <p:cNvSpPr txBox="1"/>
          <p:nvPr/>
        </p:nvSpPr>
        <p:spPr>
          <a:xfrm>
            <a:off x="17622134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4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27F586-AC61-538D-4023-BBFD43453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57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3950" y="934598"/>
            <a:ext cx="2186274" cy="80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DPO?</a:t>
            </a:r>
          </a:p>
        </p:txBody>
      </p:sp>
      <p:sp>
        <p:nvSpPr>
          <p:cNvPr id="9" name="AutoShape 9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C791ED5-F594-56BD-5667-EA1149BF4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178" y="5786095"/>
            <a:ext cx="7741642" cy="375570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B7A43D0-B881-A297-E9B4-A605656BE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899" y="2063161"/>
            <a:ext cx="10744200" cy="3374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88C961-BC95-4FB3-0753-08A2912419CA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A9865D-96C1-277B-CC3A-5941A080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2664A7-473A-5544-8A73-B6435988173F}"/>
              </a:ext>
            </a:extLst>
          </p:cNvPr>
          <p:cNvSpPr txBox="1"/>
          <p:nvPr/>
        </p:nvSpPr>
        <p:spPr>
          <a:xfrm>
            <a:off x="176784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9F793-587E-F23E-C733-94FF68F94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6F965B8-55D2-3284-29C1-9C8AEB9061D6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36D7555-BAC2-AD73-71FD-7C1E0F1EC06D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A1D0EEE-C548-1960-3145-AE028926D3E7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63CF5D66-0139-67E7-E0B6-DB046D1973A3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D893813-9A50-B604-B6BC-0727F2F951D3}"/>
              </a:ext>
            </a:extLst>
          </p:cNvPr>
          <p:cNvSpPr txBox="1"/>
          <p:nvPr/>
        </p:nvSpPr>
        <p:spPr>
          <a:xfrm>
            <a:off x="1123950" y="934598"/>
            <a:ext cx="2186274" cy="80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DPO?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C835A665-9DBB-F176-F0C2-0B0F68029D0B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15DF52-17FB-F36E-0350-6C31D3250011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11CA5C9-A7EE-799D-3494-5763A253A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591" y="2476500"/>
            <a:ext cx="13468816" cy="13661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6">
                <a:extLst>
                  <a:ext uri="{FF2B5EF4-FFF2-40B4-BE49-F238E27FC236}">
                    <a16:creationId xmlns:a16="http://schemas.microsoft.com/office/drawing/2014/main" id="{9D9580C1-D79E-782B-F51A-B29F1D788CC3}"/>
                  </a:ext>
                </a:extLst>
              </p:cNvPr>
              <p:cNvSpPr txBox="1"/>
              <p:nvPr/>
            </p:nvSpPr>
            <p:spPr>
              <a:xfrm>
                <a:off x="1828800" y="5667728"/>
                <a:ext cx="15232713" cy="159947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6589"/>
                  </a:lnSpc>
                  <a:spcBef>
                    <a:spcPct val="0"/>
                  </a:spcBef>
                </a:pPr>
                <a:r>
                  <a:rPr lang="en-US" altLang="ko-KR" sz="3600" dirty="0">
                    <a:latin typeface="+mj-lt"/>
                  </a:rPr>
                  <a:t>A comparative learning approach that aims to maximize the preference margin between </a:t>
                </a:r>
                <a:r>
                  <a:rPr lang="en-US" altLang="ko-KR" sz="3600" b="1" dirty="0">
                    <a:latin typeface="+mj-lt"/>
                  </a:rPr>
                  <a:t>the preferred response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ko-KR" sz="36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sz="36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ko-KR" altLang="ar-AE" sz="3600" b="1" i="1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  <m:sup>
                        <m:r>
                          <a:rPr lang="ar-AE" altLang="ko-KR" sz="3600" b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altLang="ko-KR" sz="3600" b="1" dirty="0">
                    <a:latin typeface="+mj-lt"/>
                  </a:rPr>
                  <a:t>)</a:t>
                </a:r>
                <a:r>
                  <a:rPr lang="en-US" altLang="ko-KR" sz="3600" dirty="0">
                    <a:latin typeface="+mj-lt"/>
                  </a:rPr>
                  <a:t>and </a:t>
                </a:r>
                <a:r>
                  <a:rPr lang="en-US" altLang="ko-KR" sz="3600" b="1" dirty="0">
                    <a:latin typeface="+mj-lt"/>
                  </a:rPr>
                  <a:t>the dispreferred response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ko-KR" sz="36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sz="36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ko-KR" altLang="ar-AE" sz="3600" b="1" i="1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  <m:sup>
                        <m:r>
                          <a:rPr lang="ar-AE" altLang="ko-KR" sz="3600" b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US" sz="3600" b="1" spc="-65" dirty="0">
                    <a:solidFill>
                      <a:srgbClr val="191919"/>
                    </a:solidFill>
                    <a:latin typeface="+mj-lt"/>
                    <a:ea typeface="윤고딕"/>
                    <a:cs typeface="윤고딕"/>
                    <a:sym typeface="윤고딕"/>
                  </a:rPr>
                  <a:t>).</a:t>
                </a:r>
              </a:p>
            </p:txBody>
          </p:sp>
        </mc:Choice>
        <mc:Fallback xmlns="">
          <p:sp>
            <p:nvSpPr>
              <p:cNvPr id="12" name="TextBox 6">
                <a:extLst>
                  <a:ext uri="{FF2B5EF4-FFF2-40B4-BE49-F238E27FC236}">
                    <a16:creationId xmlns:a16="http://schemas.microsoft.com/office/drawing/2014/main" id="{9D9580C1-D79E-782B-F51A-B29F1D788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5667728"/>
                <a:ext cx="15232713" cy="1599477"/>
              </a:xfrm>
              <a:prstGeom prst="rect">
                <a:avLst/>
              </a:prstGeom>
              <a:blipFill>
                <a:blip r:embed="rId3"/>
                <a:stretch>
                  <a:fillRect l="-1801" b="-167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714A2A-DF6B-58C3-9B11-754D8A638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71E29ED6-BA0B-D13A-536B-009D170D0C8F}"/>
              </a:ext>
            </a:extLst>
          </p:cNvPr>
          <p:cNvSpPr txBox="1"/>
          <p:nvPr/>
        </p:nvSpPr>
        <p:spPr>
          <a:xfrm>
            <a:off x="17622134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13964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/>
              <a:t>Learning Dynamics</a:t>
            </a:r>
            <a:endParaRPr lang="en-US" sz="2599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1955" y="828675"/>
            <a:ext cx="7029450" cy="793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800" dirty="0"/>
              <a:t> What is Learning Dynamics</a:t>
            </a:r>
            <a:endParaRPr lang="en-US" sz="4706" spc="-65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CAF9675-07BE-27B9-F4CC-C6CD6DC60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905" y="2626905"/>
            <a:ext cx="13664185" cy="13400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655B34B-236B-7C16-F4B6-DDCE56CCD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553" y="4596807"/>
            <a:ext cx="1638195" cy="102308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5036DC2-10E4-66BD-7A7E-577EAEC7A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905" y="6323435"/>
            <a:ext cx="1638195" cy="106643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68FECE10-1AE6-170A-47BC-A304722DD3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3600" y="8093409"/>
            <a:ext cx="1638196" cy="1030989"/>
          </a:xfrm>
          <a:prstGeom prst="rect">
            <a:avLst/>
          </a:prstGeom>
        </p:spPr>
      </p:pic>
      <p:sp>
        <p:nvSpPr>
          <p:cNvPr id="24" name="TextBox 6">
            <a:extLst>
              <a:ext uri="{FF2B5EF4-FFF2-40B4-BE49-F238E27FC236}">
                <a16:creationId xmlns:a16="http://schemas.microsoft.com/office/drawing/2014/main" id="{19483E42-667B-A845-2AE2-1023711F6D0C}"/>
              </a:ext>
            </a:extLst>
          </p:cNvPr>
          <p:cNvSpPr txBox="1"/>
          <p:nvPr/>
        </p:nvSpPr>
        <p:spPr>
          <a:xfrm>
            <a:off x="4800600" y="4594855"/>
            <a:ext cx="8077200" cy="750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3600" b="1" dirty="0">
                <a:latin typeface="+mj-lt"/>
              </a:rPr>
              <a:t>Update Command</a:t>
            </a:r>
            <a:r>
              <a:rPr lang="en-US" altLang="ko-KR" sz="3600" dirty="0">
                <a:latin typeface="+mj-lt"/>
              </a:rPr>
              <a:t> or </a:t>
            </a:r>
            <a:r>
              <a:rPr lang="en-US" altLang="ko-KR" sz="3600" b="1" dirty="0">
                <a:latin typeface="+mj-lt"/>
              </a:rPr>
              <a:t>Gradient Vector</a:t>
            </a:r>
            <a:endParaRPr lang="en-US" sz="3600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</p:txBody>
      </p:sp>
      <p:sp>
        <p:nvSpPr>
          <p:cNvPr id="25" name="TextBox 6">
            <a:extLst>
              <a:ext uri="{FF2B5EF4-FFF2-40B4-BE49-F238E27FC236}">
                <a16:creationId xmlns:a16="http://schemas.microsoft.com/office/drawing/2014/main" id="{D6635E9B-4BE4-D2B0-BA0E-04CF78C3D244}"/>
              </a:ext>
            </a:extLst>
          </p:cNvPr>
          <p:cNvSpPr txBox="1"/>
          <p:nvPr/>
        </p:nvSpPr>
        <p:spPr>
          <a:xfrm>
            <a:off x="4800600" y="6386248"/>
            <a:ext cx="8763000" cy="753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3600" b="1" dirty="0">
                <a:latin typeface="+mj-lt"/>
              </a:rPr>
              <a:t>Influence Channel</a:t>
            </a:r>
            <a:r>
              <a:rPr lang="en-US" altLang="ko-KR" sz="3600" dirty="0">
                <a:latin typeface="+mj-lt"/>
              </a:rPr>
              <a:t> or </a:t>
            </a:r>
            <a:r>
              <a:rPr lang="en-US" altLang="ko-KR" sz="3600" b="1" dirty="0">
                <a:latin typeface="+mj-lt"/>
              </a:rPr>
              <a:t>Similarity Kernel</a:t>
            </a:r>
            <a:endParaRPr lang="en-US" sz="3600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00E648D8-4FAC-7B11-9D0D-224FBF185D98}"/>
              </a:ext>
            </a:extLst>
          </p:cNvPr>
          <p:cNvSpPr txBox="1"/>
          <p:nvPr/>
        </p:nvSpPr>
        <p:spPr>
          <a:xfrm>
            <a:off x="4800600" y="8093409"/>
            <a:ext cx="8577546" cy="750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3600" b="1" dirty="0">
                <a:latin typeface="+mj-lt"/>
              </a:rPr>
              <a:t>Scaled Adaptation</a:t>
            </a:r>
            <a:r>
              <a:rPr lang="en-US" altLang="ko-KR" sz="3600" dirty="0">
                <a:latin typeface="+mj-lt"/>
              </a:rPr>
              <a:t> or </a:t>
            </a:r>
            <a:r>
              <a:rPr lang="en-US" altLang="ko-KR" sz="3600" b="1" dirty="0">
                <a:latin typeface="+mj-lt"/>
              </a:rPr>
              <a:t>Receiver's State</a:t>
            </a:r>
            <a:endParaRPr lang="en-US" sz="3600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1D1735E-0281-16F7-83B5-128C691092B1}"/>
              </a:ext>
            </a:extLst>
          </p:cNvPr>
          <p:cNvSpPr/>
          <p:nvPr/>
        </p:nvSpPr>
        <p:spPr>
          <a:xfrm>
            <a:off x="12344400" y="2626905"/>
            <a:ext cx="3881154" cy="10714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8BE11692-07E7-B5D5-66A3-89C447E8F1D8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4B25656-4748-F729-4FCD-51C71D9AA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40670D-1BA5-BB18-B5DB-7AA6F2F88C4E}"/>
              </a:ext>
            </a:extLst>
          </p:cNvPr>
          <p:cNvSpPr txBox="1"/>
          <p:nvPr/>
        </p:nvSpPr>
        <p:spPr>
          <a:xfrm>
            <a:off x="17622134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95552-0FEE-1DF6-0DC7-70F0F9F03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38E73A8-F38D-91B7-576A-3E2FF13510BF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FB4E806-49FF-E7B4-B3E3-AE91F5F030E1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0D2BF01-D555-BADF-CA37-53DF97746C58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25F4AE9C-703B-1D64-60F1-5599B1CBAFCC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/>
              <a:t>Learning Dynamics</a:t>
            </a:r>
            <a:endParaRPr lang="en-US" sz="2599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47FBA65-B21C-6561-ED56-73036018F91E}"/>
              </a:ext>
            </a:extLst>
          </p:cNvPr>
          <p:cNvSpPr txBox="1"/>
          <p:nvPr/>
        </p:nvSpPr>
        <p:spPr>
          <a:xfrm>
            <a:off x="31955" y="828675"/>
            <a:ext cx="7029450" cy="793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800" dirty="0"/>
              <a:t> What is Learning Dynamics</a:t>
            </a:r>
            <a:endParaRPr lang="en-US" sz="4706" spc="-65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9707C8EA-550D-A197-50F7-F61BB8D7DFEF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F67A6425-BA08-B524-BFCB-3AE217C19154}"/>
              </a:ext>
            </a:extLst>
          </p:cNvPr>
          <p:cNvSpPr txBox="1"/>
          <p:nvPr/>
        </p:nvSpPr>
        <p:spPr>
          <a:xfrm>
            <a:off x="609599" y="7706237"/>
            <a:ext cx="17068800" cy="1573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dirty="0">
                <a:latin typeface="+mj-lt"/>
              </a:rPr>
              <a:t>Learning Dynamics</a:t>
            </a:r>
            <a:r>
              <a:rPr lang="en-US" altLang="ko-KR" sz="2800" dirty="0">
                <a:latin typeface="+mj-lt"/>
              </a:rPr>
              <a:t>: An analysis framework that identifies the relationship between a gradient update from training data (</a:t>
            </a:r>
            <a:r>
              <a:rPr lang="en-US" altLang="ko-KR" sz="2800" dirty="0" err="1">
                <a:latin typeface="+mj-lt"/>
              </a:rPr>
              <a:t>x_u</a:t>
            </a:r>
            <a:r>
              <a:rPr lang="en-US" altLang="ko-KR" sz="2800" dirty="0">
                <a:latin typeface="+mj-lt"/>
              </a:rPr>
              <a:t>​) and how it causes a change in the prediction on other data (</a:t>
            </a:r>
            <a:r>
              <a:rPr lang="en-US" altLang="ko-KR" sz="2800" dirty="0" err="1">
                <a:latin typeface="+mj-lt"/>
              </a:rPr>
              <a:t>x_o</a:t>
            </a:r>
            <a:r>
              <a:rPr lang="en-US" altLang="ko-KR" sz="2800" dirty="0">
                <a:latin typeface="+mj-lt"/>
              </a:rPr>
              <a:t>​).</a:t>
            </a:r>
            <a:endParaRPr lang="en-US" sz="2800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</p:txBody>
      </p:sp>
      <p:pic>
        <p:nvPicPr>
          <p:cNvPr id="1026" name="Picture 2" descr="Getting started with generative adversarial networks (GAN ...">
            <a:extLst>
              <a:ext uri="{FF2B5EF4-FFF2-40B4-BE49-F238E27FC236}">
                <a16:creationId xmlns:a16="http://schemas.microsoft.com/office/drawing/2014/main" id="{4779A768-4CCF-F91A-FF24-BA1308501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18" y="3840453"/>
            <a:ext cx="6352342" cy="250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B7BD1F5-F718-1883-F682-08D7F355F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001488"/>
            <a:ext cx="9372600" cy="6003456"/>
          </a:xfrm>
          <a:prstGeom prst="rect">
            <a:avLst/>
          </a:prstGeom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id="{5CA07042-7023-A9AF-E300-9479E2165C44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C0695F7-9C37-7099-8781-F2F9411AA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E8040A07-19B7-EE26-F2AE-602D42B70937}"/>
              </a:ext>
            </a:extLst>
          </p:cNvPr>
          <p:cNvSpPr txBox="1"/>
          <p:nvPr/>
        </p:nvSpPr>
        <p:spPr>
          <a:xfrm>
            <a:off x="176784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73822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1B2DA-FC8A-E4C9-2878-78F0A4DF4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33609EF-F979-1B63-C46F-2EB8C39038C2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0BD9E0C-683B-A04A-2F86-4DA9F605391E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8EBED50-6D37-B468-93E5-BB83DE106280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1FF06DF3-D105-5765-3FF7-237F2A6B4B24}"/>
              </a:ext>
            </a:extLst>
          </p:cNvPr>
          <p:cNvSpPr txBox="1"/>
          <p:nvPr/>
        </p:nvSpPr>
        <p:spPr>
          <a:xfrm>
            <a:off x="12420600" y="781050"/>
            <a:ext cx="48387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2800" dirty="0">
                <a:latin typeface="Glacial Indifference" panose="020B0600000101010101" charset="0"/>
              </a:rPr>
              <a:t>Hallucination</a:t>
            </a:r>
            <a:r>
              <a:rPr lang="en-US" altLang="ko-KR" sz="2800" spc="-182" dirty="0">
                <a:solidFill>
                  <a:srgbClr val="191919"/>
                </a:solidFill>
                <a:latin typeface="Glacial Indifference" panose="020B0600000101010101" charset="0"/>
                <a:ea typeface="윤고딕"/>
                <a:cs typeface="윤고딕"/>
                <a:sym typeface="윤고딕"/>
              </a:rPr>
              <a:t>/</a:t>
            </a:r>
            <a:r>
              <a:rPr lang="en-US" altLang="ko-KR" sz="2800" dirty="0">
                <a:latin typeface="Glacial Indifference" panose="020B0600000101010101" charset="0"/>
              </a:rPr>
              <a:t>Squeezing Effect</a:t>
            </a:r>
            <a:endParaRPr lang="en-US" altLang="ko-KR" sz="2800" spc="-65" dirty="0">
              <a:solidFill>
                <a:srgbClr val="191919"/>
              </a:solidFill>
              <a:latin typeface="Glacial Indifference" panose="020B0600000101010101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95F975E-E45C-6D3D-081C-7EA3911E9B10}"/>
              </a:ext>
            </a:extLst>
          </p:cNvPr>
          <p:cNvSpPr txBox="1"/>
          <p:nvPr/>
        </p:nvSpPr>
        <p:spPr>
          <a:xfrm>
            <a:off x="-47836" y="907795"/>
            <a:ext cx="6648450" cy="797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800" dirty="0"/>
              <a:t>SFT cause hallucinations?</a:t>
            </a:r>
            <a:endParaRPr lang="en-US" sz="4706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87185E12-F9B7-5B85-1F02-99C97232D6D0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18E6BC6-2176-1CD1-8883-0F22E7CA0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371" y="2200351"/>
            <a:ext cx="4953000" cy="484981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9F0AB33-F0F0-2BE1-56A1-697EFBE65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0371" y="2331255"/>
            <a:ext cx="4953000" cy="4846101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E0F0B13E-B1F8-C2F1-8F48-9FD25A2D4D2C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6FE54B-A562-7A13-FC8C-F20986418E7D}"/>
              </a:ext>
            </a:extLst>
          </p:cNvPr>
          <p:cNvSpPr txBox="1"/>
          <p:nvPr/>
        </p:nvSpPr>
        <p:spPr>
          <a:xfrm>
            <a:off x="1066800" y="7659123"/>
            <a:ext cx="16192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latin typeface="+mj-lt"/>
              </a:rPr>
              <a:t>This is because </a:t>
            </a:r>
            <a:r>
              <a:rPr lang="en-US" altLang="ko-KR" sz="3600" b="1" dirty="0">
                <a:latin typeface="+mj-lt"/>
              </a:rPr>
              <a:t>SFT</a:t>
            </a:r>
            <a:r>
              <a:rPr lang="en-US" altLang="ko-KR" sz="3600" dirty="0">
                <a:latin typeface="+mj-lt"/>
              </a:rPr>
              <a:t> encourages the model to depend on surface-level similarity rather than capturing the semantic meaning of knowledge.</a:t>
            </a:r>
            <a:endParaRPr lang="ko-KR" altLang="en-US" sz="3600" dirty="0">
              <a:latin typeface="+mj-lt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CE54C62-C3D3-1AE7-5572-C464C536A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80A2A5B1-A77B-2953-782C-EF10D164B0A9}"/>
              </a:ext>
            </a:extLst>
          </p:cNvPr>
          <p:cNvSpPr txBox="1"/>
          <p:nvPr/>
        </p:nvSpPr>
        <p:spPr>
          <a:xfrm>
            <a:off x="17622134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613962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C7729-5671-95A4-1473-B080D5669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B70018-95F4-E626-0C25-F1A0CA48EFA8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5CDEE6D-9C7C-0E15-CCC3-BDF2AAA46E04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6E81A01-6BB3-9E3D-2CA4-249926E9E2AF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95FA3119-3D06-A3FC-13D2-8DECFA220F6E}"/>
              </a:ext>
            </a:extLst>
          </p:cNvPr>
          <p:cNvSpPr txBox="1"/>
          <p:nvPr/>
        </p:nvSpPr>
        <p:spPr>
          <a:xfrm>
            <a:off x="12420600" y="781050"/>
            <a:ext cx="48387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2800" dirty="0">
                <a:latin typeface="Glacial Indifference" panose="020B0600000101010101" charset="0"/>
              </a:rPr>
              <a:t>Hallucination</a:t>
            </a:r>
            <a:r>
              <a:rPr lang="en-US" altLang="ko-KR" sz="2800" spc="-182" dirty="0">
                <a:solidFill>
                  <a:srgbClr val="191919"/>
                </a:solidFill>
                <a:latin typeface="Glacial Indifference" panose="020B0600000101010101" charset="0"/>
                <a:ea typeface="윤고딕"/>
                <a:cs typeface="윤고딕"/>
                <a:sym typeface="윤고딕"/>
              </a:rPr>
              <a:t>/</a:t>
            </a:r>
            <a:r>
              <a:rPr lang="en-US" altLang="ko-KR" sz="2800" dirty="0">
                <a:latin typeface="Glacial Indifference" panose="020B0600000101010101" charset="0"/>
              </a:rPr>
              <a:t>Squeezing Effect</a:t>
            </a:r>
            <a:endParaRPr lang="en-US" altLang="ko-KR" sz="2800" spc="-65" dirty="0">
              <a:solidFill>
                <a:srgbClr val="191919"/>
              </a:solidFill>
              <a:latin typeface="Glacial Indifference" panose="020B0600000101010101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A6DA00C-69FE-04F2-5831-888E61B8951C}"/>
              </a:ext>
            </a:extLst>
          </p:cNvPr>
          <p:cNvSpPr txBox="1"/>
          <p:nvPr/>
        </p:nvSpPr>
        <p:spPr>
          <a:xfrm>
            <a:off x="457200" y="777212"/>
            <a:ext cx="4162214" cy="797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800" dirty="0"/>
              <a:t>Squeezing Effect</a:t>
            </a:r>
            <a:endParaRPr lang="en-US" sz="4706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04127906-69D5-1802-1C81-A819859EDCA6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698C6E2-E837-3777-BADB-442B8E774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2493660"/>
            <a:ext cx="9548638" cy="4831326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51971494-FBB9-5FB5-3030-AE6998B09C7A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28367D-3949-AD42-144D-30EC0AB0BBF9}"/>
              </a:ext>
            </a:extLst>
          </p:cNvPr>
          <p:cNvSpPr txBox="1"/>
          <p:nvPr/>
        </p:nvSpPr>
        <p:spPr>
          <a:xfrm>
            <a:off x="13182600" y="6196769"/>
            <a:ext cx="274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Argmax: Argument of the Maximum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333044-3171-89C2-56FA-555C17A268AF}"/>
                  </a:ext>
                </a:extLst>
              </p:cNvPr>
              <p:cNvSpPr txBox="1"/>
              <p:nvPr/>
            </p:nvSpPr>
            <p:spPr>
              <a:xfrm>
                <a:off x="1066800" y="7515368"/>
                <a:ext cx="164592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3600" b="1" dirty="0">
                    <a:latin typeface="+mj-lt"/>
                  </a:rPr>
                  <a:t>Off-policy DPO </a:t>
                </a:r>
                <a:r>
                  <a:rPr lang="en-US" altLang="ko-KR" sz="3600" dirty="0">
                    <a:latin typeface="+mj-lt"/>
                  </a:rPr>
                  <a:t>can destabilize the model’s probability distribution when it applies a strong negative gradient to suppress a dispreferred response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ko-KR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sz="3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ar-AE" altLang="ko-KR" sz="360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altLang="ko-KR" sz="3600" dirty="0">
                    <a:latin typeface="+mj-lt"/>
                  </a:rPr>
                  <a:t>)hat already has extremely low likelihood leading to distributional collapse.</a:t>
                </a:r>
                <a:endParaRPr lang="ko-KR" altLang="en-US" sz="3600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333044-3171-89C2-56FA-555C17A26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7515368"/>
                <a:ext cx="16459200" cy="1754326"/>
              </a:xfrm>
              <a:prstGeom prst="rect">
                <a:avLst/>
              </a:prstGeom>
              <a:blipFill>
                <a:blip r:embed="rId3"/>
                <a:stretch>
                  <a:fillRect l="-1111" t="-5556" b="-121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DCC3F3-933F-4380-7E19-99A67F48B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649774ED-6768-6553-5188-A365B4C0D89F}"/>
              </a:ext>
            </a:extLst>
          </p:cNvPr>
          <p:cNvSpPr txBox="1"/>
          <p:nvPr/>
        </p:nvSpPr>
        <p:spPr>
          <a:xfrm>
            <a:off x="17259300" y="9533567"/>
            <a:ext cx="647700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53740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F9F8E-F8E9-08FE-494D-3428723FD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0F49971-7CA9-2F63-2A11-6C4531E7BECE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0C97E08-BA29-B1EE-645D-4FE0AB0485DB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7144455-B616-6B46-ED4E-4ACA85E04BB0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E1D94D37-661D-8242-5B00-80B437B5FFD6}"/>
              </a:ext>
            </a:extLst>
          </p:cNvPr>
          <p:cNvSpPr txBox="1"/>
          <p:nvPr/>
        </p:nvSpPr>
        <p:spPr>
          <a:xfrm>
            <a:off x="13378146" y="781050"/>
            <a:ext cx="3881154" cy="628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556"/>
              </a:lnSpc>
              <a:spcBef>
                <a:spcPct val="0"/>
              </a:spcBef>
            </a:pPr>
            <a:r>
              <a:rPr lang="en-US" altLang="ko-KR" sz="2800" spc="-182" dirty="0">
                <a:solidFill>
                  <a:srgbClr val="191919"/>
                </a:solidFill>
                <a:latin typeface="Glacial Indifference" panose="020B0600000101010101" charset="0"/>
                <a:ea typeface="윤고딕"/>
                <a:cs typeface="윤고딕"/>
                <a:sym typeface="윤고딕"/>
              </a:rPr>
              <a:t>Solution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D58FE38-7B51-CC81-8E72-468006AC34F2}"/>
              </a:ext>
            </a:extLst>
          </p:cNvPr>
          <p:cNvSpPr txBox="1"/>
          <p:nvPr/>
        </p:nvSpPr>
        <p:spPr>
          <a:xfrm>
            <a:off x="457200" y="777212"/>
            <a:ext cx="3881154" cy="797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800" spc="-182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How to solve?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08CF3650-1040-C278-7D7E-B13E1632F2EE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DE08B43-F538-189F-3D63-615BDE43F971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9515351-F93C-927B-6260-8384B5826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92" y="2871512"/>
            <a:ext cx="6023948" cy="493898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4B8979B-8C5E-3805-D130-ABB74CC2B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553" y="2793981"/>
            <a:ext cx="6347866" cy="493898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FCD3E79-CE10-775D-8689-943E061E7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9626" y="6283965"/>
            <a:ext cx="2559092" cy="94489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2282A0E-1E63-7715-CD3A-95DF303587BE}"/>
              </a:ext>
            </a:extLst>
          </p:cNvPr>
          <p:cNvSpPr txBox="1"/>
          <p:nvPr/>
        </p:nvSpPr>
        <p:spPr>
          <a:xfrm>
            <a:off x="13774930" y="5534687"/>
            <a:ext cx="274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Argmax: Argument of the Maximum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C6D559-8F8B-6EA9-2DEB-AF0EB97BD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7A9193-3007-A31D-F7CD-F0D53C92376E}"/>
              </a:ext>
            </a:extLst>
          </p:cNvPr>
          <p:cNvSpPr txBox="1"/>
          <p:nvPr/>
        </p:nvSpPr>
        <p:spPr>
          <a:xfrm>
            <a:off x="17373600" y="9533567"/>
            <a:ext cx="533400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566236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E6E4C-8E38-98A6-8719-000FECFEF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F40CA3C-3FB8-D85E-7F0E-19E815AC6EB4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D0AFF4D-7AE8-E964-E67A-737E9E1128BE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6EB4774-D832-860C-95EE-BF30C8CFB378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5F41549D-079C-CFC5-9455-E18C3E84B00C}"/>
              </a:ext>
            </a:extLst>
          </p:cNvPr>
          <p:cNvSpPr txBox="1"/>
          <p:nvPr/>
        </p:nvSpPr>
        <p:spPr>
          <a:xfrm>
            <a:off x="13378146" y="781050"/>
            <a:ext cx="3881154" cy="632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556"/>
              </a:lnSpc>
              <a:spcBef>
                <a:spcPct val="0"/>
              </a:spcBef>
            </a:pPr>
            <a:r>
              <a:rPr lang="en-US" altLang="ko-KR" sz="2800" dirty="0"/>
              <a:t>Conclusion</a:t>
            </a:r>
            <a:endParaRPr lang="en-US" altLang="ko-KR" sz="2800" spc="-182" dirty="0">
              <a:solidFill>
                <a:srgbClr val="191919"/>
              </a:solidFill>
              <a:latin typeface="Glacial Indifference" panose="020B0600000101010101" charset="0"/>
              <a:ea typeface="윤고딕"/>
              <a:cs typeface="윤고딕"/>
              <a:sym typeface="윤고딕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69D4C6A-86FA-9727-8CD3-7938BCC90D39}"/>
              </a:ext>
            </a:extLst>
          </p:cNvPr>
          <p:cNvSpPr txBox="1"/>
          <p:nvPr/>
        </p:nvSpPr>
        <p:spPr>
          <a:xfrm>
            <a:off x="457200" y="777212"/>
            <a:ext cx="2819189" cy="797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800" spc="-182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Result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0066E665-0AE1-9678-CA45-B9E36A233DBA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0C78BE8-7816-E90F-98E6-0427F5C230C5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ECDF8D5-3D3B-AF6B-65DE-976CDDE44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859" y="3619774"/>
            <a:ext cx="6355003" cy="3733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0AC49E9-E68E-B746-6376-81BF8FFC21E7}"/>
              </a:ext>
            </a:extLst>
          </p:cNvPr>
          <p:cNvSpPr txBox="1"/>
          <p:nvPr/>
        </p:nvSpPr>
        <p:spPr>
          <a:xfrm>
            <a:off x="1756659" y="3346966"/>
            <a:ext cx="31963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Qwen1.5-1.8B</a:t>
            </a:r>
            <a:endParaRPr lang="ko-KR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4C54C6-4839-19E4-BFC4-1CCF5C33B709}"/>
                  </a:ext>
                </a:extLst>
              </p:cNvPr>
              <p:cNvSpPr txBox="1"/>
              <p:nvPr/>
            </p:nvSpPr>
            <p:spPr>
              <a:xfrm>
                <a:off x="8399206" y="4336642"/>
                <a:ext cx="9446342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2800" dirty="0"/>
                  <a:t>Baseline: A model trained with SFT on preferred responses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ko-KR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ar-AE" altLang="ko-KR" sz="2800" i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ko-KR" sz="2800" dirty="0"/>
                  <a:t>)</a:t>
                </a:r>
                <a:r>
                  <a:rPr lang="ar-AE" altLang="ko-KR" sz="2800" dirty="0"/>
                  <a:t> </a:t>
                </a:r>
                <a:r>
                  <a:rPr lang="en-US" altLang="ko-KR" sz="2800" dirty="0"/>
                  <a:t>only then further tuned with DPO.</a:t>
                </a:r>
                <a:endParaRPr lang="ko-KR" alt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4C54C6-4839-19E4-BFC4-1CCF5C33B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9206" y="4336642"/>
                <a:ext cx="9446342" cy="954107"/>
              </a:xfrm>
              <a:prstGeom prst="rect">
                <a:avLst/>
              </a:prstGeom>
              <a:blipFill>
                <a:blip r:embed="rId3"/>
                <a:stretch>
                  <a:fillRect l="-1356" t="-7643" r="-1162" b="-171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7D2CA3-B155-762A-A10E-2DA7A0FDC9A1}"/>
                  </a:ext>
                </a:extLst>
              </p:cNvPr>
              <p:cNvSpPr txBox="1"/>
              <p:nvPr/>
            </p:nvSpPr>
            <p:spPr>
              <a:xfrm>
                <a:off x="8399206" y="5517400"/>
                <a:ext cx="9446342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2800" dirty="0"/>
                  <a:t>Extend: A model trained with SFT on both preferred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ko-KR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ar-AE" altLang="ko-KR" sz="2800" i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ko-K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altLang="ko-KR" sz="2800" dirty="0"/>
                  <a:t> </a:t>
                </a:r>
                <a:r>
                  <a:rPr lang="en-US" altLang="ko-KR" sz="2800" dirty="0"/>
                  <a:t>and dispreferred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ko-KR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ar-AE" altLang="ko-KR" sz="2800" i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altLang="ko-KR" sz="28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altLang="ko-KR" sz="2800" dirty="0"/>
                  <a:t> </a:t>
                </a:r>
                <a:r>
                  <a:rPr lang="en-US" altLang="ko-KR" sz="2800" dirty="0"/>
                  <a:t>responses then further tuned with DPO.</a:t>
                </a:r>
                <a:endParaRPr lang="ko-KR" alt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7D2CA3-B155-762A-A10E-2DA7A0FDC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9206" y="5517400"/>
                <a:ext cx="9446342" cy="954107"/>
              </a:xfrm>
              <a:prstGeom prst="rect">
                <a:avLst/>
              </a:prstGeom>
              <a:blipFill>
                <a:blip r:embed="rId4"/>
                <a:stretch>
                  <a:fillRect l="-1356" t="-7643" b="-171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직사각형 34">
            <a:extLst>
              <a:ext uri="{FF2B5EF4-FFF2-40B4-BE49-F238E27FC236}">
                <a16:creationId xmlns:a16="http://schemas.microsoft.com/office/drawing/2014/main" id="{2E944500-2027-9267-9918-026F4C542D88}"/>
              </a:ext>
            </a:extLst>
          </p:cNvPr>
          <p:cNvSpPr/>
          <p:nvPr/>
        </p:nvSpPr>
        <p:spPr>
          <a:xfrm>
            <a:off x="4114800" y="5229880"/>
            <a:ext cx="3505200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3972307-6116-3534-701C-C2C7F63D4745}"/>
              </a:ext>
            </a:extLst>
          </p:cNvPr>
          <p:cNvCxnSpPr/>
          <p:nvPr/>
        </p:nvCxnSpPr>
        <p:spPr>
          <a:xfrm flipV="1">
            <a:off x="7620000" y="2171700"/>
            <a:ext cx="779206" cy="30581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TextBox 8">
            <a:extLst>
              <a:ext uri="{FF2B5EF4-FFF2-40B4-BE49-F238E27FC236}">
                <a16:creationId xmlns:a16="http://schemas.microsoft.com/office/drawing/2014/main" id="{037B743D-E782-91DC-9FC4-F87A626AE22D}"/>
              </a:ext>
            </a:extLst>
          </p:cNvPr>
          <p:cNvSpPr txBox="1"/>
          <p:nvPr/>
        </p:nvSpPr>
        <p:spPr>
          <a:xfrm>
            <a:off x="7843554" y="1485545"/>
            <a:ext cx="1416395" cy="797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800" spc="-182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Why?</a:t>
            </a:r>
          </a:p>
        </p:txBody>
      </p:sp>
      <p:sp>
        <p:nvSpPr>
          <p:cNvPr id="55" name="화살표: 오른쪽으로 구부러짐 54">
            <a:extLst>
              <a:ext uri="{FF2B5EF4-FFF2-40B4-BE49-F238E27FC236}">
                <a16:creationId xmlns:a16="http://schemas.microsoft.com/office/drawing/2014/main" id="{AA068080-90BF-AA15-E6FE-FE2723C12FF2}"/>
              </a:ext>
            </a:extLst>
          </p:cNvPr>
          <p:cNvSpPr/>
          <p:nvPr/>
        </p:nvSpPr>
        <p:spPr>
          <a:xfrm>
            <a:off x="2362200" y="6471507"/>
            <a:ext cx="152400" cy="523220"/>
          </a:xfrm>
          <a:prstGeom prst="curved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7" name="TextBox 8">
            <a:extLst>
              <a:ext uri="{FF2B5EF4-FFF2-40B4-BE49-F238E27FC236}">
                <a16:creationId xmlns:a16="http://schemas.microsoft.com/office/drawing/2014/main" id="{D32AA5BE-E460-5031-29D8-3A92062DD447}"/>
              </a:ext>
            </a:extLst>
          </p:cNvPr>
          <p:cNvSpPr txBox="1"/>
          <p:nvPr/>
        </p:nvSpPr>
        <p:spPr>
          <a:xfrm>
            <a:off x="1488551" y="6891747"/>
            <a:ext cx="6355003" cy="716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2400" spc="-182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Baseline(win rate(%)) + Extend(win rate(%)) = 1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4EFE59-376D-184A-CC57-CD6A3FA0C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EA5E6B76-8804-E2F3-C599-829B265696D1}"/>
              </a:ext>
            </a:extLst>
          </p:cNvPr>
          <p:cNvSpPr txBox="1"/>
          <p:nvPr/>
        </p:nvSpPr>
        <p:spPr>
          <a:xfrm>
            <a:off x="17259300" y="9533567"/>
            <a:ext cx="647700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4946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2911</TotalTime>
  <Words>394</Words>
  <Application>Microsoft Office PowerPoint</Application>
  <PresentationFormat>사용자 지정</PresentationFormat>
  <Paragraphs>87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1" baseType="lpstr">
      <vt:lpstr>맑은 고딕</vt:lpstr>
      <vt:lpstr>Calibri</vt:lpstr>
      <vt:lpstr>윤고딕</vt:lpstr>
      <vt:lpstr>Arial</vt:lpstr>
      <vt:lpstr>Glacial Indifference</vt:lpstr>
      <vt:lpstr>Cambria Math</vt:lpstr>
      <vt:lpstr>윤고딕 Light</vt:lpstr>
      <vt:lpstr>Garet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심플한 비지니스 프로젝트 프레젠테이션</dc:title>
  <cp:lastModifiedBy>변윤성</cp:lastModifiedBy>
  <cp:revision>40</cp:revision>
  <dcterms:created xsi:type="dcterms:W3CDTF">2006-08-16T00:00:00Z</dcterms:created>
  <dcterms:modified xsi:type="dcterms:W3CDTF">2025-09-11T01:46:25Z</dcterms:modified>
  <dc:identifier>DAGyMBKKpxw</dc:identifier>
</cp:coreProperties>
</file>