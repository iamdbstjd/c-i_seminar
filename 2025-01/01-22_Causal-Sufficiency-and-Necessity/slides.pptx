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0" r:id="rId4"/>
    <p:sldId id="294" r:id="rId5"/>
    <p:sldId id="311" r:id="rId6"/>
    <p:sldId id="316" r:id="rId7"/>
    <p:sldId id="275" r:id="rId8"/>
    <p:sldId id="317" r:id="rId9"/>
    <p:sldId id="308" r:id="rId10"/>
    <p:sldId id="309" r:id="rId11"/>
    <p:sldId id="325" r:id="rId12"/>
    <p:sldId id="295" r:id="rId13"/>
    <p:sldId id="296" r:id="rId14"/>
    <p:sldId id="318" r:id="rId15"/>
    <p:sldId id="319" r:id="rId16"/>
    <p:sldId id="320" r:id="rId17"/>
    <p:sldId id="313" r:id="rId18"/>
    <p:sldId id="321" r:id="rId19"/>
    <p:sldId id="322" r:id="rId20"/>
    <p:sldId id="323" r:id="rId21"/>
    <p:sldId id="324" r:id="rId22"/>
  </p:sldIdLst>
  <p:sldSz cx="18288000" cy="10287000"/>
  <p:notesSz cx="6858000" cy="9144000"/>
  <p:embeddedFontLst>
    <p:embeddedFont>
      <p:font typeface="윤고딕" panose="020B0600000101010101" charset="-127"/>
      <p:regular r:id="rId24"/>
    </p:embeddedFont>
    <p:embeddedFont>
      <p:font typeface="Garet Light" panose="020B0600000101010101" charset="0"/>
      <p:regular r:id="rId25"/>
    </p:embeddedFont>
    <p:embeddedFont>
      <p:font typeface="Glacial Indifference" panose="020B0600000101010101" charset="0"/>
      <p:regular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22" autoAdjust="0"/>
  </p:normalViewPr>
  <p:slideViewPr>
    <p:cSldViewPr>
      <p:cViewPr varScale="1">
        <p:scale>
          <a:sx n="52" d="100"/>
          <a:sy n="52" d="100"/>
        </p:scale>
        <p:origin x="87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3B795-2DD5-41AD-8751-5C4089DF444F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B8363-F2E3-4439-A7E6-14F7E1DF9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24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D2B1C-BF43-4DE7-ABE0-B047D62A78C0}" type="datetime1">
              <a:rPr lang="en-US" altLang="ko-KR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6A5C2-0AC0-4C27-B972-27F3E6623A31}" type="datetime1">
              <a:rPr lang="en-US" altLang="ko-KR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3253-B364-4353-8945-5F93EC62AEA8}" type="datetime1">
              <a:rPr lang="en-US" altLang="ko-KR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D38A-FBC9-4474-860E-0943576FB2A9}" type="datetime1">
              <a:rPr lang="en-US" altLang="ko-KR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005-A359-4551-8385-DF962D05B961}" type="datetime1">
              <a:rPr lang="en-US" altLang="ko-KR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87605-D5BC-4F76-AD54-FBE4D0EF73CC}" type="datetime1">
              <a:rPr lang="en-US" altLang="ko-KR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34F-D1A4-4FC3-B616-E1519CFBDFE8}" type="datetime1">
              <a:rPr lang="en-US" altLang="ko-KR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06EF1-72F3-46B4-913E-2E8BF85C7B09}" type="datetime1">
              <a:rPr lang="en-US" altLang="ko-KR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54CDE-32A1-474B-A1A7-B2AE31A053DC}" type="datetime1">
              <a:rPr lang="en-US" altLang="ko-KR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E487-4CBF-4938-A927-D22297E05349}" type="datetime1">
              <a:rPr lang="en-US" altLang="ko-KR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8D2E-2F69-417D-9B17-4140C005495E}" type="datetime1">
              <a:rPr lang="en-US" altLang="ko-KR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90963-C5EF-42F4-8651-C8B07638FE5F}" type="datetime1">
              <a:rPr lang="en-US" altLang="ko-KR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5808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781050"/>
            <a:ext cx="164242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0662" y="2678190"/>
            <a:ext cx="16296792" cy="2831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en-US" altLang="ko-KR" sz="4800" dirty="0"/>
              <a:t>Causal Sufficiency and Necessity Improves </a:t>
            </a:r>
          </a:p>
          <a:p>
            <a:pPr algn="ctr">
              <a:lnSpc>
                <a:spcPts val="11923"/>
              </a:lnSpc>
            </a:pPr>
            <a:r>
              <a:rPr lang="en-US" altLang="ko-KR" sz="4800" dirty="0"/>
              <a:t>Chain-of-Thought Reasoning</a:t>
            </a:r>
            <a:endParaRPr lang="en-US" sz="4800" spc="-103" dirty="0">
              <a:solidFill>
                <a:srgbClr val="191919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2400" y="9573972"/>
            <a:ext cx="297595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2026.01.22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11114" y="9533567"/>
            <a:ext cx="2975952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YunSung</a:t>
            </a: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Byun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4C8435-A8BC-D4AF-C15C-41A7B0E886D6}"/>
              </a:ext>
            </a:extLst>
          </p:cNvPr>
          <p:cNvSpPr txBox="1"/>
          <p:nvPr/>
        </p:nvSpPr>
        <p:spPr>
          <a:xfrm>
            <a:off x="7901272" y="5631726"/>
            <a:ext cx="27555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 err="1"/>
              <a:t>Neurips</a:t>
            </a:r>
            <a:r>
              <a:rPr lang="en-US" altLang="ko-KR" sz="3600" dirty="0"/>
              <a:t> 2025</a:t>
            </a:r>
            <a:endParaRPr lang="ko-KR" altLang="en-US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82EAE-59C8-E631-E9C8-1A80B7ECA36A}"/>
              </a:ext>
            </a:extLst>
          </p:cNvPr>
          <p:cNvSpPr txBox="1"/>
          <p:nvPr/>
        </p:nvSpPr>
        <p:spPr>
          <a:xfrm>
            <a:off x="4490061" y="6588490"/>
            <a:ext cx="100641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/>
              <a:t>Bilgehan Sel, Ahmad Al-</a:t>
            </a:r>
            <a:r>
              <a:rPr lang="en-US" altLang="ko-KR" sz="2800" dirty="0" err="1"/>
              <a:t>Tawaha</a:t>
            </a:r>
            <a:r>
              <a:rPr lang="en-US" altLang="ko-KR" sz="2800" dirty="0"/>
              <a:t>, Vanshaj Khattar, Ruoxi Jia, Ming Jin</a:t>
            </a:r>
            <a:endParaRPr lang="it-IT" alt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52241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86400" y="2029751"/>
            <a:ext cx="391815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Introduction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486400" y="3804133"/>
            <a:ext cx="10591800" cy="817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6589"/>
              </a:lnSpc>
              <a:spcBef>
                <a:spcPct val="0"/>
              </a:spcBef>
              <a:defRPr/>
            </a:pPr>
            <a:r>
              <a:rPr lang="en-US" altLang="ko-KR" sz="5400" spc="-65" dirty="0">
                <a:solidFill>
                  <a:srgbClr val="191919"/>
                </a:solidFill>
                <a:latin typeface="Glacial Indifference" panose="020B0600000101010101" charset="0"/>
                <a:ea typeface="윤고딕"/>
                <a:cs typeface="윤고딕"/>
                <a:sym typeface="윤고딕"/>
              </a:rPr>
              <a:t>Algorithm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0" y="5611967"/>
            <a:ext cx="11001452" cy="72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Experiments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1484" y="7341044"/>
            <a:ext cx="8034568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40383" y="1567013"/>
            <a:ext cx="1268309" cy="1643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10885" y="3245484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2.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740382" y="4978067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40382" y="6792584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4.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31319" y="934598"/>
            <a:ext cx="2478904" cy="80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Contents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38BBEA-6728-FD9C-F1A3-C415764866D1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F137AD9-D6D0-99F5-1B3C-2D1FEAC8E95E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1958" y="851019"/>
            <a:ext cx="2564432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000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How?</a:t>
            </a:r>
          </a:p>
        </p:txBody>
      </p:sp>
      <p:sp>
        <p:nvSpPr>
          <p:cNvPr id="14" name="AutoShape 14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5739373-734D-903B-954C-41E5517D8A6D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3031ECA-815C-C507-F09D-26C76B1ABD71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</a:t>
            </a:r>
          </a:p>
        </p:txBody>
      </p:sp>
      <p:pic>
        <p:nvPicPr>
          <p:cNvPr id="11" name="그림 10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8AB1C3-FDD7-4088-6EF8-8C62B5C0F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92" y="2146676"/>
            <a:ext cx="16780608" cy="62086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8B0B-3149-3CB0-3987-E3EE36AA1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A3DAE4F-F662-CD7F-861B-9A414D81B3CB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8F678A2-E548-DDBC-7A07-66A46CF4D8B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E3DF4EB-E9BA-B395-B897-E4144BDBEFD5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5302F38-A398-EFD4-EBCC-5E82DAB90D39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D21C959-D5D0-69F2-F255-2756738C6530}"/>
              </a:ext>
            </a:extLst>
          </p:cNvPr>
          <p:cNvSpPr txBox="1"/>
          <p:nvPr/>
        </p:nvSpPr>
        <p:spPr>
          <a:xfrm>
            <a:off x="183602" y="845179"/>
            <a:ext cx="3473998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000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COT </a:t>
            </a:r>
            <a:r>
              <a:rPr lang="en-US" altLang="ko-KR" sz="4000" dirty="0"/>
              <a:t>Definition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72549273-0196-450B-A075-89B6CED32AF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32B6B1A-AD82-05D4-28A9-40FD0B80B6C0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57D1D242-26C8-3629-9499-E282820A62E5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</a:t>
            </a:r>
          </a:p>
        </p:txBody>
      </p:sp>
      <p:pic>
        <p:nvPicPr>
          <p:cNvPr id="9" name="그림 8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9C3548-F27D-BDE8-AB21-FF8C30F54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490" y="4348505"/>
            <a:ext cx="13331019" cy="223651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2B1C35-C8D4-4805-8F35-C3861E276588}"/>
              </a:ext>
            </a:extLst>
          </p:cNvPr>
          <p:cNvSpPr/>
          <p:nvPr/>
        </p:nvSpPr>
        <p:spPr>
          <a:xfrm>
            <a:off x="11622490" y="4180804"/>
            <a:ext cx="4187019" cy="240421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615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D8339-DD52-6019-A308-573FD48C1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709200-F389-0612-A40B-2C966DCBB4D1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6A1AE1B-2285-98BA-7A6A-9C35A29B801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32C1DF-CD73-0D2B-40AE-C4AA1FF92D1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B3C8B9E-819E-4C29-1597-6C481BA91C46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63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99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FB84DFB-4588-9985-B205-2BB31199450F}"/>
              </a:ext>
            </a:extLst>
          </p:cNvPr>
          <p:cNvSpPr txBox="1"/>
          <p:nvPr/>
        </p:nvSpPr>
        <p:spPr>
          <a:xfrm>
            <a:off x="711958" y="851019"/>
            <a:ext cx="5003041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6589"/>
              </a:lnSpc>
              <a:spcBef>
                <a:spcPct val="0"/>
              </a:spcBef>
              <a:defRPr/>
            </a:pPr>
            <a:r>
              <a:rPr lang="en-US" sz="4000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The Ladder of Causation</a:t>
            </a:r>
            <a:endParaRPr kumimoji="0" lang="en-US" sz="4000" b="0" i="0" u="none" strike="noStrike" kern="1200" cap="none" spc="-65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65736D3-EF99-D17E-4549-2127A103A39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D610979F-A38D-CE52-C160-B5F9E5682491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7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윤고딕"/>
                <a:ea typeface="윤고딕"/>
                <a:cs typeface="윤고딕"/>
                <a:sym typeface="윤고딕"/>
              </a:rPr>
              <a:t>5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709DB745-313D-F51C-1BA4-5EC76FAF80DF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1026" name="Picture 2" descr="The Ladder of Causation: Climbing up in the world of Causal ...">
            <a:extLst>
              <a:ext uri="{FF2B5EF4-FFF2-40B4-BE49-F238E27FC236}">
                <a16:creationId xmlns:a16="http://schemas.microsoft.com/office/drawing/2014/main" id="{8D5F7A5C-2F85-BECA-27C7-3CCDE89A9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028645"/>
            <a:ext cx="14173200" cy="6486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6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F5C6C-6336-67CE-6B1B-7805BDA8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238FFB-9031-F8BD-4A31-5FA8B0FFD0F6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02C855F-4A84-95C0-A3F8-956995862DE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0FB17D7-A597-2583-C958-AABE12E3454A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DA49FB3-3DAA-6048-EFF3-440CC9B8A914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63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99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1CCEB17-C937-B237-1D5D-918FE7529BCA}"/>
              </a:ext>
            </a:extLst>
          </p:cNvPr>
          <p:cNvSpPr txBox="1"/>
          <p:nvPr/>
        </p:nvSpPr>
        <p:spPr>
          <a:xfrm>
            <a:off x="711958" y="851019"/>
            <a:ext cx="6374642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6589"/>
              </a:lnSpc>
              <a:spcBef>
                <a:spcPct val="0"/>
              </a:spcBef>
              <a:defRPr/>
            </a:pPr>
            <a:r>
              <a:rPr lang="en-US" altLang="ko-KR" sz="4000" dirty="0"/>
              <a:t>Sufficiency(PS), Necessity(PN)</a:t>
            </a:r>
            <a:endParaRPr kumimoji="0" lang="en-US" sz="4000" b="0" i="0" u="none" strike="noStrike" kern="1200" cap="none" spc="-65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17D1B608-25A2-04F0-DDF7-6B48E46C71D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22849A09-D50A-B70E-8CF5-1DC221C7CCE8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6</a:t>
            </a:r>
            <a:endParaRPr kumimoji="0" lang="en-US" sz="3197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5D8CB0A-5537-E533-FF17-560E300DFDC6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07BE825-1F77-52E7-5309-168BF38EE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99" y="2475990"/>
            <a:ext cx="11029787" cy="10772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FAB8199-8D64-6DB1-707E-BABB997D8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232" y="4407968"/>
            <a:ext cx="15337520" cy="10772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23056EB-8843-BD9F-0C63-2689A15C8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955" y="6733792"/>
            <a:ext cx="11362077" cy="107721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FD78471B-FF80-2ABD-4FA4-DFECF195E5B8}"/>
              </a:ext>
            </a:extLst>
          </p:cNvPr>
          <p:cNvSpPr/>
          <p:nvPr/>
        </p:nvSpPr>
        <p:spPr>
          <a:xfrm>
            <a:off x="3629099" y="2705100"/>
            <a:ext cx="1019101" cy="685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28BE8B-E6E7-9725-DEE7-E2CAB7E4F67A}"/>
              </a:ext>
            </a:extLst>
          </p:cNvPr>
          <p:cNvSpPr/>
          <p:nvPr/>
        </p:nvSpPr>
        <p:spPr>
          <a:xfrm>
            <a:off x="1475232" y="4525867"/>
            <a:ext cx="1019101" cy="6858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8640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7729-5671-95A4-1473-B080D566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B70018-95F4-E626-0C25-F1A0CA48EFA8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CDEE6D-9C7C-0E15-CCC3-BDF2AAA46E0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E81A01-6BB3-9E3D-2CA4-249926E9E2A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A6DA00C-69FE-04F2-5831-888E61B8951C}"/>
              </a:ext>
            </a:extLst>
          </p:cNvPr>
          <p:cNvSpPr txBox="1"/>
          <p:nvPr/>
        </p:nvSpPr>
        <p:spPr>
          <a:xfrm>
            <a:off x="24581" y="768434"/>
            <a:ext cx="4162214" cy="756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600" dirty="0"/>
              <a:t>Contribution</a:t>
            </a:r>
            <a:endParaRPr lang="en-US" sz="36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4127906-69D5-1802-1C81-A819859EDCA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971494-FBB9-5FB5-3030-AE6998B09C7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33044-3171-89C2-56FA-555C17A268AF}"/>
              </a:ext>
            </a:extLst>
          </p:cNvPr>
          <p:cNvSpPr txBox="1"/>
          <p:nvPr/>
        </p:nvSpPr>
        <p:spPr>
          <a:xfrm>
            <a:off x="2105688" y="2226753"/>
            <a:ext cx="1356360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en-US" altLang="ko-KR" sz="3600" dirty="0"/>
              <a:t>Pioneering the Integration of PNS into </a:t>
            </a:r>
            <a:r>
              <a:rPr lang="en-US" altLang="ko-KR" sz="3600" dirty="0" err="1"/>
              <a:t>CoT</a:t>
            </a:r>
            <a:r>
              <a:rPr lang="en-US" altLang="ko-KR" sz="3600" dirty="0"/>
              <a:t> </a:t>
            </a:r>
          </a:p>
          <a:p>
            <a:r>
              <a:rPr lang="en-US" altLang="ko-KR" sz="2800" dirty="0"/>
              <a:t>	We propose a conceptual integration of Probability of Necessary and Sufficient 		causation (PNS) into </a:t>
            </a:r>
            <a:r>
              <a:rPr lang="en-US" altLang="ko-KR" sz="2800" dirty="0" err="1"/>
              <a:t>CoT</a:t>
            </a:r>
            <a:r>
              <a:rPr lang="en-US" altLang="ko-KR" sz="2800" dirty="0"/>
              <a:t> reasoning.</a:t>
            </a:r>
          </a:p>
          <a:p>
            <a:endParaRPr lang="en-US" altLang="ko-KR" sz="2800" dirty="0"/>
          </a:p>
          <a:p>
            <a:pPr marL="742950" indent="-742950">
              <a:buAutoNum type="arabicPeriod" startAt="2"/>
            </a:pPr>
            <a:r>
              <a:rPr lang="en-US" altLang="ko-KR" sz="3600" dirty="0"/>
              <a:t>Development of an Optimization Algorithm for Efficient Reasoning</a:t>
            </a:r>
          </a:p>
          <a:p>
            <a:r>
              <a:rPr lang="en-US" altLang="ko-KR" sz="2400" dirty="0"/>
              <a:t>	</a:t>
            </a:r>
            <a:r>
              <a:rPr lang="en-US" altLang="ko-KR" sz="2800" dirty="0"/>
              <a:t>We introduce a novel bi-level optimization framework based on PNS for systematically 	constructing efficient and accurate </a:t>
            </a:r>
            <a:r>
              <a:rPr lang="en-US" altLang="ko-KR" sz="2800" dirty="0" err="1"/>
              <a:t>CoT</a:t>
            </a:r>
            <a:r>
              <a:rPr lang="en-US" altLang="ko-KR" sz="2800" dirty="0"/>
              <a:t> reasoning sequences.</a:t>
            </a:r>
          </a:p>
          <a:p>
            <a:endParaRPr lang="en-US" altLang="ko-KR" sz="2800" dirty="0"/>
          </a:p>
          <a:p>
            <a:pPr marL="742950" indent="-742950">
              <a:buAutoNum type="arabicPeriod" startAt="3"/>
            </a:pPr>
            <a:r>
              <a:rPr lang="en-US" altLang="ko-KR" sz="3600" dirty="0"/>
              <a:t>Performance Validation through Extensive Experiments (Empirical Contribution) </a:t>
            </a:r>
          </a:p>
          <a:p>
            <a:r>
              <a:rPr lang="en-US" altLang="ko-KR" sz="3600" dirty="0"/>
              <a:t>	</a:t>
            </a:r>
            <a:r>
              <a:rPr lang="en-US" altLang="ko-KR" sz="2800" dirty="0"/>
              <a:t>We empirically validate our approach across diverse reasoning tasks, demonstrating 	substantial improvements in both efficiency and accuracy through optimized </a:t>
            </a:r>
            <a:r>
              <a:rPr lang="en-US" altLang="ko-KR" sz="2800" dirty="0" err="1"/>
              <a:t>CoT</a:t>
            </a:r>
            <a:r>
              <a:rPr lang="en-US" altLang="ko-KR" sz="2800" dirty="0"/>
              <a:t> 	traces used for in-context learning and supervised fine-tuning.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649774ED-6768-6553-5188-A365B4C0D89F}"/>
              </a:ext>
            </a:extLst>
          </p:cNvPr>
          <p:cNvSpPr txBox="1"/>
          <p:nvPr/>
        </p:nvSpPr>
        <p:spPr>
          <a:xfrm>
            <a:off x="17259300" y="9533567"/>
            <a:ext cx="647700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7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44C1852-68A5-2DE8-94CB-77459EE30E0D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53740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ADAFB-B93F-F541-9D44-7C39B4431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B9E380A-60CB-873C-B4AD-D05BD27AF40A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6BA1054-E319-FFD6-4693-0C05F26C01C2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345137E-EB36-3A1D-96AA-921AA79BAC04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73BF6750-1CCD-DEE1-A42E-1B29429B5BC4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63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Experiments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D7D740C-29FB-A37D-1274-FD95249AA5D8}"/>
              </a:ext>
            </a:extLst>
          </p:cNvPr>
          <p:cNvSpPr txBox="1"/>
          <p:nvPr/>
        </p:nvSpPr>
        <p:spPr>
          <a:xfrm>
            <a:off x="31955" y="828675"/>
            <a:ext cx="3701845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658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spc="-65" dirty="0">
                <a:solidFill>
                  <a:srgbClr val="191919"/>
                </a:solidFill>
                <a:latin typeface="Calibri"/>
                <a:ea typeface="윤고딕"/>
                <a:cs typeface="윤고딕"/>
                <a:sym typeface="윤고딕"/>
              </a:rPr>
              <a:t>Algorithm</a:t>
            </a:r>
            <a:endParaRPr kumimoji="0" lang="en-US" sz="4000" b="0" i="0" u="none" strike="noStrike" kern="1200" cap="none" spc="-65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Calibri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69968ED-6125-1157-29A0-023EBD480C49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26E3F2F8-9DAC-93C9-FC45-F3F9FFA7C81C}"/>
              </a:ext>
            </a:extLst>
          </p:cNvPr>
          <p:cNvSpPr txBox="1"/>
          <p:nvPr/>
        </p:nvSpPr>
        <p:spPr>
          <a:xfrm>
            <a:off x="17373600" y="9533567"/>
            <a:ext cx="5896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8</a:t>
            </a:r>
            <a:endParaRPr kumimoji="0" lang="en-US" sz="3197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CA80600-55FB-0C30-DA40-11014E7122F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B6E7FE-5B78-D7E5-DA6B-9E261B2AF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862" y="1906457"/>
            <a:ext cx="13922274" cy="5623777"/>
          </a:xfrm>
          <a:prstGeom prst="rect">
            <a:avLst/>
          </a:prstGeom>
        </p:spPr>
      </p:pic>
      <p:pic>
        <p:nvPicPr>
          <p:cNvPr id="14" name="그림 13" descr="폰트, 텍스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9B2589-9C4F-CF31-1C9A-B803523CE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141" y="7933252"/>
            <a:ext cx="5949716" cy="145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011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0A8F-8D98-16E3-0590-9DDD5AFA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0B26F4-F8C6-4D88-302C-64C7164B23A4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E7CB0B9-972A-DC0E-8005-41E78037673F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8A47133-0F69-E94B-359D-B2049970F26E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883F5506-F721-EBCF-0759-C3311445B5DE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Experiments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11FA5EB-021F-0043-4C41-1F8570FD8837}"/>
              </a:ext>
            </a:extLst>
          </p:cNvPr>
          <p:cNvSpPr txBox="1"/>
          <p:nvPr/>
        </p:nvSpPr>
        <p:spPr>
          <a:xfrm>
            <a:off x="31955" y="828675"/>
            <a:ext cx="3625645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 Result</a:t>
            </a:r>
            <a:endParaRPr lang="en-US" sz="4000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C616B6F-2210-4142-DA4A-8C587BE050A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9871FBD-F5B2-C2EC-AEF3-AD7BCE9C2E99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4AF4A8E-A5D0-166F-6F82-CB48A2CC7945}"/>
              </a:ext>
            </a:extLst>
          </p:cNvPr>
          <p:cNvSpPr txBox="1"/>
          <p:nvPr/>
        </p:nvSpPr>
        <p:spPr>
          <a:xfrm>
            <a:off x="17259300" y="9533567"/>
            <a:ext cx="7039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9</a:t>
            </a:r>
          </a:p>
        </p:txBody>
      </p:sp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026397-BBDC-8AA2-9DCA-B6157E5F3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781" y="2598628"/>
            <a:ext cx="15528436" cy="605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36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52AA1-45B1-FFCD-4002-E759634E3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D13F920-48A8-B47F-D171-7639FCC1A1CC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58B156-FA59-A6D3-F834-1FC894AF1A85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467699E-65D1-98A4-F83E-968F76AB5C96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B44CB891-8459-3589-71E1-EDB03CDC424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Experiments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CDC70EB-4AA9-D177-3519-E16312884F20}"/>
              </a:ext>
            </a:extLst>
          </p:cNvPr>
          <p:cNvSpPr txBox="1"/>
          <p:nvPr/>
        </p:nvSpPr>
        <p:spPr>
          <a:xfrm>
            <a:off x="31954" y="828675"/>
            <a:ext cx="3549446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000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Main Result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B82E3E4-C626-D7F9-B512-ADCF7D7AEC94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C7D453D-5B8D-338D-6FB2-B21994E08818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B1E58EC-DF61-D456-0120-4BC5D815AA47}"/>
              </a:ext>
            </a:extLst>
          </p:cNvPr>
          <p:cNvSpPr txBox="1"/>
          <p:nvPr/>
        </p:nvSpPr>
        <p:spPr>
          <a:xfrm>
            <a:off x="17259300" y="9533567"/>
            <a:ext cx="7039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10</a:t>
            </a:r>
          </a:p>
        </p:txBody>
      </p:sp>
      <p:pic>
        <p:nvPicPr>
          <p:cNvPr id="12" name="그림 11" descr="텍스트, 라인, 폰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F9E47A-14D0-BC1F-33B1-FBFB0AF0C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691754"/>
            <a:ext cx="12420600" cy="780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2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A2808-DE62-C4F3-BACB-A7F6A430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C727CA-ADD3-E06D-1694-092EC69B6B51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B006D1A-BF0F-51B0-C0A4-5FAB2439971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D026525-F8A8-D0BD-1AED-F2A41420F087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AED6AF5A-4B75-74F0-C793-1B09566FEB71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Experiments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3E284C9-58A8-D7E4-3D3A-10D9737572EA}"/>
              </a:ext>
            </a:extLst>
          </p:cNvPr>
          <p:cNvSpPr txBox="1"/>
          <p:nvPr/>
        </p:nvSpPr>
        <p:spPr>
          <a:xfrm>
            <a:off x="31954" y="828675"/>
            <a:ext cx="3549446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000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Main Result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ECDFDCD-63B6-201A-ACFF-26D2561CB199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88C8ADE-B8C1-D246-2BC0-B7BD7DACC9B1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147831-72F7-BBE1-6814-168CE0513663}"/>
              </a:ext>
            </a:extLst>
          </p:cNvPr>
          <p:cNvSpPr txBox="1"/>
          <p:nvPr/>
        </p:nvSpPr>
        <p:spPr>
          <a:xfrm>
            <a:off x="17259300" y="9533567"/>
            <a:ext cx="7039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11</a:t>
            </a:r>
          </a:p>
        </p:txBody>
      </p:sp>
      <p:pic>
        <p:nvPicPr>
          <p:cNvPr id="11" name="그림 10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2B2853-C901-B6A7-70D0-4DA957088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299" y="1974862"/>
            <a:ext cx="12725400" cy="680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30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086F-C944-A6B2-F230-BE2237F6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52172D-21CB-BF3D-245D-32B66FE692EA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5556D1-B903-6540-A029-CFDF75CE4CE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DC82141-C422-10B7-CFA4-C18A9E92EC5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30E32DD-1713-824F-9963-D512BAE4C880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Conclusion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2CB8557-1622-DA45-78F9-F305F01799A7}"/>
              </a:ext>
            </a:extLst>
          </p:cNvPr>
          <p:cNvSpPr txBox="1"/>
          <p:nvPr/>
        </p:nvSpPr>
        <p:spPr>
          <a:xfrm>
            <a:off x="31955" y="828675"/>
            <a:ext cx="5225845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Conclusion &amp; Limit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625DE26-72C6-C2D0-2ED6-E071C55A1151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82323F71-1021-9B8B-2D03-A510AF5E280F}"/>
              </a:ext>
            </a:extLst>
          </p:cNvPr>
          <p:cNvSpPr txBox="1"/>
          <p:nvPr/>
        </p:nvSpPr>
        <p:spPr>
          <a:xfrm>
            <a:off x="1722246" y="2957894"/>
            <a:ext cx="15113038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3200" dirty="0"/>
              <a:t>Successfully incorporated the concept of Probability of Necessity and Sufficiency (PNS) into Chain-of-Thought reasoning.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CA6D97C-AB17-7416-DE88-9C04379F505B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1CAD55E-8F6E-D503-C2D0-020EE6BB6C75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23119F-AE5B-AAE0-C21C-2480AA600D7B}"/>
              </a:ext>
            </a:extLst>
          </p:cNvPr>
          <p:cNvSpPr txBox="1"/>
          <p:nvPr/>
        </p:nvSpPr>
        <p:spPr>
          <a:xfrm>
            <a:off x="1709351" y="4849546"/>
            <a:ext cx="15549949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5400" dirty="0">
                <a:solidFill>
                  <a:srgbClr val="FF0000"/>
                </a:solidFill>
              </a:rPr>
              <a:t>But</a:t>
            </a:r>
            <a:r>
              <a:rPr lang="en-US" altLang="ko-KR" sz="3600" dirty="0"/>
              <a:t> </a:t>
            </a:r>
          </a:p>
          <a:p>
            <a:pPr>
              <a:buNone/>
            </a:pPr>
            <a:r>
              <a:rPr lang="en-US" altLang="ko-KR" sz="3200" dirty="0"/>
              <a:t>The challenge of identifying optimal pruning thresholds.</a:t>
            </a:r>
          </a:p>
          <a:p>
            <a:pPr>
              <a:buNone/>
            </a:pPr>
            <a:r>
              <a:rPr lang="en-US" altLang="ko-KR" sz="3200" dirty="0"/>
              <a:t>Management of estimation costs associated with calculating PNS values.</a:t>
            </a:r>
          </a:p>
        </p:txBody>
      </p:sp>
    </p:spTree>
    <p:extLst>
      <p:ext uri="{BB962C8B-B14F-4D97-AF65-F5344CB8AC3E}">
        <p14:creationId xmlns:p14="http://schemas.microsoft.com/office/powerpoint/2010/main" val="3957513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1E2BF-4844-7EAA-F182-8754AD48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557FCC-4237-4E27-F1D8-252DC938E22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57FEFE-40A1-9DDB-8000-B09FF3C2FE6A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BDE6D3-9D9E-6012-39D6-513214B2CD4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77519F7-D9A9-A668-E49F-547A26734536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82CBE56-0540-CF03-0088-20287BD60F12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Feature (-1)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89CF8A5-38D7-14CD-0D57-7665ECD47EE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9A6C101-BC76-B972-77E6-EFDB50BDE553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A4F385CD-02FC-2B35-69F9-EE1ED35D97D3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13</a:t>
            </a: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E36CC0-BB16-8EEA-031D-E3B232C5D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8" y="2139572"/>
            <a:ext cx="8166100" cy="4899660"/>
          </a:xfrm>
          <a:prstGeom prst="rect">
            <a:avLst/>
          </a:prstGeom>
        </p:spPr>
      </p:pic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674F00-46DD-4EBE-C6CB-BE29CF27C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620" y="1998373"/>
            <a:ext cx="7726680" cy="518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837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CF2C8-7D84-25BA-34CA-0D5DDDE5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9230E8B-9A95-81C5-C9F4-76BDA67CF74D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CF6D7C-1569-7BC6-F071-1A96C4CE7F32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8622AA0-6826-738B-6411-89C9B4114D8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D864523-2F93-5ED1-2C58-E40C1E97EB31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63961D3-7D33-46E5-97E3-CF3E83551F38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Feature (-1)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F83202A-F02A-1DC7-8A7A-3323FA5AFBF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8BBB05E-CFB8-DCA9-E1B8-D8EFBD750935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FB5DACC0-AB59-C4C4-7636-5C7B84BA114D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14</a:t>
            </a:r>
          </a:p>
        </p:txBody>
      </p:sp>
      <p:pic>
        <p:nvPicPr>
          <p:cNvPr id="12" name="그림 1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27D7CB-916F-1E37-A23E-BD52A6626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2473243"/>
            <a:ext cx="7543801" cy="5024637"/>
          </a:xfrm>
          <a:prstGeom prst="rect">
            <a:avLst/>
          </a:prstGeom>
        </p:spPr>
      </p:pic>
      <p:pic>
        <p:nvPicPr>
          <p:cNvPr id="17" name="그림 1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C70883-1911-03B1-7D61-604E74476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245" y="2349895"/>
            <a:ext cx="7543801" cy="507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89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FD965-0EEC-39E0-7EBE-2F7A4FCFE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C74DEF7-2511-D438-4191-90DA4738550D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468AA9-E1A8-9A58-5083-B7842F4F1318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1A0AABF-C73B-FC4E-0141-3D0A70E4DC26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A0A7A1ED-55D2-A4A2-0A47-705367A8144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5EF6AE2-A26F-C813-158E-9849058913F6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Feature (-2)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91FDC53-1DDA-450A-851E-8C95F9ECDC0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B235195-7803-41F7-5C7C-75CCF7A23687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F02F8F1E-828B-3B68-EFE6-B29BF01974AA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15</a:t>
            </a: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D7B85B-B11A-C579-FAE5-38B161836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901314"/>
            <a:ext cx="7326630" cy="4897913"/>
          </a:xfrm>
          <a:prstGeom prst="rect">
            <a:avLst/>
          </a:prstGeom>
        </p:spPr>
      </p:pic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A205D0-DA49-5655-370B-5F41C81EEE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170" y="2831742"/>
            <a:ext cx="7326630" cy="484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01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52AF6-517F-2036-CC70-E464B665B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7469E49-8854-BC69-CF70-14A335BC2BC7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A7170EA-EA61-A9A0-5AD6-C6A7CFFF165A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D93FDB2-D589-5F5C-32A2-2308F29B97CA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A2FAE2E-F0B8-82D7-4F66-68C4731F66A2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AFED724-D330-F393-3A24-8AB486154915}"/>
              </a:ext>
            </a:extLst>
          </p:cNvPr>
          <p:cNvSpPr txBox="1"/>
          <p:nvPr/>
        </p:nvSpPr>
        <p:spPr>
          <a:xfrm>
            <a:off x="31956" y="828675"/>
            <a:ext cx="4877899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Feature (-2) , (all)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82A7096-E047-1945-3BA1-A397264A6D7C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F2C721D5-DFC7-58EE-BB7B-D32778C0DA6B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C41A698E-B154-94DB-71B5-F037BFA199B2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16</a:t>
            </a:r>
          </a:p>
        </p:txBody>
      </p:sp>
      <p:pic>
        <p:nvPicPr>
          <p:cNvPr id="12" name="그림 1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6ACC59-CF03-0C59-1398-F6EC48B33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108332"/>
            <a:ext cx="7772400" cy="5129500"/>
          </a:xfrm>
          <a:prstGeom prst="rect">
            <a:avLst/>
          </a:prstGeom>
        </p:spPr>
      </p:pic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E00F2E-FB3E-E34F-542F-9E3F492EE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3105256"/>
            <a:ext cx="7772400" cy="512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97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F9F61-7F83-945C-F424-D3CC090B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D1CF41-A51A-5CDA-1869-1CD8E9EF7978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DE0C65-89EC-F66D-1171-9C7F71BDE8E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84ECA5-02D3-7F98-2226-3AFCBD54D1C6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AAFAFE5-F599-397A-DDDE-5FF1391F1551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5C1AFB2-D3B5-D126-14E8-2186A253B345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LR + COT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B06054A-6F66-1ADA-1A53-8422AE50AA20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AB50A2D-703F-4940-61AA-AF9213CE9107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0E3B76F1-F120-58F9-CE09-A76A071DACDA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9B8A80-DDE0-EEB6-701F-9C1CC432373B}"/>
              </a:ext>
            </a:extLst>
          </p:cNvPr>
          <p:cNvSpPr txBox="1"/>
          <p:nvPr/>
        </p:nvSpPr>
        <p:spPr>
          <a:xfrm>
            <a:off x="11353800" y="2885012"/>
            <a:ext cx="5181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Maximum Features</a:t>
            </a:r>
          </a:p>
          <a:p>
            <a:endParaRPr lang="en-US" altLang="ko-KR" sz="3600" dirty="0">
              <a:latin typeface="+mj-lt"/>
            </a:endParaRPr>
          </a:p>
          <a:p>
            <a:r>
              <a:rPr lang="en-US" altLang="ko-KR" sz="3600" dirty="0"/>
              <a:t>N-gram Range</a:t>
            </a:r>
          </a:p>
          <a:p>
            <a:endParaRPr lang="en-US" altLang="ko-KR" sz="3600" dirty="0">
              <a:latin typeface="+mj-lt"/>
            </a:endParaRPr>
          </a:p>
          <a:p>
            <a:r>
              <a:rPr lang="en-US" altLang="ko-KR" sz="3600" dirty="0"/>
              <a:t>Total Dimension</a:t>
            </a:r>
            <a:endParaRPr lang="ko-KR" altLang="en-US" sz="3600" dirty="0">
              <a:latin typeface="+mj-lt"/>
            </a:endParaRPr>
          </a:p>
        </p:txBody>
      </p:sp>
      <p:pic>
        <p:nvPicPr>
          <p:cNvPr id="14" name="그림 13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F02A12-B535-8D44-8D29-A97BAE709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150" y="561748"/>
            <a:ext cx="7010400" cy="916350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880888-1FE8-39C6-9E35-C625A7594E1A}"/>
              </a:ext>
            </a:extLst>
          </p:cNvPr>
          <p:cNvSpPr/>
          <p:nvPr/>
        </p:nvSpPr>
        <p:spPr>
          <a:xfrm>
            <a:off x="3935150" y="3162300"/>
            <a:ext cx="7010400" cy="3105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03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886F7-0917-0AFA-6A09-747D1E54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D8DA437-F287-07EB-22CA-F3D5A40A63B7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EBD574F-3958-22D8-BA94-5E054022EA83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67891EC-2941-4B66-BE22-71423607ED20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0B1AE8D-62EC-0F9D-26A4-0C89689EA78E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CE39A1A-D1A5-18F0-7ED6-6A5509D9F127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LR + COT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A38A206-B87E-8747-94AD-087CBD6C716A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A04EE14-7C66-6D3D-E8A8-08B94E3F01BB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95EC8CF-25AD-439A-C584-6D2289E17F85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8EFE11-B382-05DD-2559-1E86AAD45351}"/>
              </a:ext>
            </a:extLst>
          </p:cNvPr>
          <p:cNvSpPr txBox="1"/>
          <p:nvPr/>
        </p:nvSpPr>
        <p:spPr>
          <a:xfrm>
            <a:off x="2194412" y="4497168"/>
            <a:ext cx="2715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+mj-lt"/>
              </a:rPr>
              <a:t>Total : 483</a:t>
            </a:r>
          </a:p>
          <a:p>
            <a:r>
              <a:rPr lang="en-US" altLang="ko-KR" sz="3600" dirty="0">
                <a:latin typeface="+mj-lt"/>
              </a:rPr>
              <a:t>Acc: 0.7391</a:t>
            </a:r>
            <a:endParaRPr lang="ko-KR" altLang="en-US" sz="3600" dirty="0">
              <a:latin typeface="+mj-lt"/>
            </a:endParaRPr>
          </a:p>
        </p:txBody>
      </p:sp>
      <p:pic>
        <p:nvPicPr>
          <p:cNvPr id="10" name="그림 9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39F2C3-8C63-DADC-D6C6-127059130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877" y="677524"/>
            <a:ext cx="4746844" cy="909725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6DA72E-1710-F268-9567-AFA5A58954AD}"/>
              </a:ext>
            </a:extLst>
          </p:cNvPr>
          <p:cNvSpPr/>
          <p:nvPr/>
        </p:nvSpPr>
        <p:spPr>
          <a:xfrm>
            <a:off x="6884877" y="6362700"/>
            <a:ext cx="4746844" cy="11390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853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02A1A-505D-7F61-1E24-516199271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DA10887-F82F-6759-4D45-E8B6591BC18A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4AF03AD-AD6B-FAFD-4E80-31528A49186D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32AAA9E-C957-056F-A9FC-895A93C0AA04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5FDF684-5D1E-4A1C-0FBC-C4E089C70A12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E979DBC-8FC9-1FE9-0172-B7FC70D993DA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LR + COT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015D734-6975-FC7A-85B5-92A43093E054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A4C07089-78CD-0C5D-3737-575567D159C0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4125BC30-0398-FED1-2A29-8658EC6AAD82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E50B42-C190-3F83-BE07-ED5CFA6D9AF7}"/>
              </a:ext>
            </a:extLst>
          </p:cNvPr>
          <p:cNvSpPr txBox="1"/>
          <p:nvPr/>
        </p:nvSpPr>
        <p:spPr>
          <a:xfrm>
            <a:off x="1415072" y="1468017"/>
            <a:ext cx="6989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+mj-lt"/>
              </a:rPr>
              <a:t>Top-2 </a:t>
            </a:r>
          </a:p>
          <a:p>
            <a:pPr algn="ctr"/>
            <a:r>
              <a:rPr lang="en-US" altLang="ko-KR" sz="3600" dirty="0">
                <a:latin typeface="+mj-lt"/>
              </a:rPr>
              <a:t>Total 262 / Missing </a:t>
            </a:r>
            <a:r>
              <a:rPr lang="en-US" altLang="ko-KR" sz="3600" dirty="0" err="1">
                <a:latin typeface="+mj-lt"/>
              </a:rPr>
              <a:t>valule</a:t>
            </a:r>
            <a:r>
              <a:rPr lang="en-US" altLang="ko-KR" sz="3600" dirty="0">
                <a:latin typeface="+mj-lt"/>
              </a:rPr>
              <a:t> 31 (11.8%)</a:t>
            </a:r>
            <a:endParaRPr lang="ko-KR" altLang="en-US" sz="36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5746A5-EC4F-2E92-AB9F-77560E86ED01}"/>
              </a:ext>
            </a:extLst>
          </p:cNvPr>
          <p:cNvSpPr txBox="1"/>
          <p:nvPr/>
        </p:nvSpPr>
        <p:spPr>
          <a:xfrm>
            <a:off x="12677169" y="1551762"/>
            <a:ext cx="1401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+mj-lt"/>
              </a:rPr>
              <a:t>Top-3</a:t>
            </a:r>
            <a:endParaRPr lang="ko-KR" altLang="en-US" sz="3600" dirty="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1A0199-ECB4-4F62-3D3A-F44179C2DB1A}"/>
              </a:ext>
            </a:extLst>
          </p:cNvPr>
          <p:cNvSpPr txBox="1"/>
          <p:nvPr/>
        </p:nvSpPr>
        <p:spPr>
          <a:xfrm>
            <a:off x="4483346" y="9179496"/>
            <a:ext cx="10626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latin typeface="+mj-lt"/>
              </a:rPr>
              <a:t>MaxFeat</a:t>
            </a:r>
            <a:r>
              <a:rPr lang="ko-KR" altLang="en-US" sz="2800" dirty="0">
                <a:latin typeface="+mj-lt"/>
              </a:rPr>
              <a:t>=</a:t>
            </a:r>
            <a:r>
              <a:rPr lang="en-US" altLang="ko-KR" sz="2800" dirty="0">
                <a:latin typeface="+mj-lt"/>
              </a:rPr>
              <a:t>40</a:t>
            </a:r>
            <a:r>
              <a:rPr lang="ko-KR" altLang="en-US" sz="2800" dirty="0">
                <a:latin typeface="+mj-lt"/>
              </a:rPr>
              <a:t>0, </a:t>
            </a:r>
            <a:r>
              <a:rPr lang="ko-KR" altLang="en-US" sz="2800" dirty="0" err="1">
                <a:latin typeface="+mj-lt"/>
              </a:rPr>
              <a:t>Ngram</a:t>
            </a:r>
            <a:r>
              <a:rPr lang="ko-KR" altLang="en-US" sz="2800" dirty="0">
                <a:latin typeface="+mj-lt"/>
              </a:rPr>
              <a:t>=(1,</a:t>
            </a:r>
            <a:r>
              <a:rPr lang="en-US" altLang="ko-KR" sz="2800" dirty="0">
                <a:latin typeface="+mj-lt"/>
              </a:rPr>
              <a:t>2</a:t>
            </a:r>
            <a:r>
              <a:rPr lang="ko-KR" altLang="en-US" sz="2800" dirty="0">
                <a:latin typeface="+mj-lt"/>
              </a:rPr>
              <a:t>), </a:t>
            </a:r>
            <a:r>
              <a:rPr lang="ko-KR" altLang="en-US" sz="2800" dirty="0" err="1">
                <a:latin typeface="+mj-lt"/>
              </a:rPr>
              <a:t>Conf</a:t>
            </a:r>
            <a:r>
              <a:rPr lang="ko-KR" altLang="en-US" sz="2800" dirty="0">
                <a:latin typeface="+mj-lt"/>
              </a:rPr>
              <a:t>=0.7, </a:t>
            </a:r>
            <a:r>
              <a:rPr lang="ko-KR" altLang="en-US" sz="2800" dirty="0" err="1">
                <a:latin typeface="+mj-lt"/>
              </a:rPr>
              <a:t>Margin</a:t>
            </a:r>
            <a:r>
              <a:rPr lang="ko-KR" altLang="en-US" sz="2800" dirty="0">
                <a:latin typeface="+mj-lt"/>
              </a:rPr>
              <a:t>=0.</a:t>
            </a:r>
            <a:r>
              <a:rPr lang="en-US" altLang="ko-KR" sz="2800" dirty="0">
                <a:latin typeface="+mj-lt"/>
              </a:rPr>
              <a:t>3</a:t>
            </a:r>
            <a:r>
              <a:rPr lang="ko-KR" altLang="en-US" sz="2800" dirty="0">
                <a:latin typeface="+mj-lt"/>
              </a:rPr>
              <a:t> </a:t>
            </a:r>
            <a:r>
              <a:rPr lang="en-US" altLang="ko-KR" sz="2800" dirty="0">
                <a:latin typeface="+mj-lt"/>
              </a:rPr>
              <a:t>/ </a:t>
            </a:r>
            <a:r>
              <a:rPr lang="en-US" altLang="ko-KR" sz="2800" dirty="0" err="1">
                <a:latin typeface="+mj-lt"/>
              </a:rPr>
              <a:t>keyward</a:t>
            </a:r>
            <a:r>
              <a:rPr lang="ko-KR" altLang="en-US" sz="2800" dirty="0">
                <a:latin typeface="+mj-lt"/>
              </a:rPr>
              <a:t> </a:t>
            </a:r>
            <a:r>
              <a:rPr lang="en-US" altLang="ko-KR" sz="2800" dirty="0">
                <a:latin typeface="+mj-lt"/>
              </a:rPr>
              <a:t>TOP-5</a:t>
            </a:r>
            <a:endParaRPr lang="ko-KR" altLang="en-US" sz="2800" dirty="0">
              <a:latin typeface="+mj-lt"/>
            </a:endParaRPr>
          </a:p>
        </p:txBody>
      </p:sp>
      <p:pic>
        <p:nvPicPr>
          <p:cNvPr id="18" name="그림 1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8CCF8B-4072-1110-3E7B-EF17E647C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35" y="2956200"/>
            <a:ext cx="6118635" cy="5935442"/>
          </a:xfrm>
          <a:prstGeom prst="rect">
            <a:avLst/>
          </a:prstGeom>
        </p:spPr>
      </p:pic>
      <p:pic>
        <p:nvPicPr>
          <p:cNvPr id="20" name="그림 1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9C980B-36D4-43AC-C827-1AC23E7F9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8832" y="2952063"/>
            <a:ext cx="5987968" cy="593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5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BF0C-C5D0-9169-B1AF-B24127998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E847CD-14C6-30D2-3F6F-6B30BEC152D4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92AAD1C-5855-6D0F-1E75-D7CB67DB6057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5969D57-06BA-B637-ED2A-984C6C42FB92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2CBC3D1-99E0-E70C-AEEB-91857BB6124E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B1414BB-8261-FA13-A1B4-17C427B7F682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LR + COT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7FDD15C-0A27-799A-AEA8-C9C2189361DB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AB10473-82E7-4E24-20EB-BDDBB8E66C70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04F5742C-CB9C-D4F7-F889-265CC567EEE6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5FA424-8331-81F4-AFE5-18DF7B6BE4FC}"/>
              </a:ext>
            </a:extLst>
          </p:cNvPr>
          <p:cNvSpPr txBox="1"/>
          <p:nvPr/>
        </p:nvSpPr>
        <p:spPr>
          <a:xfrm>
            <a:off x="5146601" y="9165872"/>
            <a:ext cx="74991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latin typeface="+mj-lt"/>
              </a:rPr>
              <a:t>MaxFeat</a:t>
            </a:r>
            <a:r>
              <a:rPr lang="ko-KR" altLang="en-US" sz="2800" dirty="0">
                <a:latin typeface="+mj-lt"/>
              </a:rPr>
              <a:t>=750, </a:t>
            </a:r>
            <a:r>
              <a:rPr lang="ko-KR" altLang="en-US" sz="2800" dirty="0" err="1">
                <a:latin typeface="+mj-lt"/>
              </a:rPr>
              <a:t>Ngram</a:t>
            </a:r>
            <a:r>
              <a:rPr lang="ko-KR" altLang="en-US" sz="2800" dirty="0">
                <a:latin typeface="+mj-lt"/>
              </a:rPr>
              <a:t>=(1,1), </a:t>
            </a:r>
            <a:r>
              <a:rPr lang="ko-KR" altLang="en-US" sz="2800" dirty="0" err="1">
                <a:latin typeface="+mj-lt"/>
              </a:rPr>
              <a:t>Conf</a:t>
            </a:r>
            <a:r>
              <a:rPr lang="ko-KR" altLang="en-US" sz="2800" dirty="0">
                <a:latin typeface="+mj-lt"/>
              </a:rPr>
              <a:t>=0.7, </a:t>
            </a:r>
            <a:r>
              <a:rPr lang="ko-KR" altLang="en-US" sz="2800" dirty="0" err="1">
                <a:latin typeface="+mj-lt"/>
              </a:rPr>
              <a:t>Margin</a:t>
            </a:r>
            <a:r>
              <a:rPr lang="ko-KR" altLang="en-US" sz="2800" dirty="0">
                <a:latin typeface="+mj-lt"/>
              </a:rPr>
              <a:t>=0.3</a:t>
            </a:r>
          </a:p>
        </p:txBody>
      </p:sp>
      <p:pic>
        <p:nvPicPr>
          <p:cNvPr id="10" name="그림 9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E46A09-49DE-1578-EF4D-7F46EDDA3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979535"/>
            <a:ext cx="5047264" cy="6220532"/>
          </a:xfrm>
          <a:prstGeom prst="rect">
            <a:avLst/>
          </a:prstGeom>
        </p:spPr>
      </p:pic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87CB1E-DA2C-95D7-837E-F562ADD9B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3247430"/>
            <a:ext cx="6054788" cy="356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361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2116B-6370-706E-3802-CB0661C47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FB4363F-694A-FCDF-E149-40F9083B1924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C2A1A9F-5D7F-317E-2384-93AE0D05CC5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EC03280-0698-3AD3-8747-56E0AE05209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37D73D80-BF53-52A8-97A1-9D3CECE4009B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027FD6A-B42B-A44A-92EF-FA09ADD44BF7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LR + COT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70A931A-4632-A41C-8E4D-DF2C63014C38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F0A7AE8-794B-0289-422F-A1CE4CC309D9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FF0C7FB1-252C-B923-F4C7-38D4738FF486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D8069C-EDCF-C62D-CA35-943506236284}"/>
              </a:ext>
            </a:extLst>
          </p:cNvPr>
          <p:cNvSpPr txBox="1"/>
          <p:nvPr/>
        </p:nvSpPr>
        <p:spPr>
          <a:xfrm>
            <a:off x="3918314" y="9139347"/>
            <a:ext cx="9955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/>
              <a:t>MaxFeat</a:t>
            </a:r>
            <a:r>
              <a:rPr lang="ko-KR" altLang="en-US" sz="2800" dirty="0"/>
              <a:t>=</a:t>
            </a:r>
            <a:r>
              <a:rPr lang="en-US" altLang="ko-KR" sz="2800" dirty="0"/>
              <a:t>40</a:t>
            </a:r>
            <a:r>
              <a:rPr lang="ko-KR" altLang="en-US" sz="2800" dirty="0"/>
              <a:t>0, </a:t>
            </a:r>
            <a:r>
              <a:rPr lang="ko-KR" altLang="en-US" sz="2800" dirty="0" err="1"/>
              <a:t>Ngram</a:t>
            </a:r>
            <a:r>
              <a:rPr lang="ko-KR" altLang="en-US" sz="2800" dirty="0"/>
              <a:t>=(1,</a:t>
            </a:r>
            <a:r>
              <a:rPr lang="en-US" altLang="ko-KR" sz="2800" dirty="0"/>
              <a:t>2</a:t>
            </a:r>
            <a:r>
              <a:rPr lang="ko-KR" altLang="en-US" sz="2800" dirty="0"/>
              <a:t>), </a:t>
            </a:r>
            <a:r>
              <a:rPr lang="ko-KR" altLang="en-US" sz="2800" dirty="0" err="1"/>
              <a:t>Conf</a:t>
            </a:r>
            <a:r>
              <a:rPr lang="ko-KR" altLang="en-US" sz="2800" dirty="0"/>
              <a:t>=0.7, </a:t>
            </a:r>
            <a:r>
              <a:rPr lang="ko-KR" altLang="en-US" sz="2800" dirty="0" err="1"/>
              <a:t>Margin</a:t>
            </a:r>
            <a:r>
              <a:rPr lang="ko-KR" altLang="en-US" sz="2800" dirty="0"/>
              <a:t>=0.</a:t>
            </a:r>
            <a:r>
              <a:rPr lang="en-US" altLang="ko-KR" sz="2800" dirty="0"/>
              <a:t>3</a:t>
            </a:r>
            <a:r>
              <a:rPr lang="ko-KR" altLang="en-US" sz="2800" dirty="0"/>
              <a:t> </a:t>
            </a:r>
            <a:r>
              <a:rPr lang="en-US" altLang="ko-KR" sz="2800" dirty="0"/>
              <a:t>/ </a:t>
            </a:r>
            <a:r>
              <a:rPr lang="en-US" altLang="ko-KR" sz="2800" dirty="0" err="1"/>
              <a:t>Keyward</a:t>
            </a:r>
            <a:r>
              <a:rPr lang="ko-KR" altLang="en-US" sz="2800" dirty="0"/>
              <a:t> </a:t>
            </a:r>
            <a:r>
              <a:rPr lang="en-US" altLang="ko-KR" sz="2800" dirty="0"/>
              <a:t>TOP-5</a:t>
            </a:r>
            <a:endParaRPr lang="ko-KR" alt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D64FE7-7F04-464B-0958-DC1D45488B8D}"/>
              </a:ext>
            </a:extLst>
          </p:cNvPr>
          <p:cNvSpPr txBox="1"/>
          <p:nvPr/>
        </p:nvSpPr>
        <p:spPr>
          <a:xfrm>
            <a:off x="1722246" y="1408516"/>
            <a:ext cx="6989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+mj-lt"/>
              </a:rPr>
              <a:t>Top-2 (No</a:t>
            </a:r>
            <a:r>
              <a:rPr lang="ko-KR" altLang="en-US" sz="3600" dirty="0">
                <a:latin typeface="+mj-lt"/>
              </a:rPr>
              <a:t> </a:t>
            </a:r>
            <a:r>
              <a:rPr lang="en-US" altLang="ko-KR" sz="3600" dirty="0" err="1">
                <a:latin typeface="+mj-lt"/>
              </a:rPr>
              <a:t>Keyward</a:t>
            </a:r>
            <a:r>
              <a:rPr lang="en-US" altLang="ko-KR" sz="3600" dirty="0">
                <a:latin typeface="+mj-lt"/>
              </a:rPr>
              <a:t>)</a:t>
            </a:r>
          </a:p>
          <a:p>
            <a:pPr algn="ctr"/>
            <a:r>
              <a:rPr lang="en-US" altLang="ko-KR" sz="3600" dirty="0"/>
              <a:t>Total 262 / Missing </a:t>
            </a:r>
            <a:r>
              <a:rPr lang="en-US" altLang="ko-KR" sz="3600" dirty="0" err="1"/>
              <a:t>valule</a:t>
            </a:r>
            <a:r>
              <a:rPr lang="en-US" altLang="ko-KR" sz="3600" dirty="0"/>
              <a:t> 31 (11.8%)</a:t>
            </a:r>
            <a:endParaRPr lang="ko-KR" altLang="en-US" sz="3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1A0EC9-6387-F8E9-0861-113B3DE8CDF4}"/>
              </a:ext>
            </a:extLst>
          </p:cNvPr>
          <p:cNvSpPr txBox="1"/>
          <p:nvPr/>
        </p:nvSpPr>
        <p:spPr>
          <a:xfrm>
            <a:off x="11868695" y="1584464"/>
            <a:ext cx="4010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+mj-lt"/>
              </a:rPr>
              <a:t>Top-3(No </a:t>
            </a:r>
            <a:r>
              <a:rPr lang="en-US" altLang="ko-KR" sz="3600" dirty="0" err="1">
                <a:latin typeface="+mj-lt"/>
              </a:rPr>
              <a:t>Keyward</a:t>
            </a:r>
            <a:r>
              <a:rPr lang="en-US" altLang="ko-KR" sz="3600" dirty="0">
                <a:latin typeface="+mj-lt"/>
              </a:rPr>
              <a:t>)</a:t>
            </a:r>
            <a:endParaRPr lang="ko-KR" altLang="en-US" sz="3600" dirty="0">
              <a:latin typeface="+mj-lt"/>
            </a:endParaRPr>
          </a:p>
        </p:txBody>
      </p:sp>
      <p:pic>
        <p:nvPicPr>
          <p:cNvPr id="21" name="그림 2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95C540-9898-9A61-3A1D-707024E00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550" y="2763860"/>
            <a:ext cx="6354954" cy="6214016"/>
          </a:xfrm>
          <a:prstGeom prst="rect">
            <a:avLst/>
          </a:prstGeom>
        </p:spPr>
      </p:pic>
      <p:pic>
        <p:nvPicPr>
          <p:cNvPr id="24" name="그림 2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51198C-6D91-A60A-4210-E4C73909D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2701689"/>
            <a:ext cx="6354954" cy="622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8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16633</TotalTime>
  <Words>460</Words>
  <Application>Microsoft Office PowerPoint</Application>
  <PresentationFormat>사용자 지정</PresentationFormat>
  <Paragraphs>122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Arial</vt:lpstr>
      <vt:lpstr>윤고딕</vt:lpstr>
      <vt:lpstr>Glacial Indifference</vt:lpstr>
      <vt:lpstr>Garet Light</vt:lpstr>
      <vt:lpstr>맑은 고딕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dc:creator>윤성</dc:creator>
  <cp:lastModifiedBy>변윤성</cp:lastModifiedBy>
  <cp:revision>191</cp:revision>
  <dcterms:created xsi:type="dcterms:W3CDTF">2006-08-16T00:00:00Z</dcterms:created>
  <dcterms:modified xsi:type="dcterms:W3CDTF">2026-01-21T17:38:59Z</dcterms:modified>
  <dc:identifier>DAGyMBKKpxw</dc:identifier>
</cp:coreProperties>
</file>