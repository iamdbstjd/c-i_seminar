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94" r:id="rId5"/>
    <p:sldId id="311" r:id="rId6"/>
    <p:sldId id="316" r:id="rId7"/>
    <p:sldId id="275" r:id="rId8"/>
    <p:sldId id="312" r:id="rId9"/>
    <p:sldId id="308" r:id="rId10"/>
    <p:sldId id="309" r:id="rId11"/>
    <p:sldId id="295" r:id="rId12"/>
    <p:sldId id="296" r:id="rId13"/>
    <p:sldId id="313" r:id="rId14"/>
  </p:sldIdLst>
  <p:sldSz cx="18288000" cy="10287000"/>
  <p:notesSz cx="6858000" cy="9144000"/>
  <p:embeddedFontLst>
    <p:embeddedFont>
      <p:font typeface="윤고딕" panose="020B0600000101010101" charset="-127"/>
      <p:regular r:id="rId16"/>
    </p:embeddedFont>
    <p:embeddedFont>
      <p:font typeface="Garet Light" panose="020B0600000101010101" charset="0"/>
      <p:regular r:id="rId17"/>
    </p:embeddedFont>
    <p:embeddedFont>
      <p:font typeface="Glacial Indifference" panose="020B0600000101010101" charset="0"/>
      <p:regular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3B795-2DD5-41AD-8751-5C4089DF444F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B8363-F2E3-4439-A7E6-14F7E1DF95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4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D2B1C-BF43-4DE7-ABE0-B047D62A78C0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A5C2-0AC0-4C27-B972-27F3E6623A31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C3253-B364-4353-8945-5F93EC62AEA8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8D38A-FBC9-4474-860E-0943576FB2A9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8A005-A359-4551-8385-DF962D05B961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7605-D5BC-4F76-AD54-FBE4D0EF73CC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D134F-D1A4-4FC3-B616-E1519CFBDFE8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06EF1-72F3-46B4-913E-2E8BF85C7B09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54CDE-32A1-474B-A1A7-B2AE31A053DC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2E487-4CBF-4938-A927-D22297E05349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8D2E-2F69-417D-9B17-4140C005495E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90963-C5EF-42F4-8651-C8B07638FE5F}" type="datetime1">
              <a:rPr lang="en-US" altLang="ko-KR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808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781050"/>
            <a:ext cx="16424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0662" y="2678190"/>
            <a:ext cx="16296792" cy="2831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altLang="ko-KR" sz="4800" dirty="0"/>
              <a:t>Algorithm of Thoughts:</a:t>
            </a:r>
          </a:p>
          <a:p>
            <a:pPr algn="ctr">
              <a:lnSpc>
                <a:spcPts val="11923"/>
              </a:lnSpc>
            </a:pPr>
            <a:r>
              <a:rPr lang="en-US" altLang="ko-KR" sz="4800" dirty="0"/>
              <a:t>Enhancing Exploration of Ideas in Large Language Models</a:t>
            </a:r>
            <a:endParaRPr lang="en-US" sz="4800" spc="-103" dirty="0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" y="957397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none" strike="noStrike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2025.11.24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11114" y="9533567"/>
            <a:ext cx="2975952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 err="1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YunSung</a:t>
            </a: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 Byun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4C8435-A8BC-D4AF-C15C-41A7B0E886D6}"/>
              </a:ext>
            </a:extLst>
          </p:cNvPr>
          <p:cNvSpPr txBox="1"/>
          <p:nvPr/>
        </p:nvSpPr>
        <p:spPr>
          <a:xfrm>
            <a:off x="7901272" y="5631726"/>
            <a:ext cx="2755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dirty="0"/>
              <a:t>ICML 2024</a:t>
            </a:r>
            <a:endParaRPr lang="ko-KR" alt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82EAE-59C8-E631-E9C8-1A80B7ECA36A}"/>
              </a:ext>
            </a:extLst>
          </p:cNvPr>
          <p:cNvSpPr txBox="1"/>
          <p:nvPr/>
        </p:nvSpPr>
        <p:spPr>
          <a:xfrm>
            <a:off x="4490061" y="6588490"/>
            <a:ext cx="10064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/>
              <a:t>Bilgehan Sel, Ahmad Al-</a:t>
            </a:r>
            <a:r>
              <a:rPr lang="en-US" altLang="ko-KR" sz="2800" dirty="0" err="1"/>
              <a:t>Tawaha</a:t>
            </a:r>
            <a:r>
              <a:rPr lang="en-US" altLang="ko-KR" sz="2800" dirty="0"/>
              <a:t>, Vanshaj Khattar, Ruoxi Jia, Ming Jin</a:t>
            </a:r>
            <a:endParaRPr lang="it-IT" alt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8" y="10052241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 anchor="b"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b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6400" y="2029751"/>
            <a:ext cx="391815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Introduction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486400" y="3804133"/>
            <a:ext cx="10591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dirty="0">
                <a:latin typeface="Glacial Indifference" panose="020B0600000101010101" charset="0"/>
              </a:rPr>
              <a:t>Chain of Preference Optimization</a:t>
            </a:r>
            <a:endParaRPr lang="en-US" sz="5400" spc="-182" dirty="0">
              <a:solidFill>
                <a:srgbClr val="191919"/>
              </a:solidFill>
              <a:latin typeface="Glacial Indifference" panose="020B0600000101010101" charset="0"/>
              <a:ea typeface="윤고딕"/>
              <a:cs typeface="윤고딕"/>
              <a:sym typeface="윤고딕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86400" y="5611967"/>
            <a:ext cx="11001452" cy="721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Experiments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81484" y="7341044"/>
            <a:ext cx="8034568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56"/>
              </a:lnSpc>
              <a:spcBef>
                <a:spcPct val="0"/>
              </a:spcBef>
            </a:pPr>
            <a:r>
              <a:rPr lang="en-US" altLang="ko-KR" sz="5400" spc="-65" dirty="0">
                <a:solidFill>
                  <a:srgbClr val="191919"/>
                </a:solidFill>
                <a:latin typeface="Glacial Indifference" panose="020B0600000101010101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40383" y="1567013"/>
            <a:ext cx="1268309" cy="1643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10885" y="32454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2.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40382" y="4978067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3</a:t>
            </a:r>
            <a:r>
              <a:rPr lang="en-US" sz="9629" u="none" strike="noStrike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40382" y="6792584"/>
            <a:ext cx="1268310" cy="1607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3481"/>
              </a:lnSpc>
              <a:spcBef>
                <a:spcPct val="0"/>
              </a:spcBef>
            </a:pPr>
            <a:r>
              <a:rPr lang="en-US" sz="9629" dirty="0">
                <a:solidFill>
                  <a:srgbClr val="191919"/>
                </a:solidFill>
                <a:latin typeface="Glacial Indifference" panose="020B0600000101010101" charset="0"/>
                <a:ea typeface="Beautifully Delicious Script"/>
                <a:cs typeface="Beautifully Delicious Script"/>
                <a:sym typeface="Beautifully Delicious Script"/>
              </a:rPr>
              <a:t>4.</a:t>
            </a:r>
            <a:endParaRPr lang="en-US" sz="9629" u="none" strike="noStrike" dirty="0">
              <a:solidFill>
                <a:srgbClr val="191919"/>
              </a:solidFill>
              <a:latin typeface="Glacial Indifference" panose="020B0600000101010101" charset="0"/>
              <a:ea typeface="Beautifully Delicious Script"/>
              <a:cs typeface="Beautifully Delicious Script"/>
              <a:sym typeface="Beautifully Delicious Scrip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31319" y="934598"/>
            <a:ext cx="2478904" cy="80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Contents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38BBEA-6728-FD9C-F1A3-C415764866D1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F137AD9-D6D0-99F5-1B3C-2D1FEAC8E95E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1958" y="851019"/>
            <a:ext cx="256443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Prompt</a:t>
            </a: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5739373-734D-903B-954C-41E5517D8A6D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3031ECA-815C-C507-F09D-26C76B1ABD71}"/>
              </a:ext>
            </a:extLst>
          </p:cNvPr>
          <p:cNvSpPr txBox="1"/>
          <p:nvPr/>
        </p:nvSpPr>
        <p:spPr>
          <a:xfrm>
            <a:off x="17622134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6261C6-114B-A1B5-3853-FD838A851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264" y="2544057"/>
            <a:ext cx="15739467" cy="5621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AC0DE3-63EC-5E2E-621C-CD40CDF54ABB}"/>
              </a:ext>
            </a:extLst>
          </p:cNvPr>
          <p:cNvSpPr txBox="1"/>
          <p:nvPr/>
        </p:nvSpPr>
        <p:spPr>
          <a:xfrm>
            <a:off x="13258800" y="2161257"/>
            <a:ext cx="1657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DFS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8B0B-3149-3CB0-3987-E3EE36AA1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3DAE4F-F662-CD7F-861B-9A414D81B3CB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8F678A2-E548-DDBC-7A07-66A46CF4D8B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3DF4EB-E9BA-B395-B897-E4144BDBEFD5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D5302F38-A398-EFD4-EBCC-5E82DAB90D39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D21C959-D5D0-69F2-F255-2756738C6530}"/>
              </a:ext>
            </a:extLst>
          </p:cNvPr>
          <p:cNvSpPr txBox="1"/>
          <p:nvPr/>
        </p:nvSpPr>
        <p:spPr>
          <a:xfrm>
            <a:off x="183602" y="845179"/>
            <a:ext cx="3092787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AOT?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2549273-0196-450B-A075-89B6CED32AF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32B6B1A-AD82-05D4-28A9-40FD0B80B6C0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7D1D242-26C8-3629-9499-E282820A62E5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5C47C10-A0B3-1FB4-F63A-BAF4DD223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615390"/>
            <a:ext cx="9317631" cy="748416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3D4A928-1AC8-6545-2E28-7FEFB06C60ED}"/>
              </a:ext>
            </a:extLst>
          </p:cNvPr>
          <p:cNvSpPr/>
          <p:nvPr/>
        </p:nvSpPr>
        <p:spPr>
          <a:xfrm>
            <a:off x="8991600" y="3848100"/>
            <a:ext cx="3962400" cy="1752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615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8339-DD52-6019-A308-573FD48C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709200-F389-0612-A40B-2C966DCBB4D1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A1AE1B-2285-98BA-7A6A-9C35A29B801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32C1DF-CD73-0D2B-40AE-C4AA1FF92D1B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5B3C8B9E-819E-4C29-1597-6C481BA91C46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FB84DFB-4588-9985-B205-2BB31199450F}"/>
              </a:ext>
            </a:extLst>
          </p:cNvPr>
          <p:cNvSpPr txBox="1"/>
          <p:nvPr/>
        </p:nvSpPr>
        <p:spPr>
          <a:xfrm>
            <a:off x="711959" y="851019"/>
            <a:ext cx="302184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Few-shot?</a:t>
            </a: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65736D3-EF99-D17E-4549-2127A103A3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D610979F-A38D-CE52-C160-B5F9E5682491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97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윤고딕"/>
                <a:ea typeface="윤고딕"/>
                <a:cs typeface="윤고딕"/>
                <a:sym typeface="윤고딕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0128A8-857F-A304-09D4-2319FD07B6E5}"/>
              </a:ext>
            </a:extLst>
          </p:cNvPr>
          <p:cNvSpPr txBox="1"/>
          <p:nvPr/>
        </p:nvSpPr>
        <p:spPr>
          <a:xfrm>
            <a:off x="1924043" y="8786922"/>
            <a:ext cx="14439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3200" dirty="0">
                <a:solidFill>
                  <a:prstClr val="black"/>
                </a:solidFill>
              </a:rPr>
              <a:t>Potential risks of Chain-of-Thought or traditional Few-shot approach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709DB745-313D-F51C-1BA4-5EC76FAF80DF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49D9B0-2364-6F64-7968-84D8A4DB1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974" y="2266025"/>
            <a:ext cx="8770041" cy="6520897"/>
          </a:xfrm>
          <a:prstGeom prst="rect">
            <a:avLst/>
          </a:prstGeom>
        </p:spPr>
      </p:pic>
      <p:sp>
        <p:nvSpPr>
          <p:cNvPr id="6" name="TextBox 13">
            <a:extLst>
              <a:ext uri="{FF2B5EF4-FFF2-40B4-BE49-F238E27FC236}">
                <a16:creationId xmlns:a16="http://schemas.microsoft.com/office/drawing/2014/main" id="{064B5F8A-248E-8CEC-FFB1-6188822BF093}"/>
              </a:ext>
            </a:extLst>
          </p:cNvPr>
          <p:cNvSpPr txBox="1"/>
          <p:nvPr/>
        </p:nvSpPr>
        <p:spPr>
          <a:xfrm>
            <a:off x="8504095" y="1827470"/>
            <a:ext cx="1279798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11-2?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58D265D2-A880-64B8-DFA3-3D3ADBA8008A}"/>
              </a:ext>
            </a:extLst>
          </p:cNvPr>
          <p:cNvSpPr txBox="1"/>
          <p:nvPr/>
        </p:nvSpPr>
        <p:spPr>
          <a:xfrm>
            <a:off x="13857035" y="4152900"/>
            <a:ext cx="2923376" cy="2462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Ex) 15−5 = 10</a:t>
            </a:r>
          </a:p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8+2 =10</a:t>
            </a:r>
          </a:p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2x5 = 10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</p:spTree>
    <p:extLst>
      <p:ext uri="{BB962C8B-B14F-4D97-AF65-F5344CB8AC3E}">
        <p14:creationId xmlns:p14="http://schemas.microsoft.com/office/powerpoint/2010/main" val="1862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F5C6C-6336-67CE-6B1B-7805BDA8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238FFB-9031-F8BD-4A31-5FA8B0FFD0F6}"/>
              </a:ext>
            </a:extLst>
          </p:cNvPr>
          <p:cNvGrpSpPr/>
          <p:nvPr/>
        </p:nvGrpSpPr>
        <p:grpSpPr>
          <a:xfrm>
            <a:off x="-290869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02C855F-4A84-95C0-A3F8-956995862DE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0FB17D7-A597-2583-C958-AABE12E3454A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6DA49FB3-3DAA-6048-EFF3-440CC9B8A914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1CCEB17-C937-B237-1D5D-918FE7529BCA}"/>
              </a:ext>
            </a:extLst>
          </p:cNvPr>
          <p:cNvSpPr txBox="1"/>
          <p:nvPr/>
        </p:nvSpPr>
        <p:spPr>
          <a:xfrm>
            <a:off x="711959" y="851019"/>
            <a:ext cx="3021842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spc="-65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</a:t>
            </a:r>
            <a:r>
              <a:rPr kumimoji="0" lang="en-US" sz="4000" b="0" i="0" u="none" strike="noStrike" kern="1200" cap="none" spc="-65" normalizeH="0" baseline="0" noProof="0" dirty="0" err="1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racticality</a:t>
            </a:r>
            <a:endParaRPr kumimoji="0" lang="en-US" sz="4000" b="0" i="0" u="none" strike="noStrike" kern="1200" cap="none" spc="-65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17D1B608-25A2-04F0-DDF7-6B48E46C71D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2849A09-D50A-B70E-8CF5-1DC221C7CCE8}"/>
              </a:ext>
            </a:extLst>
          </p:cNvPr>
          <p:cNvSpPr txBox="1"/>
          <p:nvPr/>
        </p:nvSpPr>
        <p:spPr>
          <a:xfrm>
            <a:off x="17602200" y="9533567"/>
            <a:ext cx="2848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6</a:t>
            </a:r>
            <a:endParaRPr kumimoji="0" lang="en-US" sz="3197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6630B9-23A7-F03C-DBA6-C7E6D280B433}"/>
              </a:ext>
            </a:extLst>
          </p:cNvPr>
          <p:cNvSpPr txBox="1"/>
          <p:nvPr/>
        </p:nvSpPr>
        <p:spPr>
          <a:xfrm>
            <a:off x="3890959" y="7892791"/>
            <a:ext cx="10506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3200" dirty="0">
                <a:solidFill>
                  <a:prstClr val="black"/>
                </a:solidFill>
              </a:rPr>
              <a:t>It is theoretically possible to solve even high computational complexity challenges (such as NP problems)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5D8CB0A-5537-E533-FF17-560E300DFDC6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D8251B-7DD2-B5FB-FC9B-00952E9D1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60371"/>
            <a:ext cx="8229599" cy="47364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A7D26F-A340-73AC-2B3C-CA67E2E8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614" y="4381500"/>
            <a:ext cx="6347064" cy="130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4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7729-5671-95A4-1473-B080D566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B70018-95F4-E626-0C25-F1A0CA48EFA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CDEE6D-9C7C-0E15-CCC3-BDF2AAA46E0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6E81A01-6BB3-9E3D-2CA4-249926E9E2A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4A6DA00C-69FE-04F2-5831-888E61B8951C}"/>
              </a:ext>
            </a:extLst>
          </p:cNvPr>
          <p:cNvSpPr txBox="1"/>
          <p:nvPr/>
        </p:nvSpPr>
        <p:spPr>
          <a:xfrm>
            <a:off x="24581" y="768434"/>
            <a:ext cx="4162214" cy="756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dirty="0"/>
              <a:t>Contribution</a:t>
            </a:r>
            <a:endParaRPr lang="en-US" sz="3600" spc="-65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윤고딕"/>
            </a:endParaRP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04127906-69D5-1802-1C81-A819859EDCA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971494-FBB9-5FB5-3030-AE6998B09C7A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3044-3171-89C2-56FA-555C17A268AF}"/>
              </a:ext>
            </a:extLst>
          </p:cNvPr>
          <p:cNvSpPr txBox="1"/>
          <p:nvPr/>
        </p:nvSpPr>
        <p:spPr>
          <a:xfrm>
            <a:off x="2105688" y="2503752"/>
            <a:ext cx="13563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1. Novel Prompting Paradigm</a:t>
            </a:r>
          </a:p>
          <a:p>
            <a:r>
              <a:rPr lang="en-US" altLang="ko-KR" sz="2800" dirty="0"/>
              <a:t>- Proposed a strategy instructing LLMs to perform algorithmic search processes (DFS/BFS) fully in-context.</a:t>
            </a:r>
          </a:p>
          <a:p>
            <a:endParaRPr lang="en-US" altLang="ko-KR" sz="3600" dirty="0"/>
          </a:p>
          <a:p>
            <a:r>
              <a:rPr lang="en-US" altLang="ko-KR" sz="3600" dirty="0"/>
              <a:t>2. Performance &amp; Efficiency</a:t>
            </a:r>
          </a:p>
          <a:p>
            <a:r>
              <a:rPr lang="en-US" altLang="ko-KR" sz="2800" dirty="0"/>
              <a:t>- Outperforms multi-query methods like </a:t>
            </a:r>
            <a:r>
              <a:rPr lang="en-US" altLang="ko-KR" sz="2800" dirty="0" err="1"/>
              <a:t>ToT</a:t>
            </a:r>
            <a:r>
              <a:rPr lang="en-US" altLang="ko-KR" sz="2800" dirty="0"/>
              <a:t> while using significantly fewer queries</a:t>
            </a:r>
          </a:p>
          <a:p>
            <a:endParaRPr lang="en-US" altLang="ko-KR" sz="2800" dirty="0"/>
          </a:p>
          <a:p>
            <a:r>
              <a:rPr lang="en-US" altLang="ko-KR" sz="3600" dirty="0"/>
              <a:t>3. Algorithmic Intuition</a:t>
            </a:r>
          </a:p>
          <a:p>
            <a:r>
              <a:rPr lang="en-US" altLang="ko-KR" sz="2800" dirty="0"/>
              <a:t>- Demonstrated that LLMs go beyond mimicking algorithms; they utilize inherent intuition to optimize search and prune the search space effectively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49774ED-6768-6553-5188-A365B4C0D89F}"/>
              </a:ext>
            </a:extLst>
          </p:cNvPr>
          <p:cNvSpPr txBox="1"/>
          <p:nvPr/>
        </p:nvSpPr>
        <p:spPr>
          <a:xfrm>
            <a:off x="17259300" y="9533567"/>
            <a:ext cx="647700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7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44C1852-68A5-2DE8-94CB-77459EE30E0D}"/>
              </a:ext>
            </a:extLst>
          </p:cNvPr>
          <p:cNvSpPr txBox="1"/>
          <p:nvPr/>
        </p:nvSpPr>
        <p:spPr>
          <a:xfrm>
            <a:off x="13378146" y="781050"/>
            <a:ext cx="388115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599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5374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5552-0FEE-1DF6-0DC7-70F0F9F0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8E73A8-F38D-91B7-576A-3E2FF13510BF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B4E806-49FF-E7B4-B3E3-AE91F5F030E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D2BF01-D555-BADF-CA37-53DF97746C58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5F4AE9C-703B-1D64-60F1-5599B1CBAFC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63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47FBA65-B21C-6561-ED56-73036018F91E}"/>
              </a:ext>
            </a:extLst>
          </p:cNvPr>
          <p:cNvSpPr txBox="1"/>
          <p:nvPr/>
        </p:nvSpPr>
        <p:spPr>
          <a:xfrm>
            <a:off x="31955" y="828675"/>
            <a:ext cx="3701845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658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65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Calibri"/>
                <a:ea typeface="윤고딕"/>
                <a:cs typeface="윤고딕"/>
                <a:sym typeface="윤고딕"/>
              </a:rPr>
              <a:t>Game of 24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707C8EA-550D-A197-50F7-F61BB8D7DFEF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8040A07-19B7-EE26-F2AE-602D42B70937}"/>
              </a:ext>
            </a:extLst>
          </p:cNvPr>
          <p:cNvSpPr txBox="1"/>
          <p:nvPr/>
        </p:nvSpPr>
        <p:spPr>
          <a:xfrm>
            <a:off x="17373600" y="9533567"/>
            <a:ext cx="5896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447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8</a:t>
            </a:r>
            <a:endParaRPr kumimoji="0" lang="en-US" sz="3197" b="0" i="0" u="none" strike="noStrike" kern="1200" cap="none" spc="0" normalizeH="0" baseline="0" noProof="0" dirty="0">
              <a:ln>
                <a:noFill/>
              </a:ln>
              <a:solidFill>
                <a:srgbClr val="191919"/>
              </a:solidFill>
              <a:effectLst/>
              <a:uLnTx/>
              <a:uFillTx/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5F26EAE1-FB60-6BC0-F504-4714398B8F1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87476FD-551A-D47D-8E06-577AD69D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02" y="2213671"/>
            <a:ext cx="8526150" cy="40228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8EECCB1-3399-CA6F-0615-56345F8EE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138" y="7480438"/>
            <a:ext cx="7539366" cy="188484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AF4346C-799A-45DE-628A-64FB1CD01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821" y="1549304"/>
            <a:ext cx="6472235" cy="5284389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3800B0B0-198E-44ED-1855-36CD0BDB04B2}"/>
              </a:ext>
            </a:extLst>
          </p:cNvPr>
          <p:cNvCxnSpPr/>
          <p:nvPr/>
        </p:nvCxnSpPr>
        <p:spPr>
          <a:xfrm>
            <a:off x="762000" y="7124700"/>
            <a:ext cx="16497300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03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0A8F-8D98-16E3-0590-9DDD5AFA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0B26F4-F8C6-4D88-302C-64C7164B23A4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7CB0B9-972A-DC0E-8005-41E78037673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A47133-0F69-E94B-359D-B2049970F26E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83F5506-F721-EBCF-0759-C3311445B5DE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11FA5EB-021F-0043-4C41-1F8570FD8837}"/>
              </a:ext>
            </a:extLst>
          </p:cNvPr>
          <p:cNvSpPr txBox="1"/>
          <p:nvPr/>
        </p:nvSpPr>
        <p:spPr>
          <a:xfrm>
            <a:off x="31955" y="828675"/>
            <a:ext cx="423524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000" dirty="0"/>
              <a:t> Mini Crosswords</a:t>
            </a:r>
            <a:endParaRPr lang="en-US" sz="4000" spc="-65" dirty="0">
              <a:solidFill>
                <a:srgbClr val="191919"/>
              </a:solidFill>
              <a:latin typeface="+mj-lt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BC616B6F-2210-4142-DA4A-8C587BE050A7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871FBD-F5B2-C2EC-AEF3-AD7BCE9C2E99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4AF4A8E-A5D0-166F-6F82-CB48A2CC7945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9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E85DC96-439C-7615-D3DA-C4CFC5350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558" y="2358321"/>
            <a:ext cx="8276339" cy="278517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24ACFCC-0D0C-C2BF-BF1E-754A39BE7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581" y="5694026"/>
            <a:ext cx="6494936" cy="31193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1178FA4-F1EC-BC6B-E27C-8DEBE2E5E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779711"/>
            <a:ext cx="4484699" cy="74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3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52AA1-45B1-FFCD-4002-E759634E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D13F920-48A8-B47F-D171-7639FCC1A1CC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58B156-FA59-A6D3-F834-1FC894AF1A85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467699E-65D1-98A4-F83E-968F76AB5C9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B44CB891-8459-3589-71E1-EDB03CDC424C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/>
              <a:t>Experiments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CDC70EB-4AA9-D177-3519-E16312884F20}"/>
              </a:ext>
            </a:extLst>
          </p:cNvPr>
          <p:cNvSpPr txBox="1"/>
          <p:nvPr/>
        </p:nvSpPr>
        <p:spPr>
          <a:xfrm>
            <a:off x="31954" y="828675"/>
            <a:ext cx="3549446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000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Length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EB82E3E4-C626-D7F9-B512-ADCF7D7AEC9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C7D453D-5B8D-338D-6FB2-B21994E08818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1E58EC-DF61-D456-0120-4BC5D815AA47}"/>
              </a:ext>
            </a:extLst>
          </p:cNvPr>
          <p:cNvSpPr txBox="1"/>
          <p:nvPr/>
        </p:nvSpPr>
        <p:spPr>
          <a:xfrm>
            <a:off x="17259300" y="9533567"/>
            <a:ext cx="7039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239E4FA-8F90-50AC-501A-B2E5ED563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23741"/>
            <a:ext cx="9843365" cy="50124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81844E5-88F0-678A-0062-1EFDF6884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165" y="3522097"/>
            <a:ext cx="6694308" cy="324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2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086F-C944-A6B2-F230-BE2237F6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52172D-21CB-BF3D-245D-32B66FE692EA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5556D1-B903-6540-A029-CFDF75CE4CE9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C82141-C422-10B7-CFA4-C18A9E92EC5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130E32DD-1713-824F-9963-D512BAE4C880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Conclusion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CB8557-1622-DA45-78F9-F305F01799A7}"/>
              </a:ext>
            </a:extLst>
          </p:cNvPr>
          <p:cNvSpPr txBox="1"/>
          <p:nvPr/>
        </p:nvSpPr>
        <p:spPr>
          <a:xfrm>
            <a:off x="31955" y="828675"/>
            <a:ext cx="5225845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Conclusion &amp; Limit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625DE26-72C6-C2D0-2ED6-E071C55A1151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2323F71-1021-9B8B-2D03-A510AF5E280F}"/>
              </a:ext>
            </a:extLst>
          </p:cNvPr>
          <p:cNvSpPr txBox="1"/>
          <p:nvPr/>
        </p:nvSpPr>
        <p:spPr>
          <a:xfrm>
            <a:off x="1732078" y="5067485"/>
            <a:ext cx="1511303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3200" dirty="0"/>
              <a:t>Focus on token efficiency, adaptive search mechanisms, and theoretical analysis.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CA6D97C-AB17-7416-DE88-9C04379F505B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1CAD55E-8F6E-D503-C2D0-020EE6BB6C75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3119F-AE5B-AAE0-C21C-2480AA600D7B}"/>
              </a:ext>
            </a:extLst>
          </p:cNvPr>
          <p:cNvSpPr txBox="1"/>
          <p:nvPr/>
        </p:nvSpPr>
        <p:spPr>
          <a:xfrm>
            <a:off x="1722246" y="5706235"/>
            <a:ext cx="1554994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5400" dirty="0">
                <a:solidFill>
                  <a:srgbClr val="FF0000"/>
                </a:solidFill>
              </a:rPr>
              <a:t>But</a:t>
            </a:r>
            <a:r>
              <a:rPr lang="en-US" altLang="ko-KR" sz="3600" dirty="0"/>
              <a:t> </a:t>
            </a:r>
          </a:p>
          <a:p>
            <a:pPr>
              <a:buNone/>
            </a:pPr>
            <a:r>
              <a:rPr lang="en-US" altLang="ko-KR" sz="3200" dirty="0"/>
              <a:t>Relies on high-performance models (GPT-4); </a:t>
            </a:r>
          </a:p>
          <a:p>
            <a:pPr>
              <a:buNone/>
            </a:pPr>
            <a:r>
              <a:rPr lang="en-US" altLang="ko-KR" sz="3200" dirty="0"/>
              <a:t>effectiveness on smaller models may be limited.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340E51F-3A80-4E2B-FBF6-E1FE1AD1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465" y="2489683"/>
            <a:ext cx="7308544" cy="22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1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E2BF-4844-7EAA-F182-8754AD48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557FCC-4237-4E27-F1D8-252DC938E222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57FEFE-40A1-9DDB-8000-B09FF3C2FE6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9BDE6D3-9D9E-6012-39D6-513214B2CD4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77519F7-D9A9-A668-E49F-547A26734536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2CBE56-0540-CF03-0088-20287BD60F12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EDA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89CF8A5-38D7-14CD-0D57-7665ECD47EE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9A6C101-BC76-B972-77E6-EFDB50BDE553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4F385CD-02FC-2B35-69F9-EE1ED35D97D3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12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5EA3BEF-B5EC-7E94-0B3A-4F32A53AB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958171"/>
              </p:ext>
            </p:extLst>
          </p:nvPr>
        </p:nvGraphicFramePr>
        <p:xfrm>
          <a:off x="2286000" y="3788600"/>
          <a:ext cx="13335000" cy="29174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508174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5931529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34466363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13481453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78900765"/>
                    </a:ext>
                  </a:extLst>
                </a:gridCol>
              </a:tblGrid>
              <a:tr h="716892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NC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MCI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AD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Total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680350"/>
                  </a:ext>
                </a:extLst>
              </a:tr>
              <a:tr h="733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female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855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571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456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1469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412781"/>
                  </a:ext>
                </a:extLst>
              </a:tr>
              <a:tr h="733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male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153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232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168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966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80164"/>
                  </a:ext>
                </a:extLst>
              </a:tr>
              <a:tr h="733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total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1008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803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624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2435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54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837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F9F61-7F83-945C-F424-D3CC090B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D1CF41-A51A-5CDA-1869-1CD8E9EF7978}"/>
              </a:ext>
            </a:extLst>
          </p:cNvPr>
          <p:cNvGrpSpPr/>
          <p:nvPr/>
        </p:nvGrpSpPr>
        <p:grpSpPr>
          <a:xfrm>
            <a:off x="-290868" y="10052689"/>
            <a:ext cx="18869735" cy="120011"/>
            <a:chOff x="0" y="0"/>
            <a:chExt cx="4969807" cy="3160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EDE0C65-89EC-F66D-1171-9C7F71BDE8E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84ECA5-02D3-7F98-2226-3AFCBD54D1C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4AAFAFE5-F599-397A-DDDE-5FF1391F1551}"/>
              </a:ext>
            </a:extLst>
          </p:cNvPr>
          <p:cNvSpPr txBox="1"/>
          <p:nvPr/>
        </p:nvSpPr>
        <p:spPr>
          <a:xfrm>
            <a:off x="13378146" y="781050"/>
            <a:ext cx="3881154" cy="44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altLang="ko-KR" sz="28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윤고딕"/>
              </a:rPr>
              <a:t>Project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C1AFB2-D3B5-D126-14E8-2186A253B345}"/>
              </a:ext>
            </a:extLst>
          </p:cNvPr>
          <p:cNvSpPr txBox="1"/>
          <p:nvPr/>
        </p:nvSpPr>
        <p:spPr>
          <a:xfrm>
            <a:off x="31956" y="828675"/>
            <a:ext cx="3244434" cy="794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+mj-lt"/>
                <a:ea typeface="윤고딕"/>
                <a:cs typeface="윤고딕"/>
                <a:sym typeface="윤고딕"/>
              </a:rPr>
              <a:t>Direct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CB06054A-6F66-1ADA-1A53-8422AE50AA20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AB50A2D-703F-4940-61AA-AF9213CE9107}"/>
              </a:ext>
            </a:extLst>
          </p:cNvPr>
          <p:cNvSpPr txBox="1"/>
          <p:nvPr/>
        </p:nvSpPr>
        <p:spPr>
          <a:xfrm>
            <a:off x="-59609" y="9665970"/>
            <a:ext cx="1781855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C&amp;I LAB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E3B76F1-F120-58F9-CE09-A76A071DACDA}"/>
              </a:ext>
            </a:extLst>
          </p:cNvPr>
          <p:cNvSpPr txBox="1"/>
          <p:nvPr/>
        </p:nvSpPr>
        <p:spPr>
          <a:xfrm>
            <a:off x="17068800" y="9533567"/>
            <a:ext cx="894466" cy="529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13</a:t>
            </a:r>
            <a:endParaRPr lang="en-US" sz="3197" dirty="0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0204BBC-0C69-74AD-AF27-51C785D94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211094"/>
              </p:ext>
            </p:extLst>
          </p:nvPr>
        </p:nvGraphicFramePr>
        <p:xfrm>
          <a:off x="3809999" y="3552315"/>
          <a:ext cx="10668000" cy="365100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50817458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5931529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34466363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134814536"/>
                    </a:ext>
                  </a:extLst>
                </a:gridCol>
              </a:tblGrid>
              <a:tr h="716892">
                <a:tc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Precision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Recall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F1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680350"/>
                  </a:ext>
                </a:extLst>
              </a:tr>
              <a:tr h="733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NC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99.76%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40.97%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58.09%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412781"/>
                  </a:ext>
                </a:extLst>
              </a:tr>
              <a:tr h="733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MCI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55.60%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97.01%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70.69%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774793"/>
                  </a:ext>
                </a:extLst>
              </a:tr>
              <a:tr h="7335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AD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95.81%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95.19%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95.50%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80164"/>
                  </a:ext>
                </a:extLst>
              </a:tr>
              <a:tr h="733528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+mj-lt"/>
                        </a:rPr>
                        <a:t>ACC: 73.35%</a:t>
                      </a:r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542726"/>
                  </a:ext>
                </a:extLst>
              </a:tr>
            </a:tbl>
          </a:graphicData>
        </a:graphic>
      </p:graphicFrame>
      <p:sp>
        <p:nvSpPr>
          <p:cNvPr id="15" name="TextBox 6">
            <a:extLst>
              <a:ext uri="{FF2B5EF4-FFF2-40B4-BE49-F238E27FC236}">
                <a16:creationId xmlns:a16="http://schemas.microsoft.com/office/drawing/2014/main" id="{02E78A89-D35E-3090-7156-03E09A96389B}"/>
              </a:ext>
            </a:extLst>
          </p:cNvPr>
          <p:cNvSpPr txBox="1"/>
          <p:nvPr/>
        </p:nvSpPr>
        <p:spPr>
          <a:xfrm>
            <a:off x="8305799" y="2936563"/>
            <a:ext cx="16764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altLang="ko-KR" sz="3200" dirty="0"/>
              <a:t>Direct</a:t>
            </a:r>
          </a:p>
        </p:txBody>
      </p:sp>
    </p:spTree>
    <p:extLst>
      <p:ext uri="{BB962C8B-B14F-4D97-AF65-F5344CB8AC3E}">
        <p14:creationId xmlns:p14="http://schemas.microsoft.com/office/powerpoint/2010/main" val="3919035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13560</TotalTime>
  <Words>325</Words>
  <Application>Microsoft Office PowerPoint</Application>
  <PresentationFormat>사용자 지정</PresentationFormat>
  <Paragraphs>117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Glacial Indifference</vt:lpstr>
      <vt:lpstr>Calibri</vt:lpstr>
      <vt:lpstr>Arial</vt:lpstr>
      <vt:lpstr>윤고딕</vt:lpstr>
      <vt:lpstr>Garet Light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dc:creator>윤성</dc:creator>
  <cp:lastModifiedBy>변윤성</cp:lastModifiedBy>
  <cp:revision>169</cp:revision>
  <dcterms:created xsi:type="dcterms:W3CDTF">2006-08-16T00:00:00Z</dcterms:created>
  <dcterms:modified xsi:type="dcterms:W3CDTF">2025-11-24T02:54:07Z</dcterms:modified>
  <dc:identifier>DAGyMBKKpxw</dc:identifier>
</cp:coreProperties>
</file>