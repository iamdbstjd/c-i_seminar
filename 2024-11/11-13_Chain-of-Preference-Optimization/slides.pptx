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94" r:id="rId4"/>
    <p:sldId id="260" r:id="rId5"/>
    <p:sldId id="311" r:id="rId6"/>
    <p:sldId id="275" r:id="rId7"/>
    <p:sldId id="276" r:id="rId8"/>
    <p:sldId id="306" r:id="rId9"/>
    <p:sldId id="307" r:id="rId10"/>
    <p:sldId id="312" r:id="rId11"/>
    <p:sldId id="308" r:id="rId12"/>
    <p:sldId id="309" r:id="rId13"/>
    <p:sldId id="310" r:id="rId14"/>
    <p:sldId id="295" r:id="rId15"/>
    <p:sldId id="296" r:id="rId16"/>
    <p:sldId id="313" r:id="rId17"/>
    <p:sldId id="304" r:id="rId18"/>
    <p:sldId id="301" r:id="rId19"/>
    <p:sldId id="303" r:id="rId20"/>
    <p:sldId id="305" r:id="rId21"/>
    <p:sldId id="302" r:id="rId22"/>
    <p:sldId id="299" r:id="rId23"/>
    <p:sldId id="314" r:id="rId24"/>
  </p:sldIdLst>
  <p:sldSz cx="18288000" cy="10287000"/>
  <p:notesSz cx="6858000" cy="9144000"/>
  <p:embeddedFontLst>
    <p:embeddedFont>
      <p:font typeface="윤고딕" panose="020B0600000101010101" charset="-127"/>
      <p:regular r:id="rId26"/>
    </p:embeddedFont>
    <p:embeddedFont>
      <p:font typeface="윤고딕 Light" panose="020B0600000101010101" charset="-127"/>
      <p:regular r:id="rId27"/>
    </p:embeddedFont>
    <p:embeddedFont>
      <p:font typeface="Cambria Math" panose="02040503050406030204" pitchFamily="18" charset="0"/>
      <p:regular r:id="rId28"/>
    </p:embeddedFont>
    <p:embeddedFont>
      <p:font typeface="Garet Light" panose="020B0600000101010101" charset="0"/>
      <p:regular r:id="rId29"/>
    </p:embeddedFont>
    <p:embeddedFont>
      <p:font typeface="Glacial Indifference" panose="020B0600000101010101" charset="0"/>
      <p:regular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5603" y="2021010"/>
            <a:ext cx="16296792" cy="2831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altLang="ko-KR" sz="4800" dirty="0"/>
              <a:t>Chain of Preference Optimization: Improving Chain-of-Thought Reasoning in LLMs</a:t>
            </a:r>
            <a:endParaRPr lang="en-US" sz="4800" spc="-103" dirty="0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2025.11.13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7766212" y="5643884"/>
            <a:ext cx="2755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 err="1"/>
              <a:t>NeurIPS</a:t>
            </a:r>
            <a:r>
              <a:rPr lang="ko-KR" altLang="en-US" sz="3600" dirty="0"/>
              <a:t> </a:t>
            </a:r>
            <a:r>
              <a:rPr lang="en-US" altLang="ko-KR" sz="3600" dirty="0"/>
              <a:t>2024</a:t>
            </a:r>
            <a:endParaRPr lang="ko-KR" alt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2EAE-59C8-E631-E9C8-1A80B7ECA36A}"/>
              </a:ext>
            </a:extLst>
          </p:cNvPr>
          <p:cNvSpPr txBox="1"/>
          <p:nvPr/>
        </p:nvSpPr>
        <p:spPr>
          <a:xfrm>
            <a:off x="4519008" y="6689883"/>
            <a:ext cx="9249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Xuan Zhang, Chao Du, Tianyu Pang, Qian Liu, Wei Gao, Min Lin</a:t>
            </a:r>
            <a:endParaRPr lang="en-US" altLang="ko-KR" sz="28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6400" y="202975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486400" y="3804133"/>
            <a:ext cx="10591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Chain of Preference Optimization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86400" y="5611967"/>
            <a:ext cx="11001452" cy="72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Experiments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1484" y="7341044"/>
            <a:ext cx="803456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40383" y="156701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10885" y="32454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40382" y="497806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40382" y="67925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8B0B-3149-3CB0-3987-E3EE36AA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3DAE4F-F662-CD7F-861B-9A414D81B3C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8F678A2-E548-DDBC-7A07-66A46CF4D8B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3DF4EB-E9BA-B395-B897-E4144BDBEFD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5302F38-A398-EFD4-EBCC-5E82DAB90D3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21C959-D5D0-69F2-F255-2756738C6530}"/>
              </a:ext>
            </a:extLst>
          </p:cNvPr>
          <p:cNvSpPr txBox="1"/>
          <p:nvPr/>
        </p:nvSpPr>
        <p:spPr>
          <a:xfrm>
            <a:off x="711958" y="851019"/>
            <a:ext cx="256443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Compare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2549273-0196-450B-A075-89B6CED32AF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32B6B1A-AD82-05D4-28A9-40FD0B80B6C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7D1D242-26C8-3629-9499-E282820A62E5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C47E2712-0126-0BE4-B2D5-F420D69219F4}"/>
              </a:ext>
            </a:extLst>
          </p:cNvPr>
          <p:cNvSpPr txBox="1"/>
          <p:nvPr/>
        </p:nvSpPr>
        <p:spPr>
          <a:xfrm>
            <a:off x="1909981" y="7845004"/>
            <a:ext cx="1508261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600" dirty="0"/>
              <a:t>Learning </a:t>
            </a:r>
            <a:r>
              <a:rPr lang="en-US" altLang="ko-KR" sz="3600" dirty="0" err="1"/>
              <a:t>ToT's</a:t>
            </a:r>
            <a:r>
              <a:rPr lang="en-US" altLang="ko-KR" sz="3600" dirty="0"/>
              <a:t> intelligence during Training to achieve </a:t>
            </a:r>
            <a:r>
              <a:rPr lang="en-US" altLang="ko-KR" sz="3600" dirty="0" err="1"/>
              <a:t>CoT's</a:t>
            </a:r>
            <a:r>
              <a:rPr lang="en-US" altLang="ko-KR" sz="3600" dirty="0"/>
              <a:t> speed at Inference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4EEBD3-B197-C163-4BA4-8FE91983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298" y="1725876"/>
            <a:ext cx="12725400" cy="562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15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958" y="851019"/>
            <a:ext cx="256443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CPO?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1FC1163-D37E-A1A2-C453-FA44DE6A9FB7}"/>
              </a:ext>
            </a:extLst>
          </p:cNvPr>
          <p:cNvSpPr txBox="1"/>
          <p:nvPr/>
        </p:nvSpPr>
        <p:spPr>
          <a:xfrm>
            <a:off x="2133595" y="8043936"/>
            <a:ext cx="14020803" cy="496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altLang="ko-KR" sz="4000" dirty="0"/>
              <a:t>LLM pairs Winners(</a:t>
            </a:r>
            <a:r>
              <a:rPr lang="ko-KR" altLang="en-US" sz="4000" dirty="0"/>
              <a:t>🏆</a:t>
            </a:r>
            <a:r>
              <a:rPr lang="en-US" altLang="ko-KR" sz="4000" dirty="0"/>
              <a:t>) and Losers through its own self-evaluation</a:t>
            </a:r>
            <a:endParaRPr lang="en-US" sz="40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4632F0-9DAA-EDDF-75C5-C56FD98DC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27" y="2236919"/>
            <a:ext cx="12408541" cy="5073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8339-DD52-6019-A308-573FD48C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709200-F389-0612-A40B-2C966DCBB4D1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1AE1B-2285-98BA-7A6A-9C35A29B801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2C1DF-CD73-0D2B-40AE-C4AA1FF92D1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B3C8B9E-819E-4C29-1597-6C481BA91C46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B84DFB-4588-9985-B205-2BB31199450F}"/>
              </a:ext>
            </a:extLst>
          </p:cNvPr>
          <p:cNvSpPr txBox="1"/>
          <p:nvPr/>
        </p:nvSpPr>
        <p:spPr>
          <a:xfrm>
            <a:off x="711958" y="851019"/>
            <a:ext cx="2564431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DPO?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5736D3-EF99-D17E-4549-2127A103A3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610979F-A38D-CE52-C160-B5F9E568249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862F1D-600E-3FDC-6DE4-8E5B398D2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5809091"/>
            <a:ext cx="12634256" cy="15753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7096AE4-B06E-FE78-BA2E-CEA1B8C9FC11}"/>
              </a:ext>
            </a:extLst>
          </p:cNvPr>
          <p:cNvSpPr/>
          <p:nvPr/>
        </p:nvSpPr>
        <p:spPr>
          <a:xfrm>
            <a:off x="8050282" y="5809089"/>
            <a:ext cx="3255912" cy="14350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AD7B0-60C0-ACAE-D248-063B573E23B9}"/>
              </a:ext>
            </a:extLst>
          </p:cNvPr>
          <p:cNvSpPr/>
          <p:nvPr/>
        </p:nvSpPr>
        <p:spPr>
          <a:xfrm>
            <a:off x="11859181" y="5841897"/>
            <a:ext cx="3082843" cy="14350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화살표: 위쪽 10">
            <a:extLst>
              <a:ext uri="{FF2B5EF4-FFF2-40B4-BE49-F238E27FC236}">
                <a16:creationId xmlns:a16="http://schemas.microsoft.com/office/drawing/2014/main" id="{88C1E185-5B9F-A85C-0A95-3BE6182F03AB}"/>
              </a:ext>
            </a:extLst>
          </p:cNvPr>
          <p:cNvSpPr/>
          <p:nvPr/>
        </p:nvSpPr>
        <p:spPr>
          <a:xfrm>
            <a:off x="11003318" y="5320229"/>
            <a:ext cx="302876" cy="344876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화살표: 위쪽 11">
            <a:extLst>
              <a:ext uri="{FF2B5EF4-FFF2-40B4-BE49-F238E27FC236}">
                <a16:creationId xmlns:a16="http://schemas.microsoft.com/office/drawing/2014/main" id="{B40EF1C0-18A1-F055-28D7-5869C6A70BDF}"/>
              </a:ext>
            </a:extLst>
          </p:cNvPr>
          <p:cNvSpPr/>
          <p:nvPr/>
        </p:nvSpPr>
        <p:spPr>
          <a:xfrm rot="10800000">
            <a:off x="14639148" y="5337679"/>
            <a:ext cx="302876" cy="344876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0128A8-857F-A304-09D4-2319FD07B6E5}"/>
                  </a:ext>
                </a:extLst>
              </p:cNvPr>
              <p:cNvSpPr txBox="1"/>
              <p:nvPr/>
            </p:nvSpPr>
            <p:spPr>
              <a:xfrm>
                <a:off x="1724038" y="7636000"/>
                <a:ext cx="14439905" cy="1609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Train the model being tuned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altLang="ko-KR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kumimoji="0" lang="en-US" altLang="ko-K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en-US" altLang="ko-K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to increase the probability of generating the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'good answer’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3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ko-KR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ko-KR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kumimoji="0" lang="en-US" altLang="ko-KR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sub>
                    </m:sSub>
                  </m:oMath>
                </a14:m>
                <a:r>
                  <a:rPr kumimoji="0" lang="en-US" altLang="ko-K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)and decrease the probability of generating the 'bad answer’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3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ko-KR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ko-KR" sz="32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kumimoji="0" lang="en-US" altLang="ko-KR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0" lang="en-US" altLang="ko-K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)relative to the original model(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altLang="ko-KR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kumimoji="0" lang="en-US" altLang="ko-K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)</a:t>
                </a:r>
                <a:endPara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0128A8-857F-A304-09D4-2319FD07B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38" y="7636000"/>
                <a:ext cx="14439905" cy="1609095"/>
              </a:xfrm>
              <a:prstGeom prst="rect">
                <a:avLst/>
              </a:prstGeom>
              <a:blipFill>
                <a:blip r:embed="rId3"/>
                <a:stretch>
                  <a:fillRect t="-4545" b="-94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57F46E74-DCF8-C4FF-E2F2-B3BB5434A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786" y="1896146"/>
            <a:ext cx="14819879" cy="3103985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709DB745-313D-F51C-1BA4-5EC76FAF80DF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</p:spTree>
    <p:extLst>
      <p:ext uri="{BB962C8B-B14F-4D97-AF65-F5344CB8AC3E}">
        <p14:creationId xmlns:p14="http://schemas.microsoft.com/office/powerpoint/2010/main" val="1862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24581" y="768434"/>
            <a:ext cx="4162214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Contribution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3044-3171-89C2-56FA-555C17A268AF}"/>
              </a:ext>
            </a:extLst>
          </p:cNvPr>
          <p:cNvSpPr txBox="1"/>
          <p:nvPr/>
        </p:nvSpPr>
        <p:spPr>
          <a:xfrm>
            <a:off x="2105688" y="2503752"/>
            <a:ext cx="13563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3600" dirty="0"/>
              <a:t>A core insight into the value of ‘</a:t>
            </a:r>
            <a:r>
              <a:rPr lang="en-US" altLang="ko-KR" sz="3600" dirty="0">
                <a:solidFill>
                  <a:srgbClr val="FF0000"/>
                </a:solidFill>
              </a:rPr>
              <a:t>discarded thoughts</a:t>
            </a:r>
            <a:r>
              <a:rPr lang="en-US" altLang="ko-KR" sz="3600" dirty="0"/>
              <a:t>’</a:t>
            </a:r>
          </a:p>
          <a:p>
            <a:r>
              <a:rPr lang="en-US" altLang="ko-KR" sz="2800" dirty="0"/>
              <a:t>- The insight that 'discarded thoughts' from </a:t>
            </a:r>
            <a:r>
              <a:rPr lang="en-US" altLang="ko-KR" sz="2800" dirty="0" err="1"/>
              <a:t>ToT's</a:t>
            </a:r>
            <a:r>
              <a:rPr lang="en-US" altLang="ko-KR" sz="2800" dirty="0"/>
              <a:t> search are highly valuable as learning data when compared against 'good thoughts'</a:t>
            </a:r>
          </a:p>
          <a:p>
            <a:pPr marL="742950" indent="-742950">
              <a:buAutoNum type="arabicPeriod"/>
            </a:pPr>
            <a:endParaRPr lang="en-US" altLang="ko-KR" sz="3600" dirty="0"/>
          </a:p>
          <a:p>
            <a:r>
              <a:rPr lang="en-US" altLang="ko-KR" sz="3600" dirty="0"/>
              <a:t>2. Proposing the </a:t>
            </a:r>
            <a:r>
              <a:rPr lang="en-US" altLang="ko-KR" sz="3600" dirty="0">
                <a:solidFill>
                  <a:srgbClr val="FF0000"/>
                </a:solidFill>
              </a:rPr>
              <a:t>Chain of Preference Optimization </a:t>
            </a:r>
            <a:r>
              <a:rPr lang="en-US" altLang="ko-KR" sz="3600" dirty="0"/>
              <a:t>(CPO) strategy</a:t>
            </a:r>
          </a:p>
          <a:p>
            <a:r>
              <a:rPr lang="en-US" altLang="ko-KR" sz="2800" dirty="0"/>
              <a:t>- A novel training strategy that converts </a:t>
            </a:r>
            <a:r>
              <a:rPr lang="en-US" altLang="ko-KR" sz="2800" dirty="0" err="1"/>
              <a:t>ToT's</a:t>
            </a:r>
            <a:r>
              <a:rPr lang="en-US" altLang="ko-KR" sz="2800" dirty="0"/>
              <a:t> 'step-by-step' reasoning process </a:t>
            </a:r>
          </a:p>
          <a:p>
            <a:r>
              <a:rPr lang="en-US" altLang="ko-KR" sz="2800" dirty="0"/>
              <a:t>(good thought vs. bad thought) into preference data and uses it to fine-tune the model via DPO.</a:t>
            </a:r>
          </a:p>
          <a:p>
            <a:endParaRPr lang="en-US" altLang="ko-KR" sz="2800" dirty="0"/>
          </a:p>
          <a:p>
            <a:r>
              <a:rPr lang="en-US" altLang="ko-KR" sz="3600" dirty="0"/>
              <a:t>3. Identifying and addressing the </a:t>
            </a:r>
            <a:r>
              <a:rPr lang="en-US" altLang="ko-KR" sz="3600" dirty="0">
                <a:solidFill>
                  <a:srgbClr val="FF0000"/>
                </a:solidFill>
              </a:rPr>
              <a:t>'LCP gradient cancellation issue</a:t>
            </a:r>
            <a:r>
              <a:rPr lang="en-US" altLang="ko-KR" sz="3600" dirty="0"/>
              <a:t>’</a:t>
            </a:r>
          </a:p>
          <a:p>
            <a:r>
              <a:rPr lang="en-US" altLang="ko-KR" sz="2800" dirty="0"/>
              <a:t>- Identifying the problem where learning signals (gradients) cancel out in the overlapping prefix (LCP) during 'full-path' optimization, which CPO solves through 'step-by-step' learning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44C1852-68A5-2DE8-94CB-77459EE30E0D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365C-3454-F53F-4239-824DB709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FCE120-A5CE-FB72-4D49-C34B74134E83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E4BBFE-8E6E-D6E5-6896-8C19BE39EF6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D25CA93-45C8-5171-6334-808C35655D4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F462F81-1EE5-2612-5F0B-3D997F968059}"/>
              </a:ext>
            </a:extLst>
          </p:cNvPr>
          <p:cNvSpPr txBox="1"/>
          <p:nvPr/>
        </p:nvSpPr>
        <p:spPr>
          <a:xfrm>
            <a:off x="533400" y="828675"/>
            <a:ext cx="437645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Thought generation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835A241-15CC-7E26-6665-12D88F643CA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4E2E105-E3AB-B43F-A914-6588E5640F6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2CB7C61-8E02-25EA-93F6-9E6F226DC4C8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F581FA7-E9E6-0035-AAEE-FD014CC67344}"/>
              </a:ext>
            </a:extLst>
          </p:cNvPr>
          <p:cNvSpPr txBox="1"/>
          <p:nvPr/>
        </p:nvSpPr>
        <p:spPr>
          <a:xfrm>
            <a:off x="13378146" y="781050"/>
            <a:ext cx="3881154" cy="90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Chain of Preference Optimization</a:t>
            </a:r>
            <a:endParaRPr lang="en-US" altLang="ko-KR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6B8382-CB7E-A32F-F8A2-36ABD1CB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07" y="3228255"/>
            <a:ext cx="14852005" cy="10688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4F2EDE-FC50-C7A8-ACE1-A32DB84F26E8}"/>
                  </a:ext>
                </a:extLst>
              </p:cNvPr>
              <p:cNvSpPr txBox="1"/>
              <p:nvPr/>
            </p:nvSpPr>
            <p:spPr>
              <a:xfrm>
                <a:off x="1638194" y="5926435"/>
                <a:ext cx="14629256" cy="1705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3200" dirty="0"/>
                  <a:t>Based on all the information up to the </a:t>
                </a:r>
                <a14:m>
                  <m:oMath xmlns:m="http://schemas.openxmlformats.org/officeDocument/2006/math">
                    <m:r>
                      <a:rPr lang="en-US" altLang="ko-KR" sz="3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3200" i="1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altLang="ko-KR" sz="3200" dirty="0"/>
                  <a:t>step (the question </a:t>
                </a:r>
                <a14:m>
                  <m:oMath xmlns:m="http://schemas.openxmlformats.org/officeDocument/2006/math">
                    <m:r>
                      <a:rPr lang="en-US" altLang="ko-KR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3200" dirty="0"/>
                  <a:t>and </a:t>
                </a:r>
              </a:p>
              <a:p>
                <a:pPr algn="ctr"/>
                <a:r>
                  <a:rPr lang="en-US" altLang="ko-KR" sz="3200" dirty="0"/>
                  <a:t>previous thoughts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… </m:t>
                    </m:r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3200" dirty="0"/>
                  <a:t>)the LLM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ko-KR" sz="3200" dirty="0"/>
                  <a:t>)generates (samples) </a:t>
                </a:r>
              </a:p>
              <a:p>
                <a:pPr algn="ctr"/>
                <a:r>
                  <a:rPr lang="en-US" altLang="ko-KR" sz="3200" dirty="0"/>
                  <a:t>K different thoughts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ko-KR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3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ko-KR" sz="3200" dirty="0"/>
                  <a:t> ) for the next </a:t>
                </a:r>
                <a14:m>
                  <m:oMath xmlns:m="http://schemas.openxmlformats.org/officeDocument/2006/math">
                    <m:r>
                      <a:rPr lang="en-US" altLang="ko-KR" sz="3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3200" dirty="0"/>
                  <a:t>-</a:t>
                </a:r>
                <a:r>
                  <a:rPr lang="en-US" altLang="ko-KR" sz="3200" dirty="0" err="1"/>
                  <a:t>th</a:t>
                </a:r>
                <a:r>
                  <a:rPr lang="en-US" altLang="ko-KR" sz="3200" dirty="0"/>
                  <a:t> step.</a:t>
                </a:r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4F2EDE-FC50-C7A8-ACE1-A32DB84F2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194" y="5926435"/>
                <a:ext cx="14629256" cy="1705339"/>
              </a:xfrm>
              <a:prstGeom prst="rect">
                <a:avLst/>
              </a:prstGeom>
              <a:blipFill>
                <a:blip r:embed="rId3"/>
                <a:stretch>
                  <a:fillRect t="-4286" b="-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55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FC1C-3F23-7471-4F25-72062E4E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AF439D-008E-9FA5-C160-AAAD08AE14C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3359B1-6BCE-F6AC-CBB2-23034B8E35C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DCB0DC-0D0A-91ED-F0E4-4FB44264FBF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90C351E5-2F15-95CA-E885-D09DF4AAEA24}"/>
              </a:ext>
            </a:extLst>
          </p:cNvPr>
          <p:cNvSpPr txBox="1"/>
          <p:nvPr/>
        </p:nvSpPr>
        <p:spPr>
          <a:xfrm>
            <a:off x="533400" y="828675"/>
            <a:ext cx="3581400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Per-Step Loss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64953A3-3462-84E5-095E-6399F14DCAB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49963E5-69E5-7A1A-A8F3-D45391D47FF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75ED4070-91BB-56A7-BE0C-4173F938FCD7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5916F7-92B5-A00B-38B4-20456CCA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71" y="6350723"/>
            <a:ext cx="15027247" cy="1994596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3C2E1E47-7C2B-D71F-D4C7-2BE45C104C65}"/>
              </a:ext>
            </a:extLst>
          </p:cNvPr>
          <p:cNvSpPr txBox="1"/>
          <p:nvPr/>
        </p:nvSpPr>
        <p:spPr>
          <a:xfrm>
            <a:off x="13378146" y="781050"/>
            <a:ext cx="3881154" cy="90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Chain of Preference Optimization</a:t>
            </a:r>
            <a:endParaRPr lang="en-US" altLang="ko-KR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EBD9402-3E06-EC38-0157-25F36F7A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31" y="2934627"/>
            <a:ext cx="12714533" cy="1585353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12B8425D-9D98-68FF-3DF5-63B8332A3BC5}"/>
              </a:ext>
            </a:extLst>
          </p:cNvPr>
          <p:cNvSpPr/>
          <p:nvPr/>
        </p:nvSpPr>
        <p:spPr>
          <a:xfrm>
            <a:off x="9029697" y="4793226"/>
            <a:ext cx="190503" cy="12192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3FC6DC-958F-8447-F3C8-BDD099AAA06A}"/>
              </a:ext>
            </a:extLst>
          </p:cNvPr>
          <p:cNvSpPr/>
          <p:nvPr/>
        </p:nvSpPr>
        <p:spPr>
          <a:xfrm>
            <a:off x="8229600" y="2934627"/>
            <a:ext cx="3276600" cy="144687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49B32C-8941-3AE4-7550-36949764D33E}"/>
              </a:ext>
            </a:extLst>
          </p:cNvPr>
          <p:cNvSpPr/>
          <p:nvPr/>
        </p:nvSpPr>
        <p:spPr>
          <a:xfrm>
            <a:off x="6934200" y="6624584"/>
            <a:ext cx="4191000" cy="144687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41FC53-ECF3-568F-265D-1DF045BE2460}"/>
              </a:ext>
            </a:extLst>
          </p:cNvPr>
          <p:cNvSpPr/>
          <p:nvPr/>
        </p:nvSpPr>
        <p:spPr>
          <a:xfrm>
            <a:off x="12039600" y="2781300"/>
            <a:ext cx="3048000" cy="17386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E4E81F-69D4-18CE-8E8D-2C024A282CB4}"/>
              </a:ext>
            </a:extLst>
          </p:cNvPr>
          <p:cNvSpPr/>
          <p:nvPr/>
        </p:nvSpPr>
        <p:spPr>
          <a:xfrm>
            <a:off x="11658600" y="6397625"/>
            <a:ext cx="4114800" cy="17386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85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38BB-13E0-43BB-874E-B26FD07A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934FDC8-4C59-A35F-4CF6-C0CB1BEBBFCD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927B81-5464-A3F3-E16F-3F5DBEAF93A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5D59B13-0931-05F3-D551-A29FE0295DA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A256202-96D1-C817-23DF-A3D893352B05}"/>
              </a:ext>
            </a:extLst>
          </p:cNvPr>
          <p:cNvSpPr txBox="1"/>
          <p:nvPr/>
        </p:nvSpPr>
        <p:spPr>
          <a:xfrm>
            <a:off x="533400" y="828675"/>
            <a:ext cx="6705600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The objective function for CPO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6EBB101-D5E5-5627-2464-6D7B16D1EDF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8210D05-CA71-13D7-BC7E-E724723ED40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C3919000-D629-D8A5-B256-8ED067CBCA62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46FD4E8-0CE4-0DE9-F167-7E8B7197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165" y="2827688"/>
            <a:ext cx="13369667" cy="1515053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0C9EFC48-2BBE-E252-5455-F24523427768}"/>
              </a:ext>
            </a:extLst>
          </p:cNvPr>
          <p:cNvSpPr txBox="1"/>
          <p:nvPr/>
        </p:nvSpPr>
        <p:spPr>
          <a:xfrm>
            <a:off x="13378146" y="781050"/>
            <a:ext cx="3881154" cy="90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Chain of Preference Optimization</a:t>
            </a:r>
            <a:endParaRPr lang="en-US" altLang="ko-KR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26F286-E71A-9092-4B81-747252A13559}"/>
                  </a:ext>
                </a:extLst>
              </p:cNvPr>
              <p:cNvSpPr txBox="1"/>
              <p:nvPr/>
            </p:nvSpPr>
            <p:spPr>
              <a:xfrm>
                <a:off x="2247899" y="6048169"/>
                <a:ext cx="137922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3600" dirty="0"/>
                  <a:t>The final CPO loss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𝑃𝑂</m:t>
                        </m:r>
                      </m:sub>
                    </m:sSub>
                  </m:oMath>
                </a14:m>
                <a:r>
                  <a:rPr lang="en-US" altLang="ko-KR" sz="3600" dirty="0"/>
                  <a:t>)is the 'full average (</a:t>
                </a:r>
                <a14:m>
                  <m:oMath xmlns:m="http://schemas.openxmlformats.org/officeDocument/2006/math">
                    <m:r>
                      <a:rPr lang="ko-KR" altLang="el-GR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altLang="ko-KR" sz="3600" dirty="0"/>
                  <a:t>)‘of all the </a:t>
                </a:r>
              </a:p>
              <a:p>
                <a:pPr algn="ctr"/>
                <a:r>
                  <a:rPr lang="en-US" altLang="ko-KR" sz="3600" dirty="0"/>
                  <a:t>'step-wise' losses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3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3600" dirty="0"/>
                  <a:t>)calculated from our entire collected dataset (</a:t>
                </a:r>
                <a14:m>
                  <m:oMath xmlns:m="http://schemas.openxmlformats.org/officeDocument/2006/math">
                    <m:r>
                      <a:rPr lang="ko-KR" altLang="en-US" sz="360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altLang="ko-KR" sz="3600" dirty="0"/>
                  <a:t>)</a:t>
                </a:r>
                <a:endParaRPr lang="ko-KR" alt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26F286-E71A-9092-4B81-747252A13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899" y="6048169"/>
                <a:ext cx="13792200" cy="1200329"/>
              </a:xfrm>
              <a:prstGeom prst="rect">
                <a:avLst/>
              </a:prstGeom>
              <a:blipFill>
                <a:blip r:embed="rId3"/>
                <a:stretch>
                  <a:fillRect t="-7614" b="-182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50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5552-0FEE-1DF6-0DC7-70F0F9F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8E73A8-F38D-91B7-576A-3E2FF13510B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B4E806-49FF-E7B4-B3E3-AE91F5F030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D2BF01-D555-BADF-CA37-53DF97746C5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5F4AE9C-703B-1D64-60F1-5599B1CBAFC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7FBA65-B21C-6561-ED56-73036018F91E}"/>
              </a:ext>
            </a:extLst>
          </p:cNvPr>
          <p:cNvSpPr txBox="1"/>
          <p:nvPr/>
        </p:nvSpPr>
        <p:spPr>
          <a:xfrm>
            <a:off x="31955" y="828675"/>
            <a:ext cx="72070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Results for </a:t>
            </a:r>
            <a:r>
              <a:rPr kumimoji="0" lang="en-US" altLang="ko-KR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ToT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CoT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TS-SFT, CPO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707C8EA-550D-A197-50F7-F61BB8D7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8040A07-19B7-EE26-F2AE-602D42B70937}"/>
              </a:ext>
            </a:extLst>
          </p:cNvPr>
          <p:cNvSpPr txBox="1"/>
          <p:nvPr/>
        </p:nvSpPr>
        <p:spPr>
          <a:xfrm>
            <a:off x="17373600" y="9533567"/>
            <a:ext cx="5896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5CF2F65-59AC-01C8-D57A-F62C4D50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26" y="2577554"/>
            <a:ext cx="8620627" cy="610237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D82CB1-3BF3-1E04-ABD4-BD1881A3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953" y="4064837"/>
            <a:ext cx="9229056" cy="296425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D12DA5A-0B28-01FD-A7B1-1CB8D52C405D}"/>
              </a:ext>
            </a:extLst>
          </p:cNvPr>
          <p:cNvSpPr/>
          <p:nvPr/>
        </p:nvSpPr>
        <p:spPr>
          <a:xfrm>
            <a:off x="2514600" y="5829300"/>
            <a:ext cx="6401353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014076-56F0-6C4A-C85A-12B1C1DA757F}"/>
              </a:ext>
            </a:extLst>
          </p:cNvPr>
          <p:cNvSpPr/>
          <p:nvPr/>
        </p:nvSpPr>
        <p:spPr>
          <a:xfrm>
            <a:off x="11353800" y="6438900"/>
            <a:ext cx="6609466" cy="4801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E048AF-2829-30B3-AC39-DF8D4B5CAA92}"/>
              </a:ext>
            </a:extLst>
          </p:cNvPr>
          <p:cNvSpPr/>
          <p:nvPr/>
        </p:nvSpPr>
        <p:spPr>
          <a:xfrm>
            <a:off x="2504768" y="8316133"/>
            <a:ext cx="6401353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5F26EAE1-FB60-6BC0-F504-4714398B8F1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</p:spTree>
    <p:extLst>
      <p:ext uri="{BB962C8B-B14F-4D97-AF65-F5344CB8AC3E}">
        <p14:creationId xmlns:p14="http://schemas.microsoft.com/office/powerpoint/2010/main" val="2502032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0A8F-8D98-16E3-0590-9DDD5AFA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0B26F4-F8C6-4D88-302C-64C7164B23A4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7CB0B9-972A-DC0E-8005-41E78037673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A47133-0F69-E94B-359D-B2049970F26E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83F5506-F721-EBCF-0759-C3311445B5D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11FA5EB-021F-0043-4C41-1F8570FD8837}"/>
              </a:ext>
            </a:extLst>
          </p:cNvPr>
          <p:cNvSpPr txBox="1"/>
          <p:nvPr/>
        </p:nvSpPr>
        <p:spPr>
          <a:xfrm>
            <a:off x="31954" y="828675"/>
            <a:ext cx="6140245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Component-wise Evaluations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C616B6F-2210-4142-DA4A-8C587BE050A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871FBD-F5B2-C2EC-AEF3-AD7BCE9C2E9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9C747F-F20C-D866-A9C5-504E02F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16" y="2566430"/>
            <a:ext cx="15192766" cy="308475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1D2206B-4B71-5468-E255-FD39D214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34" y="6028005"/>
            <a:ext cx="7144529" cy="2622848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4AF4A8E-A5D0-166F-6F82-CB48A2CC7945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6236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2AA1-45B1-FFCD-4002-E759634E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13F920-48A8-B47F-D171-7639FCC1A1CC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58B156-FA59-A6D3-F834-1FC894AF1A8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67699E-65D1-98A4-F83E-968F76AB5C9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44CB891-8459-3589-71E1-EDB03CDC424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DC70EB-4AA9-D177-3519-E16312884F20}"/>
              </a:ext>
            </a:extLst>
          </p:cNvPr>
          <p:cNvSpPr txBox="1"/>
          <p:nvPr/>
        </p:nvSpPr>
        <p:spPr>
          <a:xfrm>
            <a:off x="31954" y="828675"/>
            <a:ext cx="69784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Different strategies for selecting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B82E3E4-C626-D7F9-B512-ADCF7D7AEC9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C7D453D-5B8D-338D-6FB2-B21994E08818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FCE807-0B50-0D9B-7F71-378A47F15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52" y="2400300"/>
            <a:ext cx="10941294" cy="598674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5BD33A0-CBD5-7C7A-0EE9-20522400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833" y="3874709"/>
            <a:ext cx="6933280" cy="2537581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B1E58EC-DF61-D456-0120-4BC5D815AA47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27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3100-5ACC-6714-8558-020ED39D0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7EBF69-1B56-D6AF-50D8-3F5A3491BB0B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94B21F-B660-4361-E230-5F4A4154036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784165-9433-3CB0-50E3-89459FDFCDF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310590D-15A1-0BA7-FF12-6A066EB44287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A48C89-B1FC-15D8-33D8-485C241170A4}"/>
              </a:ext>
            </a:extLst>
          </p:cNvPr>
          <p:cNvSpPr txBox="1"/>
          <p:nvPr/>
        </p:nvSpPr>
        <p:spPr>
          <a:xfrm>
            <a:off x="31955" y="828675"/>
            <a:ext cx="47686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Two different ways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C86DA82-7A9B-A48C-240D-CDC67FF81BD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D04E15-EC20-523C-7F1D-1F63B545DF7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D81C4F-BC02-DDD7-1388-D1796A9F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098" y="1643588"/>
            <a:ext cx="9067800" cy="566930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B4D4C9F-CF62-8AD9-1C7C-5E3201BC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99" y="7403304"/>
            <a:ext cx="14826799" cy="1532941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DE27B17-7D1F-114D-F95C-DA4DF5DC60DE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13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25D20C-4EDA-7886-3BA0-1F21592B6E9A}"/>
              </a:ext>
            </a:extLst>
          </p:cNvPr>
          <p:cNvCxnSpPr>
            <a:cxnSpLocks/>
          </p:cNvCxnSpPr>
          <p:nvPr/>
        </p:nvCxnSpPr>
        <p:spPr>
          <a:xfrm>
            <a:off x="5029200" y="8936245"/>
            <a:ext cx="0" cy="5220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39D67D-5231-055F-F8F8-BE1D7BFC5E04}"/>
              </a:ext>
            </a:extLst>
          </p:cNvPr>
          <p:cNvCxnSpPr>
            <a:cxnSpLocks/>
          </p:cNvCxnSpPr>
          <p:nvPr/>
        </p:nvCxnSpPr>
        <p:spPr>
          <a:xfrm>
            <a:off x="11430000" y="8936245"/>
            <a:ext cx="0" cy="5220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09DD8E8-1292-3CAD-27A3-C3EE60E394DA}"/>
              </a:ext>
            </a:extLst>
          </p:cNvPr>
          <p:cNvCxnSpPr/>
          <p:nvPr/>
        </p:nvCxnSpPr>
        <p:spPr>
          <a:xfrm>
            <a:off x="5029200" y="9486900"/>
            <a:ext cx="2209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0B49878-D9DF-34F1-74C6-949517FCFBDB}"/>
              </a:ext>
            </a:extLst>
          </p:cNvPr>
          <p:cNvCxnSpPr>
            <a:cxnSpLocks/>
          </p:cNvCxnSpPr>
          <p:nvPr/>
        </p:nvCxnSpPr>
        <p:spPr>
          <a:xfrm flipH="1">
            <a:off x="8610600" y="9458325"/>
            <a:ext cx="28194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B4861D-4907-7123-1079-0130DCA59128}"/>
                  </a:ext>
                </a:extLst>
              </p:cNvPr>
              <p:cNvSpPr txBox="1"/>
              <p:nvPr/>
            </p:nvSpPr>
            <p:spPr>
              <a:xfrm>
                <a:off x="7731067" y="9106009"/>
                <a:ext cx="4985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400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B4861D-4907-7123-1079-0130DCA59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067" y="9106009"/>
                <a:ext cx="498533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966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086F-C944-A6B2-F230-BE2237F6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52172D-21CB-BF3D-245D-32B66FE692E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5556D1-B903-6540-A029-CFDF75CE4CE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C82141-C422-10B7-CFA4-C18A9E92EC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30E32DD-1713-824F-9963-D512BAE4C880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CB8557-1622-DA45-78F9-F305F01799A7}"/>
              </a:ext>
            </a:extLst>
          </p:cNvPr>
          <p:cNvSpPr txBox="1"/>
          <p:nvPr/>
        </p:nvSpPr>
        <p:spPr>
          <a:xfrm>
            <a:off x="31955" y="828675"/>
            <a:ext cx="5225845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Conclusion &amp; Limit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25DE26-72C6-C2D0-2ED6-E071C55A115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2323F71-1021-9B8B-2D03-A510AF5E280F}"/>
              </a:ext>
            </a:extLst>
          </p:cNvPr>
          <p:cNvSpPr txBox="1"/>
          <p:nvPr/>
        </p:nvSpPr>
        <p:spPr>
          <a:xfrm>
            <a:off x="1709351" y="2725487"/>
            <a:ext cx="1554994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dirty="0"/>
              <a:t>CPO demonstrates consistent performance improvements over </a:t>
            </a:r>
            <a:r>
              <a:rPr lang="en-US" altLang="ko-KR" sz="3200" dirty="0" err="1"/>
              <a:t>CoT</a:t>
            </a:r>
            <a:r>
              <a:rPr lang="en-US" altLang="ko-KR" sz="3200" dirty="0"/>
              <a:t> while maintaining its fast inference speed. Furthermore, our method substantially outperforms the strong TS-SFT baseline and achieves comparable or even superior performance to the </a:t>
            </a:r>
            <a:r>
              <a:rPr lang="en-US" altLang="ko-KR" sz="3200" dirty="0" err="1"/>
              <a:t>ToT</a:t>
            </a:r>
            <a:r>
              <a:rPr lang="en-US" altLang="ko-KR" sz="3200" dirty="0"/>
              <a:t> method.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CA6D97C-AB17-7416-DE88-9C04379F505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1CAD55E-8F6E-D503-C2D0-020EE6BB6C75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3119F-AE5B-AAE0-C21C-2480AA600D7B}"/>
              </a:ext>
            </a:extLst>
          </p:cNvPr>
          <p:cNvSpPr txBox="1"/>
          <p:nvPr/>
        </p:nvSpPr>
        <p:spPr>
          <a:xfrm>
            <a:off x="1722246" y="5706235"/>
            <a:ext cx="1554994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5400" dirty="0">
                <a:solidFill>
                  <a:srgbClr val="FF0000"/>
                </a:solidFill>
              </a:rPr>
              <a:t>But</a:t>
            </a:r>
            <a:r>
              <a:rPr lang="en-US" altLang="ko-KR" sz="3600" dirty="0"/>
              <a:t> </a:t>
            </a:r>
          </a:p>
          <a:p>
            <a:pPr>
              <a:buNone/>
            </a:pPr>
            <a:r>
              <a:rPr lang="en-US" altLang="ko-KR" sz="3200" dirty="0"/>
              <a:t>Limitation is that we still need to generate data through </a:t>
            </a:r>
            <a:r>
              <a:rPr lang="en-US" altLang="ko-KR" sz="3200" dirty="0" err="1"/>
              <a:t>ToT</a:t>
            </a:r>
            <a:r>
              <a:rPr lang="en-US" altLang="ko-KR" sz="3200" dirty="0"/>
              <a:t>, which is a time-consuming process. Additionally, its application is limited as it has only been tested on text-language models (limited modality) and its scope remains restricted to a small set of downstream tasks.</a:t>
            </a:r>
          </a:p>
        </p:txBody>
      </p:sp>
    </p:spTree>
    <p:extLst>
      <p:ext uri="{BB962C8B-B14F-4D97-AF65-F5344CB8AC3E}">
        <p14:creationId xmlns:p14="http://schemas.microsoft.com/office/powerpoint/2010/main" val="3957513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E2BF-4844-7EAA-F182-8754AD48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557FCC-4237-4E27-F1D8-252DC938E22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57FEFE-40A1-9DDB-8000-B09FF3C2FE6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BDE6D3-9D9E-6012-39D6-513214B2CD4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7519F7-D9A9-A668-E49F-547A26734536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2CBE56-0540-CF03-0088-20287BD60F12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EDA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89CF8A5-38D7-14CD-0D57-7665ECD47EE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A6C101-BC76-B972-77E6-EFDB50BDE55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4F385CD-02FC-2B35-69F9-EE1ED35D97D3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2648FF5-9FDE-AC58-B833-DAB63AF83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270027"/>
              </p:ext>
            </p:extLst>
          </p:nvPr>
        </p:nvGraphicFramePr>
        <p:xfrm>
          <a:off x="2673775" y="2527198"/>
          <a:ext cx="12940448" cy="563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35112">
                  <a:extLst>
                    <a:ext uri="{9D8B030D-6E8A-4147-A177-3AD203B41FA5}">
                      <a16:colId xmlns:a16="http://schemas.microsoft.com/office/drawing/2014/main" val="1120793415"/>
                    </a:ext>
                  </a:extLst>
                </a:gridCol>
                <a:gridCol w="3235112">
                  <a:extLst>
                    <a:ext uri="{9D8B030D-6E8A-4147-A177-3AD203B41FA5}">
                      <a16:colId xmlns:a16="http://schemas.microsoft.com/office/drawing/2014/main" val="4191087394"/>
                    </a:ext>
                  </a:extLst>
                </a:gridCol>
                <a:gridCol w="3235112">
                  <a:extLst>
                    <a:ext uri="{9D8B030D-6E8A-4147-A177-3AD203B41FA5}">
                      <a16:colId xmlns:a16="http://schemas.microsoft.com/office/drawing/2014/main" val="3788323716"/>
                    </a:ext>
                  </a:extLst>
                </a:gridCol>
                <a:gridCol w="3235112">
                  <a:extLst>
                    <a:ext uri="{9D8B030D-6E8A-4147-A177-3AD203B41FA5}">
                      <a16:colId xmlns:a16="http://schemas.microsoft.com/office/drawing/2014/main" val="2340288101"/>
                    </a:ext>
                  </a:extLst>
                </a:gridCol>
              </a:tblGrid>
              <a:tr h="1127760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Male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Female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err="1"/>
                        <a:t>Mean_Age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908356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NC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57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120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72.29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60471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MCI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218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454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74.49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98544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AD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158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386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80.2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09223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Total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433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960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76.52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3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837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38A4-DD5C-F3C2-819F-5365B872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BD41940-F407-5367-1183-2B51C23F55B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F09D54-21BC-69FF-0950-D4AC11615792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ED1EA7-4EC6-8099-9705-7DD84E94A14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D12F5C8-85D3-813A-996F-594F23BED1E8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6EC37B7-22BC-5D65-F0D6-9A41588BFAD0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9D14795-140C-3397-F9BC-DF66138017E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58E5787-B206-ED86-8BA3-B92D28200B5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32D7769-64DB-E696-D9AB-10455657D7B0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16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6473CB5-1C32-0669-7DB7-A87554677EE8}"/>
              </a:ext>
            </a:extLst>
          </p:cNvPr>
          <p:cNvGraphicFramePr>
            <a:graphicFrameLocks noGrp="1"/>
          </p:cNvGraphicFramePr>
          <p:nvPr/>
        </p:nvGraphicFramePr>
        <p:xfrm>
          <a:off x="745184" y="3771900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77.46%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C094876-A2C2-BDCF-013F-C3B29CE6592B}"/>
              </a:ext>
            </a:extLst>
          </p:cNvPr>
          <p:cNvSpPr txBox="1"/>
          <p:nvPr/>
        </p:nvSpPr>
        <p:spPr>
          <a:xfrm>
            <a:off x="831318" y="2173819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Direct prompt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975B804-CE84-4B19-EE39-AD3F7F96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52" y="6941200"/>
            <a:ext cx="6674013" cy="201405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8C9D8CE-D880-C228-60C2-F938E129366A}"/>
              </a:ext>
            </a:extLst>
          </p:cNvPr>
          <p:cNvSpPr txBox="1"/>
          <p:nvPr/>
        </p:nvSpPr>
        <p:spPr>
          <a:xfrm>
            <a:off x="8308258" y="5176597"/>
            <a:ext cx="943742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Read the patient record below and assign one label: 0=NC, 1=MCI, 2=AD.</a:t>
            </a:r>
          </a:p>
          <a:p>
            <a:r>
              <a:rPr lang="en-US" altLang="ko-KR" sz="2400" dirty="0"/>
              <a:t>Use what is in the record only. Pick exactly one label.</a:t>
            </a:r>
          </a:p>
          <a:p>
            <a:endParaRPr lang="en-US" altLang="ko-KR" sz="2400" dirty="0"/>
          </a:p>
          <a:p>
            <a:r>
              <a:rPr lang="en-US" altLang="ko-KR" sz="2400" dirty="0"/>
              <a:t>Output exactly two lines (exactly two lines, no extra text):</a:t>
            </a:r>
          </a:p>
          <a:p>
            <a:r>
              <a:rPr lang="en-US" altLang="ko-KR" sz="2400" dirty="0"/>
              <a:t>Diagnosis: &lt;0 or 1 or 2&gt;</a:t>
            </a:r>
          </a:p>
          <a:p>
            <a:r>
              <a:rPr lang="en-US" altLang="ko-KR" sz="2400" dirty="0"/>
              <a:t>Rationale: &lt;cite decisive evidence&gt;</a:t>
            </a:r>
          </a:p>
          <a:p>
            <a:endParaRPr lang="en-US" altLang="ko-KR" sz="2400" dirty="0"/>
          </a:p>
          <a:p>
            <a:r>
              <a:rPr lang="en-US" altLang="ko-KR" sz="2400" dirty="0"/>
              <a:t>Patient Record:</a:t>
            </a:r>
          </a:p>
          <a:p>
            <a:r>
              <a:rPr lang="en-US" altLang="ko-KR" sz="2400" dirty="0"/>
              <a:t>---</a:t>
            </a:r>
          </a:p>
          <a:p>
            <a:r>
              <a:rPr lang="en-US" altLang="ko-KR" sz="2400" dirty="0"/>
              <a:t>{</a:t>
            </a:r>
            <a:r>
              <a:rPr lang="en-US" altLang="ko-KR" sz="2400" dirty="0" err="1"/>
              <a:t>patient_note</a:t>
            </a:r>
            <a:r>
              <a:rPr lang="en-US" altLang="ko-KR" sz="2400" dirty="0"/>
              <a:t>}</a:t>
            </a:r>
          </a:p>
          <a:p>
            <a:r>
              <a:rPr lang="en-US" altLang="ko-KR" sz="2400" dirty="0"/>
              <a:t>---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8F20B7-FEBD-7326-4C5B-9E75F081FC53}"/>
              </a:ext>
            </a:extLst>
          </p:cNvPr>
          <p:cNvSpPr/>
          <p:nvPr/>
        </p:nvSpPr>
        <p:spPr>
          <a:xfrm>
            <a:off x="8283677" y="5121590"/>
            <a:ext cx="9437426" cy="4154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10DD49-FC9F-9F3B-3A4E-1F4F7A149781}"/>
              </a:ext>
            </a:extLst>
          </p:cNvPr>
          <p:cNvSpPr txBox="1"/>
          <p:nvPr/>
        </p:nvSpPr>
        <p:spPr>
          <a:xfrm>
            <a:off x="9404030" y="3093624"/>
            <a:ext cx="72458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Temperature=0, </a:t>
            </a:r>
            <a:r>
              <a:rPr lang="en-US" altLang="ko-KR" sz="4800" dirty="0" err="1"/>
              <a:t>top_p</a:t>
            </a:r>
            <a:r>
              <a:rPr lang="en-US" altLang="ko-KR" sz="4800" dirty="0"/>
              <a:t>=1 , Self-Consistency = 1 </a:t>
            </a:r>
          </a:p>
        </p:txBody>
      </p:sp>
    </p:spTree>
    <p:extLst>
      <p:ext uri="{BB962C8B-B14F-4D97-AF65-F5344CB8AC3E}">
        <p14:creationId xmlns:p14="http://schemas.microsoft.com/office/powerpoint/2010/main" val="3845792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7E1A-7127-1E6B-0E76-800A887E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ECAEFF-A58F-2D27-D29A-E4C3096DB5B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F86160-7337-D8FB-E757-406F647EA7B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7C45C28-36F8-E729-F8D1-7C379F3DABD4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5D08E44-210D-B39C-0D1C-B01FAA5B4758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7CDF3D-850F-19A4-D64E-20949BF8A0F0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697D819-46C6-5688-8C12-6BC78F6B8BE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7EB38B4-A7CF-84EB-CDD7-F099157BB6EF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247C88B-F6DE-8484-301E-15B71A77992B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F4A08A-CE27-06A1-A365-008C89B75307}"/>
              </a:ext>
            </a:extLst>
          </p:cNvPr>
          <p:cNvSpPr txBox="1"/>
          <p:nvPr/>
        </p:nvSpPr>
        <p:spPr>
          <a:xfrm>
            <a:off x="5521058" y="1914647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Direct prompt Result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237032-92CC-57C4-D582-88399AA7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795" y="2745644"/>
            <a:ext cx="14664408" cy="662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49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9E1D-9744-CFCC-4BEB-D8ACDB1A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7D97B2-4081-D418-480B-6B9F77B921D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5C3F28C-ED50-3581-9DEC-693ACC3C4ED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D2FCD3-B977-87D6-ED3C-04D8549D6B1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9A45239-306F-ED6B-5C9E-5107493F397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02DAC3-ACBF-B0EB-0FFF-2DCCC4F1ECB0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30933B9-8738-2487-35AE-A87FEB449F7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B0EE48D-DB37-3AB7-C989-E07E5CA726E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F59BB0-E1EF-44EF-34A9-5318D532ABF4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18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FB8C012-C982-B7DB-19FE-235F4676A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495682"/>
              </p:ext>
            </p:extLst>
          </p:nvPr>
        </p:nvGraphicFramePr>
        <p:xfrm>
          <a:off x="9736784" y="3664844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0.96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0.29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0.84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78.75%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7032428-DD21-1673-D34F-347F9BCFA10E}"/>
              </a:ext>
            </a:extLst>
          </p:cNvPr>
          <p:cNvSpPr txBox="1"/>
          <p:nvPr/>
        </p:nvSpPr>
        <p:spPr>
          <a:xfrm>
            <a:off x="9822918" y="2066763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+ </a:t>
            </a:r>
            <a:r>
              <a:rPr lang="en-US" altLang="ko-KR" sz="4800" dirty="0" err="1"/>
              <a:t>Fewshot</a:t>
            </a:r>
            <a:r>
              <a:rPr lang="en-US" altLang="ko-KR" sz="4800" dirty="0"/>
              <a:t> prompt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E2CCE0-EE50-F2FB-BE36-868DB810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023" y="6825379"/>
            <a:ext cx="6677538" cy="2014051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B84836F-8D95-164F-AB8C-0473F4FBA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059800"/>
              </p:ext>
            </p:extLst>
          </p:nvPr>
        </p:nvGraphicFramePr>
        <p:xfrm>
          <a:off x="1219200" y="3662595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0.64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0.53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73.87%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2296EF-5586-C506-5F01-0AAE46228D77}"/>
              </a:ext>
            </a:extLst>
          </p:cNvPr>
          <p:cNvSpPr txBox="1"/>
          <p:nvPr/>
        </p:nvSpPr>
        <p:spPr>
          <a:xfrm>
            <a:off x="1194554" y="2064514"/>
            <a:ext cx="7332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prompt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CFFDF5E-64E9-E868-9590-354C955C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50" y="6825379"/>
            <a:ext cx="6505916" cy="201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4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9D21-7F1D-90A5-C980-77F183A1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8BBED96-5C5C-AE63-8DD8-B02758E41331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32EFBC-398A-C684-058D-F813F1E04BA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D12724-26F0-C002-69DF-8BB97F20DBC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0517880-B2AB-12F6-3E82-3DE8633B280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9F6B148-AB71-FDDF-65A4-0CB75CE0911A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51288B3-2D57-5E7D-1FF9-69394C6980B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FBDD806-0DDB-1369-FF99-ACCABE69135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9A8091B-FB14-BEDB-4307-A9925B05A61C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409EA9-F3BF-5C9F-6DDB-93600B5F6980}"/>
              </a:ext>
            </a:extLst>
          </p:cNvPr>
          <p:cNvSpPr txBox="1"/>
          <p:nvPr/>
        </p:nvSpPr>
        <p:spPr>
          <a:xfrm>
            <a:off x="5477991" y="2052020"/>
            <a:ext cx="7332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prompt Result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1B5A1BE-101D-F06B-8297-AD7D73CA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047" y="2883017"/>
            <a:ext cx="13437906" cy="638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02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ADD3-757E-0C2B-4BDD-9E88D402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B6A07C-9E67-0EFD-617A-E5DF7CE31FC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8E6F5A-EE22-62AC-FFB1-BCAD056A0C0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E6C7EF-B7B5-69E1-5A0D-F0F449649E9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98D8F4-EC59-85B0-7C3E-DF2561BAF6B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CD31E3-5E1D-B944-E201-87821D419299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F008000-BFC3-8A4B-3C8A-EA5344AF5B7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F342A64-9C1E-06BB-BA5F-A40BEA00F1C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5A49CC2-7568-5A94-8E96-7653B04FBC5D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B750C-C1BE-A745-6AF9-EC2F2F1CF609}"/>
              </a:ext>
            </a:extLst>
          </p:cNvPr>
          <p:cNvSpPr txBox="1"/>
          <p:nvPr/>
        </p:nvSpPr>
        <p:spPr>
          <a:xfrm>
            <a:off x="4737813" y="2018773"/>
            <a:ext cx="8812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+ </a:t>
            </a:r>
            <a:r>
              <a:rPr lang="en-US" altLang="ko-KR" sz="4800" dirty="0" err="1"/>
              <a:t>Fewshot</a:t>
            </a:r>
            <a:r>
              <a:rPr lang="en-US" altLang="ko-KR" sz="4800" dirty="0"/>
              <a:t> prompt Result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869466-3483-3AFC-6ED9-7D800A6D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9" y="2849770"/>
            <a:ext cx="14706600" cy="60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77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115AD-4497-44A5-C8FF-EF2724D5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138FEF-9544-431F-A4BF-2386C36B193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0BEBED-A42D-31C2-C9FC-7DB5E13E7B8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7212D7-A79E-B3D1-3177-E9FE44034E7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DA1A0B2-90B3-5FAA-7F19-B6F8E0BC6074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7CFA09-5246-F422-2293-376C0E4ADF55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D3F557D-1941-877A-37B1-76DFF70B7D6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52F41C4-0602-527B-743A-DCCFAB3C1E3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97621ED-DF94-A56C-348A-8CB52DB24767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21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6813041-F52D-FD1D-FB5D-62BD23B13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784001"/>
              </p:ext>
            </p:extLst>
          </p:nvPr>
        </p:nvGraphicFramePr>
        <p:xfrm>
          <a:off x="609600" y="3615852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0.46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0.94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0.72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74.52%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79AF7F2-749E-3CCA-D47F-20F6557D3582}"/>
              </a:ext>
            </a:extLst>
          </p:cNvPr>
          <p:cNvSpPr txBox="1"/>
          <p:nvPr/>
        </p:nvSpPr>
        <p:spPr>
          <a:xfrm>
            <a:off x="695734" y="2017771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TOT prompt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F4505F-4E86-1A7F-2E93-5A0C826E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16" y="6781480"/>
            <a:ext cx="6648233" cy="20613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27B1D9-B67F-87BC-9430-B78D4ACF274A}"/>
              </a:ext>
            </a:extLst>
          </p:cNvPr>
          <p:cNvSpPr txBox="1"/>
          <p:nvPr/>
        </p:nvSpPr>
        <p:spPr>
          <a:xfrm>
            <a:off x="8093392" y="1315167"/>
            <a:ext cx="9437426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You are a medical classifier. Decide (0=NC, 1=MCI, 2=AD).</a:t>
            </a:r>
          </a:p>
          <a:p>
            <a:endParaRPr lang="en-US" altLang="ko-KR" dirty="0"/>
          </a:p>
          <a:p>
            <a:r>
              <a:rPr lang="en-US" altLang="ko-KR" dirty="0"/>
              <a:t>Internally use a Tree-of-Thoughts BFS with shallow depth:</a:t>
            </a:r>
          </a:p>
          <a:p>
            <a:r>
              <a:rPr lang="en-US" altLang="ko-KR" dirty="0"/>
              <a:t>Thought decomposition:</a:t>
            </a:r>
          </a:p>
          <a:p>
            <a:r>
              <a:rPr lang="en-US" altLang="ko-KR" dirty="0"/>
              <a:t>  • Step 1 (Evidence extraction): bucket signals from the record:</a:t>
            </a:r>
          </a:p>
          <a:p>
            <a:r>
              <a:rPr lang="en-US" altLang="ko-KR" dirty="0"/>
              <a:t>    A) Functional impairment (CDR, FAQ/IADL, caregiver-reported daily function)</a:t>
            </a:r>
          </a:p>
          <a:p>
            <a:r>
              <a:rPr lang="en-US" altLang="ko-KR" dirty="0"/>
              <a:t>    B) Global staging (CDR)</a:t>
            </a:r>
          </a:p>
          <a:p>
            <a:r>
              <a:rPr lang="en-US" altLang="ko-KR" dirty="0"/>
              <a:t>    C) Objective scores (MMSE, MoCA, ADAS-Cog; higher ADAS=worse; lower MMSE/MoCA=worse)</a:t>
            </a:r>
          </a:p>
          <a:p>
            <a:r>
              <a:rPr lang="en-US" altLang="ko-KR" dirty="0"/>
              <a:t>    D) Clinical text cues (orientation, memory, executive/extrapyramidal symptoms, progression)</a:t>
            </a:r>
          </a:p>
          <a:p>
            <a:r>
              <a:rPr lang="en-US" altLang="ko-KR" dirty="0"/>
              <a:t>  • Step 2 (Hypothesis thoughts): propose k=3 label-specific thoughts (NC, MCI, AD), each listing decisive evidence by priority A→D.</a:t>
            </a:r>
          </a:p>
          <a:p>
            <a:r>
              <a:rPr lang="en-US" altLang="ko-KR" dirty="0"/>
              <a:t>  • Step 3 (State evaluation): for each proposed thought, assign a value in (sure, likely, impossible) for correctness given A→D, and prune “impossible”.</a:t>
            </a:r>
          </a:p>
          <a:p>
            <a:r>
              <a:rPr lang="en-US" altLang="ko-KR" dirty="0"/>
              <a:t>  • Step 4 (Voting): compare remaining thoughts and select the top one (tie-breaker order: function &gt; CDR &gt; scores &gt; text).</a:t>
            </a:r>
          </a:p>
          <a:p>
            <a:endParaRPr lang="en-US" altLang="ko-KR" dirty="0"/>
          </a:p>
          <a:p>
            <a:r>
              <a:rPr lang="en-US" altLang="ko-KR" dirty="0"/>
              <a:t>Rules:</a:t>
            </a:r>
          </a:p>
          <a:p>
            <a:r>
              <a:rPr lang="en-US" altLang="ko-KR" dirty="0"/>
              <a:t>- Use only information present; ignore missing; never invent values.</a:t>
            </a:r>
          </a:p>
          <a:p>
            <a:r>
              <a:rPr lang="en-US" altLang="ko-KR" dirty="0"/>
              <a:t>- Resolve conflicts strictly by the priority: function &gt; global CDR &gt; objective scores &gt; text cues.</a:t>
            </a:r>
          </a:p>
          <a:p>
            <a:r>
              <a:rPr lang="en-US" altLang="ko-KR" dirty="0"/>
              <a:t>- Keep internal search private; DO NOT reveal thoughts/evaluations.</a:t>
            </a:r>
          </a:p>
          <a:p>
            <a:endParaRPr lang="en-US" altLang="ko-KR" dirty="0"/>
          </a:p>
          <a:p>
            <a:r>
              <a:rPr lang="en-US" altLang="ko-KR" dirty="0"/>
              <a:t>Output exactly two lines (exactly two lines, no extra text):</a:t>
            </a:r>
          </a:p>
          <a:p>
            <a:r>
              <a:rPr lang="en-US" altLang="ko-KR" dirty="0"/>
              <a:t>Diagnosis: &lt;0 or 1 or 2&gt;</a:t>
            </a:r>
          </a:p>
          <a:p>
            <a:r>
              <a:rPr lang="en-US" altLang="ko-KR" dirty="0"/>
              <a:t>Rationale: &lt;cite decisive evidence&gt;</a:t>
            </a:r>
          </a:p>
          <a:p>
            <a:endParaRPr lang="en-US" altLang="ko-KR" dirty="0"/>
          </a:p>
          <a:p>
            <a:r>
              <a:rPr lang="en-US" altLang="ko-KR" dirty="0"/>
              <a:t>Patient Record:</a:t>
            </a:r>
          </a:p>
          <a:p>
            <a:r>
              <a:rPr lang="en-US" altLang="ko-KR" dirty="0"/>
              <a:t>---</a:t>
            </a:r>
          </a:p>
          <a:p>
            <a:r>
              <a:rPr lang="en-US" altLang="ko-KR" dirty="0"/>
              <a:t>{</a:t>
            </a:r>
            <a:r>
              <a:rPr lang="en-US" altLang="ko-KR" dirty="0" err="1"/>
              <a:t>patient_note</a:t>
            </a:r>
            <a:r>
              <a:rPr lang="en-US" altLang="ko-KR" dirty="0"/>
              <a:t>}</a:t>
            </a:r>
          </a:p>
          <a:p>
            <a:r>
              <a:rPr lang="en-US" altLang="ko-KR" dirty="0"/>
              <a:t>---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4C885E-B22B-2107-8952-411ECC553C5B}"/>
              </a:ext>
            </a:extLst>
          </p:cNvPr>
          <p:cNvSpPr/>
          <p:nvPr/>
        </p:nvSpPr>
        <p:spPr>
          <a:xfrm>
            <a:off x="8093392" y="1222068"/>
            <a:ext cx="9339592" cy="82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49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BD8D-71FC-F98E-805B-5716C4D9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91CAA4-EAF6-0D2F-130B-D5F3F0FEBA3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0E3361-93B1-EBE3-0074-2C505939183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1CC0928-B6AC-43A2-9BD5-6BE41657947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344F34A-243E-28CF-E6E9-4386C3807AC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4D19D6-FEC4-44B8-976A-730F1D44F5BB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BD0E270-20AD-9C0F-630B-3E50C033628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04A0D86-0DD0-27B1-435F-5DB7F356F735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F107213-8C47-1206-011D-1D2664ED4C9A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22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206771-6E4D-24CF-6751-C084C164D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9" y="2760678"/>
            <a:ext cx="15621000" cy="66127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BCAB6B-6505-2AED-F602-54E506E6DDF1}"/>
              </a:ext>
            </a:extLst>
          </p:cNvPr>
          <p:cNvSpPr txBox="1"/>
          <p:nvPr/>
        </p:nvSpPr>
        <p:spPr>
          <a:xfrm>
            <a:off x="4932228" y="1940742"/>
            <a:ext cx="8423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TOT prompt Result </a:t>
            </a:r>
          </a:p>
        </p:txBody>
      </p:sp>
    </p:spTree>
    <p:extLst>
      <p:ext uri="{BB962C8B-B14F-4D97-AF65-F5344CB8AC3E}">
        <p14:creationId xmlns:p14="http://schemas.microsoft.com/office/powerpoint/2010/main" val="1457104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7EA6E-102C-8D5B-E869-667792EB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A102E7-D6F0-5694-F8BF-FC913008C0DB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42B007-6D1E-52A9-6DE1-95453E65C4C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E3E5343-420C-0312-50B4-B492B901DD4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2083A0D-E31F-D69A-8419-D2F23698E2D0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E155EF4-A789-8E5D-AB8F-F854DC599C15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B8FF06D-1E68-645B-03AD-4A1A75537D4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6D55CCF-9CAC-B83E-C375-55BF61A399E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1938E052-5B82-C44A-10A0-88AFA98FFA3B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CDD83-6563-2AA6-8981-3485D73DF362}"/>
              </a:ext>
            </a:extLst>
          </p:cNvPr>
          <p:cNvSpPr txBox="1"/>
          <p:nvPr/>
        </p:nvSpPr>
        <p:spPr>
          <a:xfrm>
            <a:off x="1559345" y="2209652"/>
            <a:ext cx="5251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prompt Result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8A534-6991-97AF-935E-28303DA04C9F}"/>
              </a:ext>
            </a:extLst>
          </p:cNvPr>
          <p:cNvSpPr txBox="1"/>
          <p:nvPr/>
        </p:nvSpPr>
        <p:spPr>
          <a:xfrm>
            <a:off x="385241" y="6305063"/>
            <a:ext cx="7600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 err="1"/>
              <a:t>COT+few</a:t>
            </a:r>
            <a:r>
              <a:rPr lang="en-US" altLang="ko-KR" sz="4800" dirty="0"/>
              <a:t> shot prompt Result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055728C-C25A-BDC2-476F-E2EED1046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419278"/>
            <a:ext cx="5779751" cy="19203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7AEE4DC-72D8-F7FE-9941-B1760A9E7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7554172"/>
            <a:ext cx="5779751" cy="1883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35C5AFD-9E19-E3D4-8F76-BA160BD9182F}"/>
              </a:ext>
            </a:extLst>
          </p:cNvPr>
          <p:cNvSpPr txBox="1"/>
          <p:nvPr/>
        </p:nvSpPr>
        <p:spPr>
          <a:xfrm>
            <a:off x="10302695" y="5709169"/>
            <a:ext cx="5251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TOT prompt Result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7CE73-2FC2-F08E-8DCC-BECCC8B6952F}"/>
              </a:ext>
            </a:extLst>
          </p:cNvPr>
          <p:cNvSpPr txBox="1"/>
          <p:nvPr/>
        </p:nvSpPr>
        <p:spPr>
          <a:xfrm>
            <a:off x="8991600" y="2592673"/>
            <a:ext cx="77370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Temperature=0.7, </a:t>
            </a:r>
            <a:r>
              <a:rPr lang="en-US" altLang="ko-KR" sz="4800" dirty="0" err="1"/>
              <a:t>top_p</a:t>
            </a:r>
            <a:r>
              <a:rPr lang="en-US" altLang="ko-KR" sz="4800" dirty="0"/>
              <a:t>=0.9 , Self-Consistency = 5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C50837A-C1F3-DDD3-D546-014C50E4A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738" y="6813947"/>
            <a:ext cx="7103772" cy="220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83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11234</TotalTime>
  <Words>1129</Words>
  <Application>Microsoft Office PowerPoint</Application>
  <PresentationFormat>사용자 지정</PresentationFormat>
  <Paragraphs>256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맑은 고딕</vt:lpstr>
      <vt:lpstr>Calibri</vt:lpstr>
      <vt:lpstr>윤고딕 Light</vt:lpstr>
      <vt:lpstr>Garet Light</vt:lpstr>
      <vt:lpstr>Arial</vt:lpstr>
      <vt:lpstr>윤고딕</vt:lpstr>
      <vt:lpstr>Glacial Indifference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변윤성</cp:lastModifiedBy>
  <cp:revision>147</cp:revision>
  <dcterms:created xsi:type="dcterms:W3CDTF">2006-08-16T00:00:00Z</dcterms:created>
  <dcterms:modified xsi:type="dcterms:W3CDTF">2025-11-13T13:06:48Z</dcterms:modified>
  <dc:identifier>DAGyMBKKpxw</dc:identifier>
</cp:coreProperties>
</file>